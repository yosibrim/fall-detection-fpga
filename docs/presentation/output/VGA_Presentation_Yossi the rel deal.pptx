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  <p:sldId id="286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524" y="-2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פיתוח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מבוססת</a:t>
            </a:r>
            <a:r>
              <a:rPr dirty="0"/>
              <a:t> FPGA </a:t>
            </a:r>
            <a:r>
              <a:rPr dirty="0" err="1"/>
              <a:t>להתראת</a:t>
            </a:r>
            <a:r>
              <a:rPr dirty="0"/>
              <a:t> </a:t>
            </a:r>
            <a:r>
              <a:rPr dirty="0" err="1"/>
              <a:t>נפילה</a:t>
            </a:r>
            <a:r>
              <a:rPr dirty="0"/>
              <a:t> </a:t>
            </a:r>
            <a:r>
              <a:rPr dirty="0" err="1"/>
              <a:t>לחולי</a:t>
            </a:r>
            <a:r>
              <a:rPr dirty="0"/>
              <a:t> </a:t>
            </a:r>
            <a:r>
              <a:rPr dirty="0" err="1"/>
              <a:t>דמנציה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631675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ממצלמת</a:t>
            </a:r>
            <a:r>
              <a:rPr dirty="0"/>
              <a:t> OV7670 </a:t>
            </a:r>
            <a:r>
              <a:rPr dirty="0" err="1"/>
              <a:t>והצגתה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כרטיס</a:t>
            </a:r>
            <a:r>
              <a:rPr dirty="0"/>
              <a:t> Artix-7.</a:t>
            </a:r>
          </a:p>
          <a:p>
            <a:pPr algn="ctr" rtl="1">
              <a:defRPr sz="1700"/>
            </a:pP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מנת</a:t>
            </a:r>
            <a:r>
              <a:rPr dirty="0"/>
              <a:t> </a:t>
            </a:r>
            <a:r>
              <a:rPr dirty="0" err="1"/>
              <a:t>לאפשר</a:t>
            </a:r>
            <a:r>
              <a:rPr dirty="0"/>
              <a:t> </a:t>
            </a:r>
            <a:r>
              <a:rPr dirty="0" err="1"/>
              <a:t>עיבוד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לזיהויי</a:t>
            </a:r>
            <a:r>
              <a:rPr dirty="0"/>
              <a:t> </a:t>
            </a:r>
            <a:r>
              <a:rPr dirty="0" err="1"/>
              <a:t>עמידה</a:t>
            </a:r>
            <a:r>
              <a:rPr dirty="0"/>
              <a:t> </a:t>
            </a:r>
            <a:r>
              <a:rPr dirty="0" err="1"/>
              <a:t>ממושכת</a:t>
            </a:r>
            <a:r>
              <a:rPr dirty="0"/>
              <a:t> </a:t>
            </a:r>
            <a:r>
              <a:rPr dirty="0" err="1"/>
              <a:t>לחולי</a:t>
            </a:r>
            <a:r>
              <a:rPr dirty="0"/>
              <a:t> </a:t>
            </a:r>
            <a:r>
              <a:rPr dirty="0" err="1"/>
              <a:t>דמנציה</a:t>
            </a:r>
            <a:r>
              <a:rPr dirty="0"/>
              <a:t>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02912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8236" y="5760720"/>
            <a:ext cx="854753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rPr dirty="0" err="1"/>
              <a:t>מגיש</a:t>
            </a:r>
            <a:r>
              <a:rPr lang="he-IL" dirty="0"/>
              <a:t>ים</a:t>
            </a:r>
            <a:r>
              <a:rPr dirty="0"/>
              <a:t>: יוסי ברים</a:t>
            </a:r>
            <a:r>
              <a:rPr lang="he-IL" dirty="0"/>
              <a:t> ואלעד </a:t>
            </a:r>
            <a:r>
              <a:rPr lang="he-IL" dirty="0" err="1"/>
              <a:t>אסבג</a:t>
            </a:r>
            <a:r>
              <a:rPr dirty="0"/>
              <a:t> | </a:t>
            </a:r>
            <a:r>
              <a:rPr dirty="0" err="1"/>
              <a:t>הנדסת</a:t>
            </a:r>
            <a:r>
              <a:rPr dirty="0"/>
              <a:t> </a:t>
            </a:r>
            <a:r>
              <a:rPr dirty="0" err="1"/>
              <a:t>חשמל</a:t>
            </a:r>
            <a:r>
              <a:rPr dirty="0"/>
              <a:t> </a:t>
            </a:r>
            <a:r>
              <a:rPr dirty="0" err="1"/>
              <a:t>שנה</a:t>
            </a:r>
            <a:r>
              <a:rPr dirty="0"/>
              <a:t> ד| </a:t>
            </a:r>
            <a:r>
              <a:rPr dirty="0" err="1"/>
              <a:t>המרכז</a:t>
            </a:r>
            <a:r>
              <a:rPr dirty="0"/>
              <a:t> </a:t>
            </a:r>
            <a:r>
              <a:rPr dirty="0" err="1"/>
              <a:t>האקדמי</a:t>
            </a:r>
            <a:r>
              <a:rPr dirty="0"/>
              <a:t> </a:t>
            </a:r>
            <a:r>
              <a:rPr dirty="0" err="1"/>
              <a:t>לב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3324422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69280" y="32918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מבוא</a:t>
            </a:r>
            <a:r>
              <a:rPr dirty="0"/>
              <a:t> ל-VGA</a:t>
            </a:r>
            <a:br>
              <a:rPr lang="he-IL" dirty="0"/>
            </a:br>
            <a:r>
              <a:rPr dirty="0" err="1"/>
              <a:t>קונספט</a:t>
            </a:r>
            <a:r>
              <a:rPr dirty="0"/>
              <a:t> </a:t>
            </a:r>
            <a:r>
              <a:rPr dirty="0" err="1"/>
              <a:t>תותח</a:t>
            </a:r>
            <a:r>
              <a:rPr dirty="0"/>
              <a:t> </a:t>
            </a:r>
            <a:r>
              <a:rPr dirty="0" err="1"/>
              <a:t>האלקטרונים</a:t>
            </a:r>
            <a:r>
              <a:rPr dirty="0"/>
              <a:t>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5310" y="1417638"/>
            <a:ext cx="8536909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מקור</a:t>
            </a:r>
            <a:r>
              <a:rPr dirty="0"/>
              <a:t> </a:t>
            </a:r>
            <a:r>
              <a:rPr dirty="0" err="1"/>
              <a:t>הפרוטוקול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טכנולוגיית</a:t>
            </a:r>
            <a:r>
              <a:rPr dirty="0"/>
              <a:t> ה-VGA </a:t>
            </a:r>
            <a:r>
              <a:rPr dirty="0" err="1"/>
              <a:t>פותחה</a:t>
            </a:r>
            <a:r>
              <a:rPr dirty="0"/>
              <a:t> </a:t>
            </a:r>
            <a:r>
              <a:rPr dirty="0" err="1"/>
              <a:t>במקור</a:t>
            </a:r>
            <a:r>
              <a:rPr dirty="0"/>
              <a:t> </a:t>
            </a:r>
            <a:r>
              <a:rPr dirty="0" err="1"/>
              <a:t>עבור</a:t>
            </a:r>
            <a:r>
              <a:rPr dirty="0"/>
              <a:t> </a:t>
            </a:r>
            <a:r>
              <a:rPr dirty="0" err="1"/>
              <a:t>מסכי</a:t>
            </a:r>
            <a:r>
              <a:rPr dirty="0"/>
              <a:t> </a:t>
            </a:r>
            <a:r>
              <a:rPr dirty="0" err="1"/>
              <a:t>שפופרת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קתודית</a:t>
            </a:r>
            <a:r>
              <a:rPr dirty="0"/>
              <a:t> (CRT) </a:t>
            </a:r>
            <a:r>
              <a:rPr dirty="0" err="1"/>
              <a:t>המבוססים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פיזיקה</a:t>
            </a:r>
            <a:r>
              <a:rPr dirty="0"/>
              <a:t> </a:t>
            </a:r>
            <a:r>
              <a:rPr dirty="0" err="1"/>
              <a:t>אנלוגית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תותח</a:t>
            </a:r>
            <a:r>
              <a:rPr dirty="0"/>
              <a:t> </a:t>
            </a:r>
            <a:r>
              <a:rPr dirty="0" err="1"/>
              <a:t>אלקטרונים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פועל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פיזית</a:t>
            </a:r>
            <a:r>
              <a:rPr dirty="0"/>
              <a:t> </a:t>
            </a:r>
            <a:r>
              <a:rPr dirty="0" err="1"/>
              <a:t>הנורית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גבי</a:t>
            </a:r>
            <a:r>
              <a:rPr dirty="0"/>
              <a:t> </a:t>
            </a:r>
            <a:r>
              <a:rPr dirty="0" err="1"/>
              <a:t>מסך</a:t>
            </a:r>
            <a:r>
              <a:rPr dirty="0"/>
              <a:t> </a:t>
            </a:r>
            <a:r>
              <a:rPr dirty="0" err="1"/>
              <a:t>מצופה</a:t>
            </a:r>
            <a:r>
              <a:rPr dirty="0"/>
              <a:t> </a:t>
            </a:r>
            <a:r>
              <a:rPr dirty="0" err="1"/>
              <a:t>זרחן</a:t>
            </a:r>
            <a:r>
              <a:rPr dirty="0"/>
              <a:t>. </a:t>
            </a:r>
            <a:r>
              <a:rPr dirty="0" err="1"/>
              <a:t>עוצמת</a:t>
            </a:r>
            <a:r>
              <a:rPr dirty="0"/>
              <a:t> </a:t>
            </a:r>
            <a:r>
              <a:rPr dirty="0" err="1"/>
              <a:t>הזרם</a:t>
            </a:r>
            <a:r>
              <a:rPr dirty="0"/>
              <a:t> </a:t>
            </a:r>
            <a:r>
              <a:rPr dirty="0" err="1"/>
              <a:t>קובעת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עוצמת</a:t>
            </a:r>
            <a:r>
              <a:rPr dirty="0"/>
              <a:t> </a:t>
            </a:r>
            <a:r>
              <a:rPr dirty="0" err="1"/>
              <a:t>ההארה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המורשת</a:t>
            </a:r>
            <a:r>
              <a:rPr dirty="0"/>
              <a:t> </a:t>
            </a:r>
            <a:r>
              <a:rPr dirty="0" err="1"/>
              <a:t>האנלוגית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למרות</a:t>
            </a:r>
            <a:r>
              <a:rPr dirty="0"/>
              <a:t> </a:t>
            </a:r>
            <a:r>
              <a:rPr dirty="0" err="1"/>
              <a:t>שכיום</a:t>
            </a:r>
            <a:r>
              <a:rPr dirty="0"/>
              <a:t> </a:t>
            </a:r>
            <a:r>
              <a:rPr dirty="0" err="1"/>
              <a:t>המסכים</a:t>
            </a:r>
            <a:r>
              <a:rPr dirty="0"/>
              <a:t> </a:t>
            </a:r>
            <a:r>
              <a:rPr dirty="0" err="1"/>
              <a:t>מודרניים</a:t>
            </a:r>
            <a:r>
              <a:rPr dirty="0"/>
              <a:t>, </a:t>
            </a:r>
            <a:r>
              <a:rPr dirty="0" err="1"/>
              <a:t>הפרוטוקול</a:t>
            </a:r>
            <a:r>
              <a:rPr dirty="0"/>
              <a:t> </a:t>
            </a:r>
            <a:r>
              <a:rPr dirty="0" err="1"/>
              <a:t>מחייב</a:t>
            </a:r>
            <a:r>
              <a:rPr dirty="0"/>
              <a:t> </a:t>
            </a:r>
            <a:r>
              <a:rPr dirty="0" err="1"/>
              <a:t>שידור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השהייה</a:t>
            </a:r>
            <a:r>
              <a:rPr dirty="0"/>
              <a:t> </a:t>
            </a:r>
            <a:r>
              <a:rPr dirty="0" err="1"/>
              <a:t>שיאפשרו</a:t>
            </a:r>
            <a:r>
              <a:rPr dirty="0"/>
              <a:t> </a:t>
            </a:r>
            <a:r>
              <a:rPr dirty="0" err="1"/>
              <a:t>לקרן</a:t>
            </a:r>
            <a:r>
              <a:rPr dirty="0"/>
              <a:t> </a:t>
            </a:r>
            <a:r>
              <a:rPr dirty="0" err="1"/>
              <a:t>הפיזית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תנועה</a:t>
            </a:r>
            <a:r>
              <a:rPr dirty="0"/>
              <a:t> </a:t>
            </a:r>
            <a:r>
              <a:rPr dirty="0" err="1"/>
              <a:t>וחזרה</a:t>
            </a:r>
            <a:r>
              <a:rPr dirty="0"/>
              <a:t>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4428" y="3514587"/>
            <a:ext cx="3368564" cy="26788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39429" y="154895"/>
            <a:ext cx="10040066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מבוא</a:t>
            </a:r>
            <a:r>
              <a:rPr dirty="0"/>
              <a:t> ל-VGA</a:t>
            </a:r>
            <a:br>
              <a:rPr lang="he-IL" dirty="0"/>
            </a:br>
            <a:r>
              <a:rPr dirty="0" err="1"/>
              <a:t>סריקה</a:t>
            </a:r>
            <a:r>
              <a:rPr dirty="0"/>
              <a:t> </a:t>
            </a:r>
            <a:r>
              <a:rPr dirty="0" err="1"/>
              <a:t>קווית</a:t>
            </a:r>
            <a:r>
              <a:rPr dirty="0"/>
              <a:t>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7457" y="1395476"/>
            <a:ext cx="8686295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הציור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מבוסס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שסורקת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משמאל</a:t>
            </a:r>
            <a:r>
              <a:rPr dirty="0"/>
              <a:t> </a:t>
            </a:r>
            <a:r>
              <a:rPr dirty="0" err="1"/>
              <a:t>לימין</a:t>
            </a:r>
            <a:r>
              <a:rPr lang="he-IL" dirty="0"/>
              <a:t> (שורה) </a:t>
            </a:r>
            <a:r>
              <a:rPr dirty="0" err="1"/>
              <a:t>ומלמעלה</a:t>
            </a:r>
            <a:r>
              <a:rPr dirty="0"/>
              <a:t> </a:t>
            </a:r>
            <a:r>
              <a:rPr dirty="0" err="1"/>
              <a:t>למטה</a:t>
            </a:r>
            <a:r>
              <a:rPr dirty="0"/>
              <a:t> </a:t>
            </a:r>
            <a:r>
              <a:rPr lang="he-IL" dirty="0"/>
              <a:t>(פריים)</a:t>
            </a:r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חייבת</a:t>
            </a:r>
            <a:r>
              <a:rPr dirty="0"/>
              <a:t> </a:t>
            </a:r>
            <a:r>
              <a:rPr dirty="0" err="1"/>
              <a:t>להיות</a:t>
            </a:r>
            <a:r>
              <a:rPr dirty="0"/>
              <a:t> </a:t>
            </a:r>
            <a:r>
              <a:rPr dirty="0" err="1"/>
              <a:t>רציפה</a:t>
            </a:r>
            <a:r>
              <a:rPr dirty="0"/>
              <a:t>,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שיוצר</a:t>
            </a:r>
            <a:r>
              <a:rPr dirty="0"/>
              <a:t> </a:t>
            </a:r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בצורת</a:t>
            </a:r>
            <a:r>
              <a:rPr dirty="0"/>
              <a:t> '</a:t>
            </a:r>
            <a:r>
              <a:rPr dirty="0" err="1"/>
              <a:t>זיגזג</a:t>
            </a:r>
            <a:r>
              <a:rPr dirty="0"/>
              <a:t>'.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פעם</a:t>
            </a:r>
            <a:r>
              <a:rPr dirty="0"/>
              <a:t> </a:t>
            </a:r>
            <a:r>
              <a:rPr dirty="0" err="1"/>
              <a:t>שהקרן</a:t>
            </a:r>
            <a:r>
              <a:rPr dirty="0"/>
              <a:t> </a:t>
            </a:r>
            <a:r>
              <a:rPr dirty="0" err="1"/>
              <a:t>מגיעה</a:t>
            </a:r>
            <a:r>
              <a:rPr dirty="0"/>
              <a:t> </a:t>
            </a:r>
            <a:r>
              <a:rPr dirty="0" err="1"/>
              <a:t>לקצה</a:t>
            </a:r>
            <a:r>
              <a:rPr dirty="0"/>
              <a:t> (</a:t>
            </a:r>
            <a:r>
              <a:rPr dirty="0" err="1"/>
              <a:t>אופקי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אנכי</a:t>
            </a:r>
            <a:r>
              <a:rPr dirty="0"/>
              <a:t>), </a:t>
            </a:r>
            <a:r>
              <a:rPr dirty="0" err="1"/>
              <a:t>נדרש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להחזיר</a:t>
            </a:r>
            <a:r>
              <a:rPr dirty="0"/>
              <a:t> </a:t>
            </a:r>
            <a:r>
              <a:rPr dirty="0" err="1"/>
              <a:t>אותה</a:t>
            </a:r>
            <a:r>
              <a:rPr dirty="0"/>
              <a:t> </a:t>
            </a:r>
            <a:r>
              <a:rPr dirty="0" err="1"/>
              <a:t>לנקודת</a:t>
            </a:r>
            <a:r>
              <a:rPr dirty="0"/>
              <a:t> </a:t>
            </a:r>
            <a:r>
              <a:rPr dirty="0" err="1"/>
              <a:t>ההתחלה</a:t>
            </a:r>
            <a:r>
              <a:rPr dirty="0"/>
              <a:t>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773" y="2995914"/>
            <a:ext cx="5990896" cy="38611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4752"/>
            <a:ext cx="8360229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תזמוני</a:t>
            </a:r>
            <a:r>
              <a:rPr dirty="0"/>
              <a:t> VGA</a:t>
            </a:r>
            <a:r>
              <a:rPr lang="he-IL" dirty="0"/>
              <a:t>:</a:t>
            </a:r>
            <a:br>
              <a:rPr lang="he-IL" dirty="0"/>
            </a:br>
            <a:r>
              <a:rPr dirty="0" err="1"/>
              <a:t>הפיזיקה</a:t>
            </a:r>
            <a:r>
              <a:rPr dirty="0"/>
              <a:t> </a:t>
            </a:r>
            <a:r>
              <a:rPr dirty="0" err="1"/>
              <a:t>מאחורי</a:t>
            </a:r>
            <a:r>
              <a:rPr dirty="0"/>
              <a:t> </a:t>
            </a:r>
            <a:r>
              <a:rPr dirty="0" err="1"/>
              <a:t>המספרים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125639"/>
              </p:ext>
            </p:extLst>
          </p:nvPr>
        </p:nvGraphicFramePr>
        <p:xfrm>
          <a:off x="457200" y="2326105"/>
          <a:ext cx="8229600" cy="3705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6155"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המימוש שלנו (RTL)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המשך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השהיית</a:t>
                      </a:r>
                      <a:r>
                        <a:rPr dirty="0"/>
                        <a:t> ה-RGB </a:t>
                      </a:r>
                      <a:r>
                        <a:rPr dirty="0" err="1"/>
                        <a:t>על</a:t>
                      </a:r>
                      <a:r>
                        <a:rPr dirty="0"/>
                        <a:t> '0000' </a:t>
                      </a:r>
                      <a:r>
                        <a:rPr dirty="0" err="1"/>
                        <a:t>עד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הגעה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לפיקסל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הראשון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lang="he-IL" dirty="0"/>
              <a:t>תזמונים בחומרה </a:t>
            </a:r>
            <a:br>
              <a:rPr lang="he-IL" dirty="0"/>
            </a:br>
            <a:r>
              <a:rPr lang="he-IL" dirty="0"/>
              <a:t>(</a:t>
            </a:r>
            <a:r>
              <a:rPr lang="en-US" dirty="0"/>
              <a:t>VGA Controller</a:t>
            </a:r>
            <a:r>
              <a:rPr lang="he-IL" dirty="0"/>
              <a:t>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8427" y="1275956"/>
            <a:ext cx="8044297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שלם</a:t>
            </a:r>
            <a:r>
              <a:rPr dirty="0"/>
              <a:t> </a:t>
            </a:r>
            <a:r>
              <a:rPr lang="he-IL" dirty="0"/>
              <a:t>(800 פיקסלים):</a:t>
            </a:r>
          </a:p>
          <a:p>
            <a:pPr algn="r" rtl="1">
              <a:defRPr sz="1600"/>
            </a:pPr>
            <a:r>
              <a:rPr dirty="0" err="1"/>
              <a:t>חיבור</a:t>
            </a:r>
            <a:r>
              <a:rPr dirty="0"/>
              <a:t> </a:t>
            </a:r>
            <a:r>
              <a:rPr dirty="0" err="1"/>
              <a:t>הערכים</a:t>
            </a:r>
            <a:r>
              <a:rPr dirty="0"/>
              <a:t> (640+16+96+48) </a:t>
            </a:r>
            <a:r>
              <a:rPr dirty="0" err="1"/>
              <a:t>דורש</a:t>
            </a:r>
            <a:r>
              <a:rPr dirty="0"/>
              <a:t> </a:t>
            </a:r>
            <a:r>
              <a:rPr dirty="0" err="1"/>
              <a:t>מהמונה</a:t>
            </a:r>
            <a:r>
              <a:rPr dirty="0"/>
              <a:t> </a:t>
            </a:r>
            <a:r>
              <a:rPr dirty="0" err="1"/>
              <a:t>האופקי</a:t>
            </a:r>
            <a:r>
              <a:rPr dirty="0"/>
              <a:t> (</a:t>
            </a:r>
            <a:r>
              <a:rPr dirty="0" err="1"/>
              <a:t>h_count</a:t>
            </a:r>
            <a:r>
              <a:rPr dirty="0"/>
              <a:t>) </a:t>
            </a:r>
            <a:r>
              <a:rPr dirty="0" err="1"/>
              <a:t>לספור</a:t>
            </a:r>
            <a:r>
              <a:rPr dirty="0"/>
              <a:t> מ-0 </a:t>
            </a:r>
            <a:r>
              <a:rPr dirty="0" err="1"/>
              <a:t>ועד</a:t>
            </a:r>
            <a:r>
              <a:rPr dirty="0"/>
              <a:t> 799.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 25MHz</a:t>
            </a:r>
            <a:r>
              <a:rPr lang="he-IL" dirty="0"/>
              <a:t> :</a:t>
            </a:r>
          </a:p>
          <a:p>
            <a:pPr algn="r" rtl="1">
              <a:defRPr sz="1600"/>
            </a:pPr>
            <a:r>
              <a:rPr dirty="0" err="1"/>
              <a:t>כל</a:t>
            </a:r>
            <a:r>
              <a:rPr dirty="0"/>
              <a:t> '</a:t>
            </a:r>
            <a:r>
              <a:rPr dirty="0" err="1"/>
              <a:t>פיקסל</a:t>
            </a:r>
            <a:r>
              <a:rPr dirty="0"/>
              <a:t>' </a:t>
            </a:r>
            <a:r>
              <a:rPr dirty="0" err="1"/>
              <a:t>שקול</a:t>
            </a:r>
            <a:r>
              <a:rPr dirty="0"/>
              <a:t> </a:t>
            </a:r>
            <a:r>
              <a:rPr dirty="0" err="1"/>
              <a:t>למחזור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40ns. </a:t>
            </a:r>
            <a:r>
              <a:rPr lang="he-IL" dirty="0"/>
              <a:t>,</a:t>
            </a:r>
            <a:r>
              <a:rPr dirty="0" err="1"/>
              <a:t>סנכרון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מבטיח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ריענון</a:t>
            </a:r>
            <a:r>
              <a:rPr dirty="0"/>
              <a:t> </a:t>
            </a:r>
            <a:r>
              <a:rPr dirty="0" err="1"/>
              <a:t>תקני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60Hz.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אכיפת</a:t>
            </a:r>
            <a:r>
              <a:rPr dirty="0"/>
              <a:t> </a:t>
            </a:r>
            <a:r>
              <a:rPr dirty="0" err="1"/>
              <a:t>שחור</a:t>
            </a:r>
            <a:r>
              <a:rPr dirty="0"/>
              <a:t> (Blanking)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לתחום</a:t>
            </a:r>
            <a:r>
              <a:rPr dirty="0"/>
              <a:t> ה-640,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מאלצת</a:t>
            </a:r>
            <a:r>
              <a:rPr dirty="0"/>
              <a:t> "0000" ב-RGB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למנוע</a:t>
            </a:r>
            <a:r>
              <a:rPr dirty="0"/>
              <a:t> '</a:t>
            </a:r>
            <a:r>
              <a:rPr dirty="0" err="1"/>
              <a:t>מריחות</a:t>
            </a:r>
            <a:r>
              <a:rPr dirty="0"/>
              <a:t>' </a:t>
            </a:r>
            <a:r>
              <a:rPr dirty="0" err="1"/>
              <a:t>צבע</a:t>
            </a:r>
            <a:r>
              <a:rPr dirty="0"/>
              <a:t> </a:t>
            </a:r>
            <a:r>
              <a:rPr dirty="0" err="1"/>
              <a:t>בעת</a:t>
            </a:r>
            <a:r>
              <a:rPr dirty="0"/>
              <a:t>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36178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3046" y="3234267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lang="he-IL" dirty="0"/>
              <a:t>:</a:t>
            </a:r>
            <a:br>
              <a:rPr lang="he-IL" dirty="0"/>
            </a:br>
            <a:r>
              <a:rPr dirty="0" err="1"/>
              <a:t>חישוב</a:t>
            </a:r>
            <a:r>
              <a:rPr dirty="0"/>
              <a:t> </a:t>
            </a:r>
            <a:r>
              <a:rPr dirty="0" err="1"/>
              <a:t>כתובת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 </a:t>
            </a:r>
            <a:r>
              <a:rPr dirty="0" err="1"/>
              <a:t>ושליפה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-520262" y="1336119"/>
            <a:ext cx="9420753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מיקום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(X,Y):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המונים</a:t>
            </a:r>
            <a:r>
              <a:rPr dirty="0"/>
              <a:t> </a:t>
            </a:r>
            <a:r>
              <a:rPr dirty="0" err="1"/>
              <a:t>hsync_reg</a:t>
            </a:r>
            <a:r>
              <a:rPr dirty="0"/>
              <a:t> ו-</a:t>
            </a:r>
            <a:r>
              <a:rPr dirty="0" err="1"/>
              <a:t>vsync_reg</a:t>
            </a:r>
            <a:r>
              <a:rPr dirty="0"/>
              <a:t> </a:t>
            </a:r>
            <a:r>
              <a:rPr dirty="0" err="1"/>
              <a:t>מפיקים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הקואורדינטות</a:t>
            </a:r>
            <a:r>
              <a:rPr dirty="0"/>
              <a:t> </a:t>
            </a:r>
            <a:r>
              <a:rPr dirty="0" err="1"/>
              <a:t>הדינמיות</a:t>
            </a:r>
            <a:r>
              <a:rPr dirty="0"/>
              <a:t> </a:t>
            </a:r>
            <a:r>
              <a:rPr dirty="0" err="1"/>
              <a:t>display_x</a:t>
            </a:r>
            <a:r>
              <a:rPr dirty="0"/>
              <a:t> ו-</a:t>
            </a:r>
            <a:r>
              <a:rPr dirty="0" err="1"/>
              <a:t>display_y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תרגום</a:t>
            </a:r>
            <a:r>
              <a:rPr dirty="0"/>
              <a:t> </a:t>
            </a:r>
            <a:r>
              <a:rPr dirty="0" err="1"/>
              <a:t>לכתובת</a:t>
            </a:r>
            <a:r>
              <a:rPr dirty="0"/>
              <a:t> </a:t>
            </a:r>
            <a:r>
              <a:rPr dirty="0" err="1"/>
              <a:t>ליניארית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הקואורדינטה</a:t>
            </a:r>
            <a:r>
              <a:rPr dirty="0"/>
              <a:t> </a:t>
            </a:r>
            <a:r>
              <a:rPr dirty="0" err="1"/>
              <a:t>מתורגמת</a:t>
            </a:r>
            <a:r>
              <a:rPr dirty="0"/>
              <a:t> </a:t>
            </a:r>
            <a:r>
              <a:rPr dirty="0" err="1"/>
              <a:t>מתמטית</a:t>
            </a:r>
            <a:r>
              <a:rPr dirty="0"/>
              <a:t> </a:t>
            </a:r>
            <a:r>
              <a:rPr dirty="0" err="1"/>
              <a:t>לכתובת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</a:t>
            </a:r>
            <a:r>
              <a:rPr dirty="0" err="1"/>
              <a:t>bram_address_next</a:t>
            </a:r>
            <a:r>
              <a:rPr dirty="0"/>
              <a:t> </a:t>
            </a:r>
            <a:r>
              <a:rPr dirty="0" err="1"/>
              <a:t>ונשלחת</a:t>
            </a:r>
            <a:r>
              <a:rPr dirty="0"/>
              <a:t> </a:t>
            </a:r>
            <a:r>
              <a:rPr dirty="0" err="1"/>
              <a:t>החוצה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addrb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שליפה</a:t>
            </a:r>
            <a:r>
              <a:rPr dirty="0"/>
              <a:t> </a:t>
            </a:r>
            <a:r>
              <a:rPr dirty="0" err="1"/>
              <a:t>מה</a:t>
            </a:r>
            <a:r>
              <a:rPr dirty="0"/>
              <a:t>-BRAM: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רכיב</a:t>
            </a:r>
            <a:r>
              <a:rPr dirty="0"/>
              <a:t> ה-</a:t>
            </a:r>
            <a:r>
              <a:rPr dirty="0" err="1"/>
              <a:t>frame_buffer</a:t>
            </a:r>
            <a:r>
              <a:rPr dirty="0"/>
              <a:t> </a:t>
            </a:r>
            <a:r>
              <a:rPr dirty="0" err="1"/>
              <a:t>מקבל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הכתובת</a:t>
            </a:r>
            <a:r>
              <a:rPr dirty="0"/>
              <a:t> </a:t>
            </a:r>
            <a:r>
              <a:rPr dirty="0" err="1"/>
              <a:t>ומשחרר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12 </a:t>
            </a:r>
            <a:r>
              <a:rPr dirty="0" err="1"/>
              <a:t>הביטים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 </a:t>
            </a:r>
            <a:r>
              <a:rPr dirty="0" err="1"/>
              <a:t>היישר</a:t>
            </a:r>
            <a:r>
              <a:rPr dirty="0"/>
              <a:t>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האות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doutb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בקר</a:t>
            </a:r>
            <a:r>
              <a:rPr dirty="0"/>
              <a:t>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876" y="3724866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עיבוד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: </a:t>
            </a:r>
            <a:br>
              <a:rPr lang="he-IL" dirty="0"/>
            </a:br>
            <a:r>
              <a:rPr dirty="0" err="1"/>
              <a:t>ניתוב</a:t>
            </a:r>
            <a:r>
              <a:rPr dirty="0"/>
              <a:t> ל-RGB </a:t>
            </a:r>
            <a:r>
              <a:rPr dirty="0" err="1"/>
              <a:t>ומנגנון</a:t>
            </a:r>
            <a:r>
              <a:rPr dirty="0"/>
              <a:t>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20" y="1164334"/>
            <a:ext cx="862899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רישום</a:t>
            </a:r>
            <a:r>
              <a:rPr dirty="0"/>
              <a:t> </a:t>
            </a:r>
            <a:r>
              <a:rPr dirty="0" err="1"/>
              <a:t>ופיצול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הנתונים</a:t>
            </a:r>
            <a:r>
              <a:rPr dirty="0"/>
              <a:t> מ-</a:t>
            </a:r>
            <a:r>
              <a:rPr dirty="0" err="1"/>
              <a:t>doutb</a:t>
            </a:r>
            <a:r>
              <a:rPr dirty="0"/>
              <a:t> </a:t>
            </a:r>
            <a:r>
              <a:rPr dirty="0" err="1"/>
              <a:t>ננעלים</a:t>
            </a:r>
            <a:r>
              <a:rPr dirty="0"/>
              <a:t> </a:t>
            </a:r>
            <a:r>
              <a:rPr dirty="0" err="1"/>
              <a:t>באוגר</a:t>
            </a:r>
            <a:r>
              <a:rPr dirty="0"/>
              <a:t> </a:t>
            </a:r>
            <a:r>
              <a:rPr dirty="0" err="1"/>
              <a:t>pxl_data_reg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ומפוצלים</a:t>
            </a:r>
            <a:r>
              <a:rPr dirty="0"/>
              <a:t> ל</a:t>
            </a:r>
            <a:r>
              <a:rPr lang="he-IL" dirty="0"/>
              <a:t>מסלולים</a:t>
            </a:r>
            <a:r>
              <a:rPr dirty="0"/>
              <a:t>: </a:t>
            </a:r>
            <a:r>
              <a:rPr dirty="0" err="1"/>
              <a:t>vga_r_int</a:t>
            </a:r>
            <a:r>
              <a:rPr dirty="0"/>
              <a:t> (11:8), </a:t>
            </a:r>
            <a:r>
              <a:rPr dirty="0" err="1"/>
              <a:t>vga_g_int</a:t>
            </a:r>
            <a:r>
              <a:rPr dirty="0"/>
              <a:t> (7:4) ו-</a:t>
            </a:r>
            <a:r>
              <a:rPr dirty="0" err="1"/>
              <a:t>vga_b_int</a:t>
            </a:r>
            <a:r>
              <a:rPr dirty="0"/>
              <a:t> (3:0).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שומר</a:t>
            </a:r>
            <a:r>
              <a:rPr dirty="0"/>
              <a:t> </a:t>
            </a:r>
            <a:r>
              <a:rPr dirty="0" err="1"/>
              <a:t>הסף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in_display_area_delayed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משמש</a:t>
            </a:r>
            <a:r>
              <a:rPr dirty="0"/>
              <a:t> </a:t>
            </a:r>
            <a:r>
              <a:rPr dirty="0" err="1"/>
              <a:t>כדגל</a:t>
            </a:r>
            <a:r>
              <a:rPr dirty="0"/>
              <a:t> </a:t>
            </a:r>
            <a:r>
              <a:rPr dirty="0" err="1"/>
              <a:t>המזהה</a:t>
            </a:r>
            <a:r>
              <a:rPr dirty="0"/>
              <a:t> </a:t>
            </a:r>
            <a:r>
              <a:rPr dirty="0" err="1"/>
              <a:t>האם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מצוירת</a:t>
            </a:r>
            <a:r>
              <a:rPr dirty="0"/>
              <a:t> </a:t>
            </a:r>
            <a:r>
              <a:rPr dirty="0" err="1"/>
              <a:t>כעת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נמצאת</a:t>
            </a:r>
            <a:r>
              <a:rPr dirty="0"/>
              <a:t> </a:t>
            </a: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לתצוגה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סינון</a:t>
            </a:r>
            <a:r>
              <a:rPr dirty="0"/>
              <a:t> </a:t>
            </a:r>
            <a:r>
              <a:rPr dirty="0" err="1"/>
              <a:t>דיגיטלי</a:t>
            </a:r>
            <a:r>
              <a:rPr dirty="0"/>
              <a:t> (Mux)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הדגל</a:t>
            </a:r>
            <a:r>
              <a:rPr dirty="0"/>
              <a:t> ב-'1', </a:t>
            </a:r>
            <a:r>
              <a:rPr dirty="0" err="1"/>
              <a:t>ערכי</a:t>
            </a:r>
            <a:r>
              <a:rPr dirty="0"/>
              <a:t> ה-RGB </a:t>
            </a:r>
            <a:r>
              <a:rPr dirty="0" err="1"/>
              <a:t>מועברים</a:t>
            </a:r>
            <a:r>
              <a:rPr dirty="0"/>
              <a:t> </a:t>
            </a:r>
            <a:r>
              <a:rPr dirty="0" err="1"/>
              <a:t>ליציאות</a:t>
            </a:r>
            <a:r>
              <a:rPr dirty="0"/>
              <a:t> VGA_R/G/B. </a:t>
            </a:r>
            <a:r>
              <a:rPr dirty="0" err="1"/>
              <a:t>בזמני</a:t>
            </a:r>
            <a:r>
              <a:rPr dirty="0"/>
              <a:t> ה-Porch </a:t>
            </a:r>
            <a:r>
              <a:rPr dirty="0" err="1"/>
              <a:t>וה</a:t>
            </a:r>
            <a:r>
              <a:rPr dirty="0"/>
              <a:t>-Sync, </a:t>
            </a:r>
            <a:r>
              <a:rPr dirty="0" err="1"/>
              <a:t>היציאות</a:t>
            </a:r>
            <a:r>
              <a:rPr dirty="0"/>
              <a:t> </a:t>
            </a:r>
            <a:r>
              <a:rPr dirty="0" err="1"/>
              <a:t>נאלצות</a:t>
            </a:r>
            <a:r>
              <a:rPr dirty="0"/>
              <a:t> ל-"0000" </a:t>
            </a:r>
            <a:r>
              <a:rPr lang="he-IL" dirty="0"/>
              <a:t>,</a:t>
            </a:r>
            <a:r>
              <a:rPr dirty="0" err="1"/>
              <a:t>שחור</a:t>
            </a:r>
            <a:r>
              <a:rPr dirty="0"/>
              <a:t> </a:t>
            </a:r>
            <a:r>
              <a:rPr dirty="0" err="1"/>
              <a:t>מוחלט</a:t>
            </a:r>
            <a:endParaRPr dirty="0"/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79" y="3646401"/>
            <a:ext cx="6290441" cy="29822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4546"/>
            <a:ext cx="8229600" cy="1143000"/>
          </a:xfrm>
        </p:spPr>
        <p:txBody>
          <a:bodyPr/>
          <a:lstStyle/>
          <a:p>
            <a:pPr algn="ctr" rtl="1"/>
            <a:r>
              <a:rPr dirty="0" err="1"/>
              <a:t>המרת</a:t>
            </a:r>
            <a:r>
              <a:rPr dirty="0"/>
              <a:t> DAC </a:t>
            </a:r>
            <a:r>
              <a:rPr lang="he-IL" dirty="0"/>
              <a:t> </a:t>
            </a:r>
            <a:r>
              <a:rPr dirty="0" err="1"/>
              <a:t>ומחבר</a:t>
            </a:r>
            <a:r>
              <a:rPr dirty="0"/>
              <a:t>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0435" y="1591879"/>
            <a:ext cx="724162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סולם</a:t>
            </a:r>
            <a:r>
              <a:rPr dirty="0"/>
              <a:t> </a:t>
            </a:r>
            <a:r>
              <a:rPr dirty="0" err="1"/>
              <a:t>נגדים</a:t>
            </a:r>
            <a:r>
              <a:rPr dirty="0"/>
              <a:t> (Resistor Network)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המרת</a:t>
            </a:r>
            <a:r>
              <a:rPr dirty="0"/>
              <a:t> 12 </a:t>
            </a:r>
            <a:r>
              <a:rPr lang="he-IL" dirty="0"/>
              <a:t> </a:t>
            </a:r>
            <a:r>
              <a:rPr dirty="0" err="1"/>
              <a:t>ביטי</a:t>
            </a:r>
            <a:r>
              <a:rPr dirty="0"/>
              <a:t> ה-RGB </a:t>
            </a:r>
            <a:r>
              <a:rPr dirty="0" err="1"/>
              <a:t>למתח</a:t>
            </a:r>
            <a:r>
              <a:rPr dirty="0"/>
              <a:t> </a:t>
            </a:r>
            <a:r>
              <a:rPr dirty="0" err="1"/>
              <a:t>אנלוגי</a:t>
            </a:r>
            <a:r>
              <a:rPr dirty="0"/>
              <a:t> </a:t>
            </a:r>
            <a:r>
              <a:rPr dirty="0" err="1"/>
              <a:t>רציף</a:t>
            </a:r>
            <a:r>
              <a:rPr dirty="0"/>
              <a:t> </a:t>
            </a:r>
            <a:r>
              <a:rPr lang="he-IL" dirty="0"/>
              <a:t>,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lang="he-IL" dirty="0"/>
              <a:t>רשת </a:t>
            </a:r>
            <a:r>
              <a:rPr dirty="0" err="1"/>
              <a:t>נגדים</a:t>
            </a:r>
            <a:r>
              <a:rPr lang="he-IL" dirty="0"/>
              <a:t> מ</a:t>
            </a:r>
            <a:r>
              <a:rPr dirty="0"/>
              <a:t> 510Ω </a:t>
            </a:r>
            <a:r>
              <a:rPr dirty="0" err="1"/>
              <a:t>עד</a:t>
            </a:r>
            <a:r>
              <a:rPr dirty="0"/>
              <a:t> 4KΩ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•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סנכרון</a:t>
            </a:r>
            <a:r>
              <a:rPr dirty="0"/>
              <a:t> (B11 / B12)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פיני</a:t>
            </a:r>
            <a:r>
              <a:rPr dirty="0"/>
              <a:t> </a:t>
            </a:r>
            <a:r>
              <a:rPr dirty="0" err="1"/>
              <a:t>היציאה</a:t>
            </a:r>
            <a:r>
              <a:rPr dirty="0"/>
              <a:t> </a:t>
            </a:r>
            <a:r>
              <a:rPr dirty="0" err="1"/>
              <a:t>מוגנים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dirty="0" err="1"/>
              <a:t>נגדי</a:t>
            </a:r>
            <a:r>
              <a:rPr dirty="0"/>
              <a:t> 100Ω </a:t>
            </a:r>
            <a:r>
              <a:rPr lang="he-IL" dirty="0"/>
              <a:t> </a:t>
            </a:r>
            <a:r>
              <a:rPr dirty="0" err="1"/>
              <a:t>ומזינים</a:t>
            </a:r>
            <a:r>
              <a:rPr dirty="0"/>
              <a:t>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מחבר</a:t>
            </a:r>
            <a:r>
              <a:rPr dirty="0"/>
              <a:t> ה-DB15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954" y="3429000"/>
            <a:ext cx="2785056" cy="3277456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397460" y="3847228"/>
            <a:ext cx="3045791" cy="2426480"/>
          </a:xfrm>
          <a:prstGeom prst="rect">
            <a:avLst/>
          </a:prstGeom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15C6DADA-FBFD-40CE-80CE-D90CFB23A20F}"/>
              </a:ext>
            </a:extLst>
          </p:cNvPr>
          <p:cNvSpPr txBox="1"/>
          <p:nvPr/>
        </p:nvSpPr>
        <p:spPr>
          <a:xfrm>
            <a:off x="1524001" y="1217546"/>
            <a:ext cx="6609596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על מנת לשדר את האותות הצבעוניים הדיגיטליים החוצה למסך בעל הכניסה </a:t>
            </a:r>
            <a:r>
              <a:rPr lang="he-IL" dirty="0" err="1"/>
              <a:t>האנלוגית,נשתמש</a:t>
            </a:r>
            <a:r>
              <a:rPr lang="he-IL" dirty="0"/>
              <a:t> בממיר </a:t>
            </a:r>
            <a:r>
              <a:rPr lang="he-IL" dirty="0" err="1"/>
              <a:t>דיגיטל</a:t>
            </a:r>
            <a:r>
              <a:rPr lang="he-IL" dirty="0"/>
              <a:t> טו </a:t>
            </a:r>
            <a:r>
              <a:rPr lang="he-IL" dirty="0" err="1"/>
              <a:t>אנלוג</a:t>
            </a:r>
            <a:endParaRPr lang="he-IL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15900"/>
            <a:ext cx="8229599" cy="809297"/>
          </a:xfrm>
        </p:spPr>
        <p:txBody>
          <a:bodyPr>
            <a:normAutofit/>
          </a:bodyPr>
          <a:lstStyle/>
          <a:p>
            <a:pPr algn="ctr" rtl="1"/>
            <a:r>
              <a:rPr lang="he-IL" dirty="0"/>
              <a:t>משקלי הביטים: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694" y="483588"/>
            <a:ext cx="822959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• משקל פיזי לכל ביט</a:t>
            </a:r>
          </a:p>
          <a:p>
            <a:pPr algn="r" rtl="1">
              <a:defRPr sz="1600"/>
            </a:pPr>
            <a:r>
              <a:rPr lang="en-US" dirty="0"/>
              <a:t> MSB  </a:t>
            </a:r>
            <a:r>
              <a:rPr lang="he-IL" dirty="0"/>
              <a:t>לעומת </a:t>
            </a:r>
            <a:r>
              <a:rPr lang="en-US" dirty="0"/>
              <a:t>LSB</a:t>
            </a:r>
            <a:r>
              <a:rPr lang="he-IL" dirty="0"/>
              <a:t> :</a:t>
            </a:r>
            <a:endParaRPr lang="en-US" dirty="0"/>
          </a:p>
          <a:p>
            <a:pPr algn="r" rtl="1">
              <a:defRPr sz="1600"/>
            </a:pPr>
            <a:r>
              <a:rPr lang="en-US" dirty="0"/>
              <a:t>  </a:t>
            </a:r>
            <a:r>
              <a:rPr lang="he-IL" dirty="0"/>
              <a:t>הביט המשמעותי ביותר (</a:t>
            </a:r>
            <a:r>
              <a:rPr lang="en-US" dirty="0" err="1"/>
              <a:t>msb</a:t>
            </a:r>
            <a:r>
              <a:rPr lang="he-IL" dirty="0"/>
              <a:t>)מחובר לנגד הקטן ביותר, ולכן מזרים את הזרם הגדול ביותר למעגל        ומשפיע משמעותית על עוצמת הצבע,</a:t>
            </a:r>
          </a:p>
          <a:p>
            <a:pPr algn="r" rtl="1">
              <a:defRPr sz="1600"/>
            </a:pPr>
            <a:r>
              <a:rPr dirty="0"/>
              <a:t> </a:t>
            </a:r>
            <a:r>
              <a:rPr lang="he-IL" dirty="0"/>
              <a:t>  </a:t>
            </a:r>
            <a:r>
              <a:rPr dirty="0" err="1"/>
              <a:t>לעומתו</a:t>
            </a:r>
            <a:r>
              <a:rPr dirty="0"/>
              <a:t>, </a:t>
            </a:r>
            <a:r>
              <a:rPr dirty="0" err="1"/>
              <a:t>הביט</a:t>
            </a:r>
            <a:r>
              <a:rPr dirty="0"/>
              <a:t> </a:t>
            </a:r>
            <a:r>
              <a:rPr dirty="0" err="1"/>
              <a:t>הפחות</a:t>
            </a:r>
            <a:r>
              <a:rPr dirty="0"/>
              <a:t> </a:t>
            </a:r>
            <a:r>
              <a:rPr dirty="0" err="1"/>
              <a:t>משמעותי</a:t>
            </a:r>
            <a:r>
              <a:rPr dirty="0"/>
              <a:t> (LSB) </a:t>
            </a:r>
            <a:r>
              <a:rPr dirty="0" err="1"/>
              <a:t>מחובר</a:t>
            </a:r>
            <a:r>
              <a:rPr dirty="0"/>
              <a:t> </a:t>
            </a:r>
            <a:r>
              <a:rPr dirty="0" err="1"/>
              <a:t>לנגד</a:t>
            </a:r>
            <a:r>
              <a:rPr dirty="0"/>
              <a:t> </a:t>
            </a:r>
            <a:r>
              <a:rPr dirty="0" err="1"/>
              <a:t>הגדול</a:t>
            </a:r>
            <a:r>
              <a:rPr dirty="0"/>
              <a:t> </a:t>
            </a:r>
            <a:r>
              <a:rPr dirty="0" err="1"/>
              <a:t>ביותר</a:t>
            </a:r>
            <a:r>
              <a:rPr dirty="0"/>
              <a:t> </a:t>
            </a:r>
            <a:r>
              <a:rPr dirty="0" err="1"/>
              <a:t>בסולם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ו</a:t>
            </a:r>
            <a:r>
              <a:rPr dirty="0" err="1"/>
              <a:t>תרומתו</a:t>
            </a:r>
            <a:r>
              <a:rPr dirty="0"/>
              <a:t> </a:t>
            </a:r>
            <a:r>
              <a:rPr dirty="0" err="1"/>
              <a:t>לזרם</a:t>
            </a:r>
            <a:r>
              <a:rPr dirty="0"/>
              <a:t> </a:t>
            </a:r>
            <a:r>
              <a:rPr dirty="0" err="1"/>
              <a:t>הכולל</a:t>
            </a:r>
            <a:r>
              <a:rPr dirty="0"/>
              <a:t> </a:t>
            </a:r>
            <a:r>
              <a:rPr dirty="0" err="1"/>
              <a:t>היא</a:t>
            </a:r>
            <a:r>
              <a:rPr dirty="0"/>
              <a:t> </a:t>
            </a:r>
            <a:r>
              <a:rPr dirty="0" err="1"/>
              <a:t>מזערית</a:t>
            </a:r>
            <a:r>
              <a:rPr dirty="0"/>
              <a:t> </a:t>
            </a:r>
            <a:r>
              <a:rPr dirty="0" err="1"/>
              <a:t>ונועדה</a:t>
            </a:r>
            <a:r>
              <a:rPr dirty="0"/>
              <a:t> </a:t>
            </a:r>
            <a:r>
              <a:rPr dirty="0" err="1"/>
              <a:t>לכוונון</a:t>
            </a:r>
            <a:r>
              <a:rPr dirty="0"/>
              <a:t> </a:t>
            </a:r>
            <a:r>
              <a:rPr dirty="0" err="1"/>
              <a:t>עדין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הגוון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סכימה</a:t>
            </a:r>
            <a:r>
              <a:rPr dirty="0"/>
              <a:t> </a:t>
            </a:r>
            <a:r>
              <a:rPr dirty="0" err="1"/>
              <a:t>אנלוגית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הזרמים</a:t>
            </a:r>
            <a:r>
              <a:rPr dirty="0"/>
              <a:t> </a:t>
            </a:r>
            <a:r>
              <a:rPr dirty="0" err="1"/>
              <a:t>מהביטים</a:t>
            </a:r>
            <a:r>
              <a:rPr dirty="0"/>
              <a:t> </a:t>
            </a:r>
            <a:r>
              <a:rPr dirty="0" err="1"/>
              <a:t>הפעילים</a:t>
            </a:r>
            <a:r>
              <a:rPr dirty="0"/>
              <a:t> ('1') </a:t>
            </a:r>
            <a:r>
              <a:rPr dirty="0" err="1"/>
              <a:t>מתחברים</a:t>
            </a:r>
            <a:r>
              <a:rPr dirty="0"/>
              <a:t> </a:t>
            </a:r>
            <a:r>
              <a:rPr dirty="0" err="1"/>
              <a:t>וזורמים</a:t>
            </a:r>
            <a:r>
              <a:rPr dirty="0"/>
              <a:t> </a:t>
            </a:r>
            <a:r>
              <a:rPr dirty="0" err="1"/>
              <a:t>יחד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נגד</a:t>
            </a:r>
            <a:r>
              <a:rPr dirty="0"/>
              <a:t> </a:t>
            </a:r>
            <a:r>
              <a:rPr dirty="0" err="1"/>
              <a:t>הסיומת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(75Ω)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האדמה</a:t>
            </a:r>
            <a:r>
              <a:rPr dirty="0"/>
              <a:t>.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נוצר</a:t>
            </a:r>
            <a:r>
              <a:rPr dirty="0"/>
              <a:t> </a:t>
            </a:r>
            <a:r>
              <a:rPr dirty="0" err="1"/>
              <a:t>מחלק</a:t>
            </a:r>
            <a:r>
              <a:rPr dirty="0"/>
              <a:t> </a:t>
            </a:r>
            <a:r>
              <a:rPr dirty="0" err="1"/>
              <a:t>מתח</a:t>
            </a:r>
            <a:r>
              <a:rPr dirty="0"/>
              <a:t> </a:t>
            </a:r>
            <a:r>
              <a:rPr dirty="0" err="1"/>
              <a:t>דינמי</a:t>
            </a:r>
            <a:r>
              <a:rPr dirty="0"/>
              <a:t> </a:t>
            </a:r>
            <a:r>
              <a:rPr dirty="0" err="1"/>
              <a:t>המפיק</a:t>
            </a:r>
            <a:r>
              <a:rPr dirty="0"/>
              <a:t> 0V </a:t>
            </a:r>
            <a:r>
              <a:rPr dirty="0" err="1"/>
              <a:t>עד</a:t>
            </a:r>
            <a:r>
              <a:rPr dirty="0"/>
              <a:t>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 rotWithShape="1">
          <a:blip r:embed="rId2"/>
          <a:srcRect t="10239" b="6031"/>
          <a:stretch/>
        </p:blipFill>
        <p:spPr>
          <a:xfrm>
            <a:off x="2472121" y="3330901"/>
            <a:ext cx="4566744" cy="30435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049665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סיכום</a:t>
            </a:r>
            <a:br>
              <a:rPr lang="he-IL" dirty="0"/>
            </a:br>
            <a:r>
              <a:rPr dirty="0" err="1"/>
              <a:t>לקראת</a:t>
            </a:r>
            <a:r>
              <a:rPr dirty="0"/>
              <a:t> </a:t>
            </a:r>
            <a:r>
              <a:rPr dirty="0" err="1"/>
              <a:t>ארכיטקטורת</a:t>
            </a:r>
            <a:r>
              <a:rPr dirty="0"/>
              <a:t> </a:t>
            </a:r>
            <a:r>
              <a:rPr dirty="0" err="1"/>
              <a:t>החומרה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-1061544" y="1138521"/>
            <a:ext cx="1022777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האתגר</a:t>
            </a:r>
            <a:r>
              <a:rPr dirty="0"/>
              <a:t> </a:t>
            </a:r>
            <a:r>
              <a:rPr dirty="0" err="1"/>
              <a:t>הפיזיקלי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ראינו</a:t>
            </a:r>
            <a:r>
              <a:rPr dirty="0"/>
              <a:t> </a:t>
            </a:r>
            <a:r>
              <a:rPr dirty="0" err="1"/>
              <a:t>שהמסך</a:t>
            </a:r>
            <a:r>
              <a:rPr dirty="0"/>
              <a:t> </a:t>
            </a:r>
            <a:r>
              <a:rPr dirty="0" err="1"/>
              <a:t>החיצוני</a:t>
            </a:r>
            <a:r>
              <a:rPr dirty="0"/>
              <a:t> </a:t>
            </a:r>
            <a:r>
              <a:rPr dirty="0" err="1"/>
              <a:t>דורש</a:t>
            </a:r>
            <a:r>
              <a:rPr dirty="0"/>
              <a:t> </a:t>
            </a:r>
            <a:r>
              <a:rPr dirty="0" err="1"/>
              <a:t>תזמונים</a:t>
            </a:r>
            <a:r>
              <a:rPr dirty="0"/>
              <a:t> </a:t>
            </a:r>
            <a:r>
              <a:rPr dirty="0" err="1"/>
              <a:t>מדויקים</a:t>
            </a:r>
            <a:r>
              <a:rPr dirty="0"/>
              <a:t> </a:t>
            </a:r>
            <a:r>
              <a:rPr dirty="0" err="1"/>
              <a:t>ונוקשים</a:t>
            </a:r>
            <a:r>
              <a:rPr dirty="0"/>
              <a:t> (Sync, Blanking) </a:t>
            </a:r>
            <a:r>
              <a:rPr dirty="0" err="1"/>
              <a:t>והמרת</a:t>
            </a:r>
            <a:r>
              <a:rPr dirty="0"/>
              <a:t> </a:t>
            </a:r>
            <a:r>
              <a:rPr dirty="0" err="1"/>
              <a:t>צבע</a:t>
            </a:r>
            <a:r>
              <a:rPr dirty="0"/>
              <a:t> </a:t>
            </a:r>
            <a:r>
              <a:rPr dirty="0" err="1"/>
              <a:t>רציפה</a:t>
            </a:r>
            <a:r>
              <a:rPr dirty="0"/>
              <a:t> (DAC)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לפעול</a:t>
            </a:r>
            <a:r>
              <a:rPr dirty="0"/>
              <a:t> </a:t>
            </a:r>
            <a:r>
              <a:rPr dirty="0" err="1"/>
              <a:t>כראוי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המעבר</a:t>
            </a:r>
            <a:r>
              <a:rPr dirty="0"/>
              <a:t> </a:t>
            </a:r>
            <a:r>
              <a:rPr dirty="0" err="1"/>
              <a:t>פנימה</a:t>
            </a:r>
            <a:r>
              <a:rPr dirty="0"/>
              <a:t> (FPGA)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לייצר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הללו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ובאמינות</a:t>
            </a:r>
            <a:r>
              <a:rPr dirty="0"/>
              <a:t> </a:t>
            </a:r>
            <a:r>
              <a:rPr dirty="0" err="1"/>
              <a:t>מוחלטת</a:t>
            </a:r>
            <a:r>
              <a:rPr dirty="0"/>
              <a:t>, </a:t>
            </a:r>
            <a:r>
              <a:rPr dirty="0" err="1"/>
              <a:t>אנו</a:t>
            </a:r>
            <a:r>
              <a:rPr dirty="0"/>
              <a:t> </a:t>
            </a:r>
            <a:r>
              <a:rPr dirty="0" err="1"/>
              <a:t>נכנסים</a:t>
            </a:r>
            <a:r>
              <a:rPr dirty="0"/>
              <a:t>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תוך</a:t>
            </a:r>
            <a:r>
              <a:rPr dirty="0"/>
              <a:t>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הדיגיטלית</a:t>
            </a:r>
            <a:r>
              <a:rPr dirty="0"/>
              <a:t> (RTL)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הכרטיס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תפקיד</a:t>
            </a:r>
            <a:r>
              <a:rPr dirty="0"/>
              <a:t> ה-VGA Controller: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זהו</a:t>
            </a:r>
            <a:r>
              <a:rPr dirty="0"/>
              <a:t>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הגישור</a:t>
            </a:r>
            <a:r>
              <a:rPr dirty="0"/>
              <a:t> </a:t>
            </a:r>
            <a:r>
              <a:rPr dirty="0" err="1"/>
              <a:t>הסופי</a:t>
            </a:r>
            <a:r>
              <a:rPr dirty="0"/>
              <a:t> </a:t>
            </a:r>
            <a:r>
              <a:rPr dirty="0" err="1"/>
              <a:t>במערכת</a:t>
            </a:r>
            <a:r>
              <a:rPr dirty="0"/>
              <a:t>.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שואב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</a:t>
            </a:r>
            <a:r>
              <a:rPr dirty="0" err="1"/>
              <a:t>מהזיכרון</a:t>
            </a:r>
            <a:r>
              <a:rPr dirty="0"/>
              <a:t> </a:t>
            </a:r>
            <a:r>
              <a:rPr dirty="0" err="1"/>
              <a:t>הפנימי</a:t>
            </a:r>
            <a:r>
              <a:rPr dirty="0"/>
              <a:t> </a:t>
            </a:r>
            <a:r>
              <a:rPr dirty="0" err="1"/>
              <a:t>ומתרגם</a:t>
            </a:r>
            <a:r>
              <a:rPr dirty="0"/>
              <a:t> </a:t>
            </a:r>
            <a:r>
              <a:rPr dirty="0" err="1"/>
              <a:t>אותם</a:t>
            </a:r>
            <a:r>
              <a:rPr dirty="0"/>
              <a:t> </a:t>
            </a:r>
            <a:r>
              <a:rPr dirty="0" err="1"/>
              <a:t>לאותות</a:t>
            </a:r>
            <a:r>
              <a:rPr dirty="0"/>
              <a:t> </a:t>
            </a:r>
            <a:r>
              <a:rPr dirty="0" err="1"/>
              <a:t>הפיזיים</a:t>
            </a:r>
            <a:r>
              <a:rPr dirty="0"/>
              <a:t> </a:t>
            </a:r>
            <a:r>
              <a:rPr dirty="0" err="1"/>
              <a:t>שהמסך</a:t>
            </a:r>
            <a:r>
              <a:rPr dirty="0"/>
              <a:t> </a:t>
            </a:r>
            <a:r>
              <a:rPr dirty="0" err="1"/>
              <a:t>דורש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התחנה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נמפה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lang="he-IL" dirty="0"/>
              <a:t>המערכות </a:t>
            </a:r>
            <a:r>
              <a:rPr dirty="0" err="1"/>
              <a:t>על</a:t>
            </a:r>
            <a:r>
              <a:rPr dirty="0"/>
              <a:t> </a:t>
            </a:r>
            <a:r>
              <a:rPr lang="he-IL" dirty="0"/>
              <a:t>כרטיס ה</a:t>
            </a:r>
            <a:r>
              <a:rPr lang="en-US" dirty="0"/>
              <a:t>FPGA</a:t>
            </a:r>
            <a:r>
              <a:rPr lang="he-IL" dirty="0"/>
              <a:t>,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, </a:t>
            </a:r>
            <a:r>
              <a:rPr dirty="0" err="1"/>
              <a:t>מצלמה</a:t>
            </a:r>
            <a:r>
              <a:rPr dirty="0"/>
              <a:t>, </a:t>
            </a:r>
            <a:r>
              <a:rPr lang="he-IL" dirty="0"/>
              <a:t>זיכרון ה</a:t>
            </a:r>
            <a:r>
              <a:rPr lang="en-US" dirty="0"/>
              <a:t>BRAM</a:t>
            </a:r>
            <a:r>
              <a:rPr lang="he-IL" dirty="0"/>
              <a:t>,</a:t>
            </a:r>
          </a:p>
          <a:p>
            <a:pPr algn="r" rtl="1">
              <a:defRPr sz="1600"/>
            </a:pPr>
            <a:r>
              <a:rPr dirty="0"/>
              <a:t> </a:t>
            </a:r>
            <a:r>
              <a:rPr dirty="0" err="1"/>
              <a:t>ולאחר</a:t>
            </a:r>
            <a:r>
              <a:rPr dirty="0"/>
              <a:t> </a:t>
            </a:r>
            <a:r>
              <a:rPr dirty="0" err="1"/>
              <a:t>מכן</a:t>
            </a:r>
            <a:r>
              <a:rPr dirty="0"/>
              <a:t> </a:t>
            </a:r>
            <a:r>
              <a:rPr dirty="0" err="1"/>
              <a:t>נצלול</a:t>
            </a:r>
            <a:r>
              <a:rPr dirty="0"/>
              <a:t> </a:t>
            </a:r>
            <a:r>
              <a:rPr dirty="0" err="1"/>
              <a:t>פנימה</a:t>
            </a:r>
            <a:r>
              <a:rPr dirty="0"/>
              <a:t>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עצמו</a:t>
            </a:r>
            <a:r>
              <a:rPr lang="he-IL" dirty="0"/>
              <a:t>,ואל החיבור שלו אל הזיכרון ואל שאר המערכת</a:t>
            </a:r>
            <a:endParaRPr dirty="0"/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917" y="3985523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84083" y="128561"/>
            <a:ext cx="9109919" cy="776507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מבט-על</a:t>
            </a:r>
            <a:r>
              <a:rPr lang="he-IL" dirty="0"/>
              <a:t>:</a:t>
            </a:r>
            <a:r>
              <a:rPr dirty="0"/>
              <a:t> </a:t>
            </a:r>
            <a:r>
              <a:rPr dirty="0" err="1"/>
              <a:t>זרימת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</a:t>
            </a:r>
            <a:r>
              <a:rPr dirty="0" err="1"/>
              <a:t>ותחומי</a:t>
            </a:r>
            <a:r>
              <a:rPr dirty="0"/>
              <a:t> </a:t>
            </a:r>
            <a:r>
              <a:rPr dirty="0" err="1"/>
              <a:t>שעון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0" y="737531"/>
            <a:ext cx="856863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מחולל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(</a:t>
            </a:r>
            <a:r>
              <a:rPr dirty="0" err="1"/>
              <a:t>clk_generator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רכיב</a:t>
            </a:r>
            <a:r>
              <a:rPr dirty="0"/>
              <a:t> PLL </a:t>
            </a:r>
            <a:r>
              <a:rPr lang="he-IL" dirty="0"/>
              <a:t> </a:t>
            </a:r>
            <a:r>
              <a:rPr dirty="0" err="1"/>
              <a:t>המקבל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ומפיק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25MHz </a:t>
            </a:r>
            <a:r>
              <a:rPr lang="he-IL" dirty="0"/>
              <a:t> </a:t>
            </a:r>
            <a:r>
              <a:rPr dirty="0" err="1"/>
              <a:t>נפרד</a:t>
            </a:r>
            <a:r>
              <a:rPr dirty="0"/>
              <a:t> ל-VGA </a:t>
            </a:r>
            <a:r>
              <a:rPr dirty="0" err="1"/>
              <a:t>ושעון</a:t>
            </a:r>
            <a:r>
              <a:rPr dirty="0"/>
              <a:t> </a:t>
            </a:r>
            <a:r>
              <a:rPr dirty="0" err="1"/>
              <a:t>ייעודי</a:t>
            </a:r>
            <a:r>
              <a:rPr dirty="0"/>
              <a:t> </a:t>
            </a:r>
            <a:r>
              <a:rPr dirty="0" err="1"/>
              <a:t>למצלמה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גישור</a:t>
            </a:r>
            <a:r>
              <a:rPr dirty="0"/>
              <a:t> </a:t>
            </a:r>
            <a:r>
              <a:rPr dirty="0" err="1"/>
              <a:t>חציית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(CDC)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זיכרון</a:t>
            </a:r>
            <a:r>
              <a:rPr dirty="0"/>
              <a:t> ה-BRAM </a:t>
            </a:r>
            <a:r>
              <a:rPr dirty="0" err="1"/>
              <a:t>בתצורת</a:t>
            </a:r>
            <a:r>
              <a:rPr dirty="0"/>
              <a:t> Dual-Port </a:t>
            </a:r>
            <a:r>
              <a:rPr lang="he-IL" dirty="0"/>
              <a:t> </a:t>
            </a:r>
            <a:r>
              <a:rPr dirty="0" err="1"/>
              <a:t>פועל</a:t>
            </a:r>
            <a:r>
              <a:rPr dirty="0"/>
              <a:t> </a:t>
            </a:r>
            <a:r>
              <a:rPr dirty="0" err="1"/>
              <a:t>כחוצץ</a:t>
            </a:r>
            <a:r>
              <a:rPr dirty="0"/>
              <a:t> </a:t>
            </a:r>
            <a:r>
              <a:rPr dirty="0" err="1"/>
              <a:t>בטוח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הכתיבה</a:t>
            </a:r>
            <a:r>
              <a:rPr dirty="0"/>
              <a:t> </a:t>
            </a:r>
            <a:r>
              <a:rPr dirty="0" err="1"/>
              <a:t>לקצב</a:t>
            </a:r>
            <a:r>
              <a:rPr dirty="0"/>
              <a:t> </a:t>
            </a:r>
            <a:r>
              <a:rPr dirty="0" err="1"/>
              <a:t>הקריאה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תחום</a:t>
            </a:r>
            <a:r>
              <a:rPr dirty="0"/>
              <a:t> </a:t>
            </a:r>
            <a:r>
              <a:rPr dirty="0" err="1"/>
              <a:t>אדום</a:t>
            </a:r>
            <a:r>
              <a:rPr dirty="0"/>
              <a:t> </a:t>
            </a:r>
            <a:r>
              <a:rPr lang="he-IL" dirty="0"/>
              <a:t>,</a:t>
            </a: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מהמצלמה</a:t>
            </a:r>
            <a:r>
              <a:rPr dirty="0"/>
              <a:t> (ov7670_capture)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ודחיפתם</a:t>
            </a:r>
            <a:r>
              <a:rPr dirty="0"/>
              <a:t> </a:t>
            </a:r>
            <a:r>
              <a:rPr dirty="0" err="1"/>
              <a:t>לפורט</a:t>
            </a:r>
            <a:r>
              <a:rPr dirty="0"/>
              <a:t> A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</a:t>
            </a:r>
            <a:r>
              <a:rPr dirty="0" err="1"/>
              <a:t>clka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תחום</a:t>
            </a:r>
            <a:r>
              <a:rPr dirty="0"/>
              <a:t> </a:t>
            </a:r>
            <a:r>
              <a:rPr dirty="0" err="1"/>
              <a:t>כחול</a:t>
            </a:r>
            <a:r>
              <a:rPr dirty="0"/>
              <a:t> (VGA Domain): </a:t>
            </a:r>
            <a:r>
              <a:rPr lang="he-IL" dirty="0"/>
              <a:t> </a:t>
            </a:r>
          </a:p>
          <a:p>
            <a:pPr algn="r" rtl="1">
              <a:defRPr sz="1600"/>
            </a:pPr>
            <a:r>
              <a:rPr dirty="0" err="1"/>
              <a:t>המיקוד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– </a:t>
            </a:r>
            <a:r>
              <a:rPr dirty="0" err="1"/>
              <a:t>שליפת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מפורט</a:t>
            </a:r>
            <a:r>
              <a:rPr dirty="0"/>
              <a:t> B (</a:t>
            </a:r>
            <a:r>
              <a:rPr dirty="0" err="1"/>
              <a:t>clkb</a:t>
            </a:r>
            <a:r>
              <a:rPr dirty="0"/>
              <a:t>)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וייצור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 rotWithShape="1">
          <a:blip r:embed="rId2"/>
          <a:srcRect l="-135" t="8704" r="135" b="9466"/>
          <a:stretch/>
        </p:blipFill>
        <p:spPr>
          <a:xfrm>
            <a:off x="223345" y="3501752"/>
            <a:ext cx="7772400" cy="3356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3682" y="3402725"/>
            <a:ext cx="4813738" cy="23753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89132" y="3641834"/>
            <a:ext cx="4211495" cy="3216166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ניהול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</a:t>
            </a:r>
            <a:r>
              <a:rPr dirty="0" err="1"/>
              <a:t>במערכת</a:t>
            </a:r>
            <a:br>
              <a:rPr lang="he-IL" dirty="0"/>
            </a:br>
            <a:r>
              <a:rPr dirty="0"/>
              <a:t>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1242" y="1097280"/>
            <a:ext cx="7703103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• שעון מקור:</a:t>
            </a:r>
            <a:endParaRPr lang="en-US" dirty="0"/>
          </a:p>
          <a:p>
            <a:pPr algn="r" rtl="1">
              <a:defRPr sz="1600"/>
            </a:pPr>
            <a:r>
              <a:rPr lang="he-IL" dirty="0"/>
              <a:t>  כניסת  </a:t>
            </a:r>
            <a:r>
              <a:rPr dirty="0" err="1"/>
              <a:t>clk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מקבלת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הלוח</a:t>
            </a:r>
            <a:r>
              <a:rPr dirty="0"/>
              <a:t> </a:t>
            </a:r>
            <a:r>
              <a:rPr dirty="0" err="1"/>
              <a:t>המקורי</a:t>
            </a:r>
            <a:r>
              <a:rPr dirty="0"/>
              <a:t>(100MHz) </a:t>
            </a:r>
            <a:r>
              <a:rPr lang="he-IL" dirty="0"/>
              <a:t>,</a:t>
            </a:r>
            <a:r>
              <a:rPr dirty="0" err="1"/>
              <a:t>ומזינה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ה (clk_wiz_0).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תצוגה</a:t>
            </a:r>
            <a:r>
              <a:rPr dirty="0"/>
              <a:t> (</a:t>
            </a:r>
            <a:r>
              <a:rPr dirty="0" err="1"/>
              <a:t>vga_pll</a:t>
            </a:r>
            <a:r>
              <a:rPr dirty="0"/>
              <a:t>)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ה</a:t>
            </a:r>
            <a:r>
              <a:rPr lang="en-US" dirty="0"/>
              <a:t>PLL</a:t>
            </a:r>
            <a:r>
              <a:rPr lang="he-IL" dirty="0"/>
              <a:t>מפיק תדר של 25</a:t>
            </a:r>
            <a:r>
              <a:rPr lang="en-US" dirty="0"/>
              <a:t>MHz </a:t>
            </a:r>
            <a:r>
              <a:rPr lang="he-IL" dirty="0"/>
              <a:t>,המזין את בקר ה-</a:t>
            </a:r>
            <a:r>
              <a:rPr lang="en-US" dirty="0"/>
              <a:t> VGA (</a:t>
            </a:r>
            <a:r>
              <a:rPr lang="en-US" dirty="0" err="1"/>
              <a:t>pxl_clk</a:t>
            </a:r>
            <a:r>
              <a:rPr lang="en-US" dirty="0"/>
              <a:t>) </a:t>
            </a:r>
            <a:r>
              <a:rPr lang="he-IL" dirty="0"/>
              <a:t>ואת פורט הקריאה </a:t>
            </a:r>
            <a:r>
              <a:rPr lang="en-US" dirty="0" err="1"/>
              <a:t>clkb</a:t>
            </a:r>
            <a:r>
              <a:rPr lang="en-US" dirty="0"/>
              <a:t> </a:t>
            </a:r>
            <a:r>
              <a:rPr lang="he-IL" dirty="0"/>
              <a:t> ב-</a:t>
            </a:r>
            <a:r>
              <a:rPr lang="en-US" dirty="0"/>
              <a:t>BRAM.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מצלמה</a:t>
            </a:r>
            <a:r>
              <a:rPr dirty="0"/>
              <a:t> (</a:t>
            </a:r>
            <a:r>
              <a:rPr dirty="0" err="1"/>
              <a:t>xclk_pll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הפקת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ייעודי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24MHz (xclk_ov7670) </a:t>
            </a:r>
            <a:r>
              <a:rPr lang="he-IL" dirty="0"/>
              <a:t> </a:t>
            </a:r>
            <a:r>
              <a:rPr dirty="0" err="1"/>
              <a:t>המנותב</a:t>
            </a:r>
            <a:r>
              <a:rPr dirty="0"/>
              <a:t> </a:t>
            </a:r>
            <a:r>
              <a:rPr dirty="0" err="1"/>
              <a:t>החוצה</a:t>
            </a:r>
            <a:r>
              <a:rPr dirty="0"/>
              <a:t> </a:t>
            </a:r>
            <a:r>
              <a:rPr dirty="0" err="1"/>
              <a:t>לסנכרון</a:t>
            </a:r>
            <a:r>
              <a:rPr dirty="0"/>
              <a:t>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המצלמה</a:t>
            </a:r>
            <a:r>
              <a:rPr dirty="0"/>
              <a:t>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781" y="3462711"/>
            <a:ext cx="4083268" cy="2891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זיכרון</a:t>
            </a:r>
            <a:r>
              <a:rPr dirty="0"/>
              <a:t> </a:t>
            </a:r>
            <a:r>
              <a:rPr dirty="0" err="1"/>
              <a:t>הBRAM</a:t>
            </a:r>
            <a:br>
              <a:rPr lang="he-IL" dirty="0"/>
            </a:br>
            <a:r>
              <a:rPr dirty="0"/>
              <a:t>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120" y="1097280"/>
            <a:ext cx="907288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תצורת</a:t>
            </a:r>
            <a:r>
              <a:rPr dirty="0"/>
              <a:t> Dual-Port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הפרדה</a:t>
            </a:r>
            <a:r>
              <a:rPr dirty="0"/>
              <a:t> </a:t>
            </a:r>
            <a:r>
              <a:rPr dirty="0" err="1"/>
              <a:t>מוחלטת</a:t>
            </a:r>
            <a:r>
              <a:rPr dirty="0"/>
              <a:t> </a:t>
            </a:r>
            <a:r>
              <a:rPr dirty="0" err="1"/>
              <a:t>לחומרת</a:t>
            </a:r>
            <a:r>
              <a:rPr dirty="0"/>
              <a:t> </a:t>
            </a:r>
            <a:r>
              <a:rPr dirty="0" err="1"/>
              <a:t>כתיבה</a:t>
            </a:r>
            <a:r>
              <a:rPr dirty="0"/>
              <a:t> (A) </a:t>
            </a:r>
            <a:r>
              <a:rPr lang="he-IL" dirty="0"/>
              <a:t> </a:t>
            </a:r>
            <a:r>
              <a:rPr dirty="0" err="1"/>
              <a:t>וקריאה</a:t>
            </a:r>
            <a:r>
              <a:rPr dirty="0"/>
              <a:t> (B) </a:t>
            </a:r>
            <a:r>
              <a:rPr lang="he-IL" dirty="0"/>
              <a:t>,</a:t>
            </a:r>
            <a:r>
              <a:rPr dirty="0" err="1"/>
              <a:t>זהו</a:t>
            </a:r>
            <a:r>
              <a:rPr dirty="0"/>
              <a:t> </a:t>
            </a:r>
            <a:r>
              <a:rPr dirty="0" err="1"/>
              <a:t>הפתרון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ל-</a:t>
            </a:r>
            <a:r>
              <a:rPr dirty="0" err="1"/>
              <a:t>חציית</a:t>
            </a:r>
            <a:r>
              <a:rPr dirty="0"/>
              <a:t> </a:t>
            </a:r>
            <a:r>
              <a:rPr dirty="0" err="1"/>
              <a:t>תחומי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) </a:t>
            </a:r>
            <a:r>
              <a:rPr lang="he-IL" dirty="0" err="1"/>
              <a:t>למנו</a:t>
            </a:r>
            <a:r>
              <a:rPr dirty="0"/>
              <a:t>ע </a:t>
            </a:r>
            <a:r>
              <a:rPr dirty="0" err="1"/>
              <a:t>התנגשויות</a:t>
            </a:r>
            <a:r>
              <a:rPr dirty="0"/>
              <a:t> </a:t>
            </a:r>
            <a:r>
              <a:rPr dirty="0" err="1"/>
              <a:t>נתוני</a:t>
            </a:r>
            <a:r>
              <a:rPr lang="he-IL" dirty="0"/>
              <a:t>ם)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שעונים</a:t>
            </a:r>
            <a:r>
              <a:rPr dirty="0"/>
              <a:t> א-</a:t>
            </a:r>
            <a:r>
              <a:rPr dirty="0" err="1"/>
              <a:t>סינכרוניים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הכתיבה</a:t>
            </a:r>
            <a:r>
              <a:rPr dirty="0"/>
              <a:t> (</a:t>
            </a:r>
            <a:r>
              <a:rPr dirty="0" err="1"/>
              <a:t>clka</a:t>
            </a:r>
            <a:r>
              <a:rPr dirty="0"/>
              <a:t>) </a:t>
            </a:r>
            <a:r>
              <a:rPr dirty="0" err="1"/>
              <a:t>מתבצעת</a:t>
            </a:r>
            <a:r>
              <a:rPr dirty="0"/>
              <a:t> </a:t>
            </a:r>
            <a:r>
              <a:rPr dirty="0" err="1"/>
              <a:t>בתדר</a:t>
            </a:r>
            <a:r>
              <a:rPr dirty="0"/>
              <a:t> </a:t>
            </a:r>
            <a:r>
              <a:rPr dirty="0" err="1"/>
              <a:t>המערכת</a:t>
            </a:r>
            <a:r>
              <a:rPr dirty="0"/>
              <a:t> (100MHz), </a:t>
            </a:r>
            <a:r>
              <a:rPr lang="he-IL" dirty="0"/>
              <a:t>,</a:t>
            </a:r>
            <a:r>
              <a:rPr dirty="0" err="1"/>
              <a:t>בעוד</a:t>
            </a:r>
            <a:r>
              <a:rPr dirty="0"/>
              <a:t> </a:t>
            </a:r>
            <a:r>
              <a:rPr dirty="0" err="1"/>
              <a:t>הקריאה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 (</a:t>
            </a:r>
            <a:r>
              <a:rPr dirty="0" err="1"/>
              <a:t>clkb</a:t>
            </a:r>
            <a:r>
              <a:rPr dirty="0"/>
              <a:t>) </a:t>
            </a:r>
            <a:r>
              <a:rPr dirty="0" err="1"/>
              <a:t>מונעת</a:t>
            </a:r>
            <a:r>
              <a:rPr dirty="0"/>
              <a:t> </a:t>
            </a:r>
            <a:r>
              <a:rPr dirty="0" err="1"/>
              <a:t>בלעדית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ה-VGA </a:t>
            </a:r>
            <a:r>
              <a:rPr dirty="0" err="1"/>
              <a:t>שלנו</a:t>
            </a:r>
            <a:r>
              <a:rPr dirty="0"/>
              <a:t> (25MHz).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ממדי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(307,200x12)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הזיכרון</a:t>
            </a:r>
            <a:r>
              <a:rPr dirty="0"/>
              <a:t> </a:t>
            </a:r>
            <a:r>
              <a:rPr dirty="0" err="1"/>
              <a:t>מוקצה</a:t>
            </a:r>
            <a:r>
              <a:rPr dirty="0"/>
              <a:t> </a:t>
            </a:r>
            <a:r>
              <a:rPr dirty="0" err="1"/>
              <a:t>להכיל</a:t>
            </a:r>
            <a:r>
              <a:rPr dirty="0"/>
              <a:t> 307,200 </a:t>
            </a:r>
            <a:r>
              <a:rPr lang="he-IL" dirty="0"/>
              <a:t> </a:t>
            </a:r>
            <a:r>
              <a:rPr dirty="0" err="1"/>
              <a:t>פיקסלים</a:t>
            </a:r>
            <a:r>
              <a:rPr dirty="0"/>
              <a:t> </a:t>
            </a:r>
            <a:r>
              <a:rPr lang="he-IL" dirty="0"/>
              <a:t>,</a:t>
            </a:r>
            <a:r>
              <a:rPr dirty="0" err="1"/>
              <a:t>רזולוציה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640x480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תפוקת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doutb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משחרר</a:t>
            </a:r>
            <a:r>
              <a:rPr dirty="0"/>
              <a:t> 12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צבע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/>
              <a:t>(RGB)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(25MHz)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לבקר</a:t>
            </a:r>
            <a:r>
              <a:rPr dirty="0"/>
              <a:t>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51" y="3735593"/>
            <a:ext cx="5458429" cy="25853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822642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ממשק</a:t>
            </a:r>
            <a:r>
              <a:rPr dirty="0"/>
              <a:t> </a:t>
            </a:r>
            <a:r>
              <a:rPr dirty="0" err="1"/>
              <a:t>המצלמה</a:t>
            </a:r>
            <a:r>
              <a:rPr lang="he-IL" dirty="0"/>
              <a:t>,</a:t>
            </a:r>
            <a:r>
              <a:rPr dirty="0"/>
              <a:t> </a:t>
            </a:r>
            <a:r>
              <a:rPr dirty="0" err="1"/>
              <a:t>מהעולם</a:t>
            </a:r>
            <a:r>
              <a:rPr dirty="0"/>
              <a:t> </a:t>
            </a:r>
            <a:r>
              <a:rPr dirty="0" err="1"/>
              <a:t>הפיזי</a:t>
            </a:r>
            <a:r>
              <a:rPr dirty="0"/>
              <a:t>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הזיכרון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228600" y="904240"/>
            <a:ext cx="868680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הגשר</a:t>
            </a:r>
            <a:r>
              <a:rPr dirty="0"/>
              <a:t> </a:t>
            </a:r>
            <a:r>
              <a:rPr dirty="0" err="1"/>
              <a:t>הפיזי</a:t>
            </a:r>
            <a:r>
              <a:rPr dirty="0"/>
              <a:t> XCLK </a:t>
            </a:r>
            <a:r>
              <a:rPr lang="he-IL" dirty="0"/>
              <a:t> </a:t>
            </a:r>
            <a:r>
              <a:rPr dirty="0" err="1"/>
              <a:t>מול</a:t>
            </a:r>
            <a:r>
              <a:rPr dirty="0"/>
              <a:t> PCLK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/>
              <a:t>ה-FPGA </a:t>
            </a:r>
            <a:r>
              <a:rPr dirty="0" err="1"/>
              <a:t>מפיק</a:t>
            </a:r>
            <a:r>
              <a:rPr dirty="0"/>
              <a:t> 24MHz (XCLK) </a:t>
            </a:r>
            <a:r>
              <a:rPr dirty="0" err="1"/>
              <a:t>החוצה</a:t>
            </a:r>
            <a:r>
              <a:rPr dirty="0"/>
              <a:t> </a:t>
            </a:r>
            <a:r>
              <a:rPr dirty="0" err="1"/>
              <a:t>להפעלת</a:t>
            </a:r>
            <a:r>
              <a:rPr dirty="0"/>
              <a:t> </a:t>
            </a:r>
            <a:r>
              <a:rPr dirty="0" err="1"/>
              <a:t>המצלמה</a:t>
            </a:r>
            <a:r>
              <a:rPr dirty="0"/>
              <a:t>. </a:t>
            </a:r>
            <a:r>
              <a:rPr dirty="0" err="1"/>
              <a:t>בתגובה</a:t>
            </a:r>
            <a:r>
              <a:rPr dirty="0"/>
              <a:t>, </a:t>
            </a:r>
            <a:r>
              <a:rPr dirty="0" err="1"/>
              <a:t>המצלמה</a:t>
            </a:r>
            <a:r>
              <a:rPr dirty="0"/>
              <a:t> </a:t>
            </a:r>
            <a:r>
              <a:rPr dirty="0" err="1"/>
              <a:t>משדרת</a:t>
            </a:r>
            <a:r>
              <a:rPr dirty="0"/>
              <a:t> </a:t>
            </a:r>
            <a:r>
              <a:rPr dirty="0" err="1"/>
              <a:t>חזרה</a:t>
            </a:r>
            <a:r>
              <a:rPr dirty="0"/>
              <a:t> </a:t>
            </a:r>
            <a:r>
              <a:rPr dirty="0" err="1"/>
              <a:t>פיקסלים</a:t>
            </a:r>
            <a:r>
              <a:rPr dirty="0"/>
              <a:t> </a:t>
            </a:r>
            <a:r>
              <a:rPr dirty="0" err="1"/>
              <a:t>יחד</a:t>
            </a:r>
            <a:r>
              <a:rPr dirty="0"/>
              <a:t> </a:t>
            </a:r>
            <a:r>
              <a:rPr dirty="0" err="1"/>
              <a:t>עם</a:t>
            </a:r>
            <a:r>
              <a:rPr dirty="0"/>
              <a:t> </a:t>
            </a:r>
            <a:r>
              <a:rPr lang="he-IL" dirty="0"/>
              <a:t>   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סנכרון</a:t>
            </a:r>
            <a:r>
              <a:rPr dirty="0"/>
              <a:t> </a:t>
            </a:r>
            <a:r>
              <a:rPr dirty="0" err="1"/>
              <a:t>עצמאי</a:t>
            </a:r>
            <a:r>
              <a:rPr dirty="0"/>
              <a:t> </a:t>
            </a:r>
            <a:r>
              <a:rPr dirty="0" err="1"/>
              <a:t>משלה</a:t>
            </a:r>
            <a:r>
              <a:rPr dirty="0"/>
              <a:t> (PCLK).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לכידת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רכיב</a:t>
            </a:r>
            <a:r>
              <a:rPr dirty="0"/>
              <a:t> ה-ov7670_capture </a:t>
            </a:r>
            <a:r>
              <a:rPr dirty="0" err="1"/>
              <a:t>רץ</a:t>
            </a:r>
            <a:r>
              <a:rPr dirty="0"/>
              <a:t> </a:t>
            </a:r>
            <a:r>
              <a:rPr dirty="0" err="1"/>
              <a:t>בתדר</a:t>
            </a:r>
            <a:r>
              <a:rPr dirty="0"/>
              <a:t> </a:t>
            </a:r>
            <a:r>
              <a:rPr dirty="0" err="1"/>
              <a:t>המערכת</a:t>
            </a:r>
            <a:r>
              <a:rPr dirty="0"/>
              <a:t> (100MHz) </a:t>
            </a:r>
            <a:r>
              <a:rPr lang="he-IL" dirty="0"/>
              <a:t> </a:t>
            </a:r>
            <a:r>
              <a:rPr dirty="0" err="1"/>
              <a:t>המאפשר</a:t>
            </a:r>
            <a:r>
              <a:rPr dirty="0"/>
              <a:t> </a:t>
            </a:r>
            <a:r>
              <a:rPr dirty="0" err="1"/>
              <a:t>דגימה</a:t>
            </a:r>
            <a:r>
              <a:rPr dirty="0"/>
              <a:t> </a:t>
            </a:r>
            <a:r>
              <a:rPr dirty="0" err="1"/>
              <a:t>מהירה</a:t>
            </a:r>
            <a:r>
              <a:rPr dirty="0"/>
              <a:t> </a:t>
            </a:r>
            <a:r>
              <a:rPr dirty="0" err="1"/>
              <a:t>ובטוחה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ה-PCLK </a:t>
            </a:r>
            <a:r>
              <a:rPr dirty="0" err="1"/>
              <a:t>ואסיפת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/>
              <a:t>12</a:t>
            </a:r>
            <a:r>
              <a:rPr lang="he-IL" dirty="0"/>
              <a:t> </a:t>
            </a:r>
            <a:r>
              <a:rPr dirty="0"/>
              <a:t>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צבע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כתיבה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הבלוק</a:t>
            </a:r>
            <a:r>
              <a:rPr dirty="0"/>
              <a:t> </a:t>
            </a:r>
            <a:r>
              <a:rPr dirty="0" err="1"/>
              <a:t>מייצר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הכתובת</a:t>
            </a:r>
            <a:r>
              <a:rPr dirty="0"/>
              <a:t> (addra), </a:t>
            </a:r>
            <a:r>
              <a:rPr dirty="0" err="1"/>
              <a:t>המידע</a:t>
            </a:r>
            <a:r>
              <a:rPr dirty="0"/>
              <a:t> (</a:t>
            </a:r>
            <a:r>
              <a:rPr dirty="0" err="1"/>
              <a:t>dina</a:t>
            </a:r>
            <a:r>
              <a:rPr dirty="0"/>
              <a:t>), </a:t>
            </a:r>
            <a:r>
              <a:rPr dirty="0" err="1"/>
              <a:t>ודגל</a:t>
            </a:r>
            <a:r>
              <a:rPr dirty="0"/>
              <a:t> </a:t>
            </a:r>
            <a:r>
              <a:rPr dirty="0" err="1"/>
              <a:t>הכתיבה</a:t>
            </a:r>
            <a:r>
              <a:rPr dirty="0"/>
              <a:t> (wea) </a:t>
            </a:r>
            <a:r>
              <a:rPr dirty="0" err="1"/>
              <a:t>ודוחף</a:t>
            </a:r>
            <a:r>
              <a:rPr dirty="0"/>
              <a:t> </a:t>
            </a:r>
            <a:r>
              <a:rPr dirty="0" err="1"/>
              <a:t>אותם</a:t>
            </a:r>
            <a:r>
              <a:rPr dirty="0"/>
              <a:t> </a:t>
            </a:r>
            <a:r>
              <a:rPr dirty="0" err="1"/>
              <a:t>לפורט</a:t>
            </a:r>
            <a:r>
              <a:rPr dirty="0"/>
              <a:t> A </a:t>
            </a:r>
            <a:r>
              <a:rPr lang="he-IL" dirty="0"/>
              <a:t> </a:t>
            </a:r>
            <a:r>
              <a:rPr dirty="0" err="1"/>
              <a:t>של</a:t>
            </a:r>
            <a:r>
              <a:rPr dirty="0"/>
              <a:t>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080" y="3429000"/>
            <a:ext cx="4196080" cy="32961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0843"/>
            <a:ext cx="9085942" cy="978496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ממשק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(BRAM)</a:t>
            </a:r>
            <a:r>
              <a:rPr lang="he-IL" dirty="0"/>
              <a:t> ממדים וסנכרון נתונים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8058" y="713048"/>
            <a:ext cx="88174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תרגום</a:t>
            </a:r>
            <a:r>
              <a:rPr dirty="0"/>
              <a:t> </a:t>
            </a:r>
            <a:r>
              <a:rPr dirty="0" err="1"/>
              <a:t>קואורדינטות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הכתובת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 </a:t>
            </a:r>
            <a:r>
              <a:rPr dirty="0" err="1"/>
              <a:t>addrb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באורך</a:t>
            </a:r>
            <a:r>
              <a:rPr dirty="0"/>
              <a:t> 19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מחושבת</a:t>
            </a:r>
            <a:r>
              <a:rPr dirty="0"/>
              <a:t> </a:t>
            </a:r>
            <a:r>
              <a:rPr dirty="0" err="1"/>
              <a:t>מתמטית</a:t>
            </a:r>
            <a:r>
              <a:rPr dirty="0"/>
              <a:t> </a:t>
            </a:r>
            <a:r>
              <a:rPr dirty="0" err="1"/>
              <a:t>לפי</a:t>
            </a:r>
            <a:r>
              <a:rPr dirty="0"/>
              <a:t> </a:t>
            </a:r>
            <a:r>
              <a:rPr dirty="0" err="1"/>
              <a:t>המיקום</a:t>
            </a:r>
            <a:r>
              <a:rPr dirty="0"/>
              <a:t> </a:t>
            </a:r>
            <a:r>
              <a:rPr dirty="0" err="1"/>
              <a:t>באזור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: Y * 640 + X.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מנגנון</a:t>
            </a:r>
            <a:r>
              <a:rPr dirty="0"/>
              <a:t> ה-Pipeline </a:t>
            </a:r>
            <a:r>
              <a:rPr dirty="0" err="1"/>
              <a:t>עיכוב</a:t>
            </a:r>
            <a:r>
              <a:rPr dirty="0"/>
              <a:t> </a:t>
            </a:r>
            <a:r>
              <a:rPr dirty="0" err="1"/>
              <a:t>מכוון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הקריאה</a:t>
            </a:r>
            <a:r>
              <a:rPr dirty="0"/>
              <a:t> </a:t>
            </a:r>
            <a:r>
              <a:rPr dirty="0" err="1"/>
              <a:t>מהזיכרון</a:t>
            </a:r>
            <a:r>
              <a:rPr dirty="0"/>
              <a:t> א-</a:t>
            </a:r>
            <a:r>
              <a:rPr dirty="0" err="1"/>
              <a:t>סינכרונית</a:t>
            </a:r>
            <a:r>
              <a:rPr dirty="0"/>
              <a:t>.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להבטיח</a:t>
            </a:r>
            <a:r>
              <a:rPr dirty="0"/>
              <a:t> </a:t>
            </a:r>
            <a:r>
              <a:rPr dirty="0" err="1"/>
              <a:t>יציבות</a:t>
            </a:r>
            <a:r>
              <a:rPr dirty="0"/>
              <a:t>, </a:t>
            </a:r>
            <a:r>
              <a:rPr dirty="0" err="1"/>
              <a:t>הקוד</a:t>
            </a:r>
            <a:r>
              <a:rPr dirty="0"/>
              <a:t> </a:t>
            </a:r>
            <a:r>
              <a:rPr dirty="0" err="1"/>
              <a:t>נועל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</a:t>
            </a:r>
            <a:r>
              <a:rPr dirty="0" err="1"/>
              <a:t>הנכנס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לתוך</a:t>
            </a:r>
            <a:r>
              <a:rPr dirty="0"/>
              <a:t> </a:t>
            </a:r>
            <a:r>
              <a:rPr dirty="0" err="1"/>
              <a:t>אוגר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(</a:t>
            </a:r>
            <a:r>
              <a:rPr dirty="0" err="1"/>
              <a:t>pxl_data_reg</a:t>
            </a:r>
            <a:r>
              <a:rPr dirty="0"/>
              <a:t>) </a:t>
            </a:r>
            <a:r>
              <a:rPr dirty="0" err="1"/>
              <a:t>בעליית</a:t>
            </a:r>
            <a:r>
              <a:rPr dirty="0"/>
              <a:t> </a:t>
            </a:r>
            <a:r>
              <a:rPr dirty="0" err="1"/>
              <a:t>השעון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סנכרון</a:t>
            </a:r>
            <a:r>
              <a:rPr dirty="0"/>
              <a:t> </a:t>
            </a:r>
            <a:r>
              <a:rPr dirty="0" err="1"/>
              <a:t>שומר</a:t>
            </a:r>
            <a:r>
              <a:rPr dirty="0"/>
              <a:t> </a:t>
            </a:r>
            <a:r>
              <a:rPr dirty="0" err="1"/>
              <a:t>הסף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לפצות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השהיית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, </a:t>
            </a:r>
            <a:r>
              <a:rPr dirty="0" err="1"/>
              <a:t>דגל</a:t>
            </a:r>
            <a:r>
              <a:rPr dirty="0"/>
              <a:t> </a:t>
            </a:r>
            <a:r>
              <a:rPr dirty="0" err="1"/>
              <a:t>אזור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 (</a:t>
            </a:r>
            <a:r>
              <a:rPr dirty="0" err="1"/>
              <a:t>in_display_area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מושהה</a:t>
            </a:r>
            <a:r>
              <a:rPr dirty="0"/>
              <a:t> </a:t>
            </a:r>
            <a:r>
              <a:rPr dirty="0" err="1"/>
              <a:t>גם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במחזור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ניתוב</a:t>
            </a:r>
            <a:r>
              <a:rPr dirty="0"/>
              <a:t> </a:t>
            </a:r>
            <a:r>
              <a:rPr dirty="0" err="1"/>
              <a:t>דיגיטלי</a:t>
            </a:r>
            <a:r>
              <a:rPr dirty="0"/>
              <a:t> (Mux)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הדגל</a:t>
            </a:r>
            <a:r>
              <a:rPr dirty="0"/>
              <a:t> </a:t>
            </a:r>
            <a:r>
              <a:rPr dirty="0" err="1"/>
              <a:t>המושהה</a:t>
            </a:r>
            <a:r>
              <a:rPr dirty="0"/>
              <a:t> </a:t>
            </a:r>
            <a:r>
              <a:rPr dirty="0" err="1"/>
              <a:t>דולק</a:t>
            </a:r>
            <a:r>
              <a:rPr dirty="0"/>
              <a:t>, 12 </a:t>
            </a:r>
            <a:r>
              <a:rPr dirty="0" err="1"/>
              <a:t>הביטים</a:t>
            </a:r>
            <a:r>
              <a:rPr dirty="0"/>
              <a:t> </a:t>
            </a:r>
            <a:r>
              <a:rPr dirty="0" err="1"/>
              <a:t>מפוצלים</a:t>
            </a:r>
            <a:r>
              <a:rPr dirty="0"/>
              <a:t> </a:t>
            </a:r>
            <a:r>
              <a:rPr dirty="0" err="1"/>
              <a:t>ומנותבים</a:t>
            </a:r>
            <a:r>
              <a:rPr dirty="0"/>
              <a:t> </a:t>
            </a:r>
            <a:r>
              <a:rPr dirty="0" err="1"/>
              <a:t>ליציאות</a:t>
            </a:r>
            <a:r>
              <a:rPr dirty="0"/>
              <a:t> VGA_R, VGA_G ו-VGA_B 4 </a:t>
            </a:r>
            <a:r>
              <a:rPr dirty="0" err="1"/>
              <a:t>ביטים</a:t>
            </a:r>
            <a:r>
              <a:rPr dirty="0"/>
              <a:t> </a:t>
            </a:r>
            <a:r>
              <a:rPr dirty="0" err="1"/>
              <a:t>לצבע</a:t>
            </a:r>
            <a:endParaRPr dirty="0"/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 rotWithShape="1">
          <a:blip r:embed="rId2"/>
          <a:srcRect l="5217" t="10044" r="4783" b="5896"/>
          <a:stretch/>
        </p:blipFill>
        <p:spPr>
          <a:xfrm>
            <a:off x="1074056" y="3298371"/>
            <a:ext cx="6473372" cy="32820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אימות</a:t>
            </a:r>
            <a:r>
              <a:rPr dirty="0"/>
              <a:t> </a:t>
            </a:r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הנתונים</a:t>
            </a:r>
            <a:br>
              <a:rPr lang="he-IL" dirty="0"/>
            </a:br>
            <a:r>
              <a:rPr dirty="0"/>
              <a:t>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72979" y="1097280"/>
            <a:ext cx="9240253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מטרת</a:t>
            </a:r>
            <a:r>
              <a:rPr dirty="0"/>
              <a:t> </a:t>
            </a:r>
            <a:r>
              <a:rPr dirty="0" err="1"/>
              <a:t>הסימולציה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הוכחת</a:t>
            </a:r>
            <a:r>
              <a:rPr dirty="0"/>
              <a:t> </a:t>
            </a:r>
            <a:r>
              <a:rPr dirty="0" err="1"/>
              <a:t>לחיצת</a:t>
            </a:r>
            <a:r>
              <a:rPr dirty="0"/>
              <a:t> </a:t>
            </a:r>
            <a:r>
              <a:rPr dirty="0" err="1"/>
              <a:t>היד</a:t>
            </a:r>
            <a:r>
              <a:rPr dirty="0"/>
              <a:t> (Handshake) </a:t>
            </a:r>
            <a:r>
              <a:rPr lang="he-IL" dirty="0"/>
              <a:t> </a:t>
            </a:r>
            <a:r>
              <a:rPr dirty="0" err="1"/>
              <a:t>שבין</a:t>
            </a:r>
            <a:r>
              <a:rPr dirty="0"/>
              <a:t> </a:t>
            </a:r>
            <a:r>
              <a:rPr dirty="0" err="1"/>
              <a:t>בקשת</a:t>
            </a:r>
            <a:r>
              <a:rPr dirty="0"/>
              <a:t> </a:t>
            </a:r>
            <a:r>
              <a:rPr dirty="0" err="1"/>
              <a:t>הכתובת</a:t>
            </a:r>
            <a:r>
              <a:rPr dirty="0"/>
              <a:t> (</a:t>
            </a:r>
            <a:r>
              <a:rPr dirty="0" err="1"/>
              <a:t>addrb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נתוני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דגימה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ניתן</a:t>
            </a:r>
            <a:r>
              <a:rPr dirty="0"/>
              <a:t>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בבירור</a:t>
            </a:r>
            <a:r>
              <a:rPr dirty="0"/>
              <a:t> </a:t>
            </a:r>
            <a:r>
              <a:rPr dirty="0" err="1"/>
              <a:t>כיצד</a:t>
            </a:r>
            <a:r>
              <a:rPr dirty="0"/>
              <a:t> </a:t>
            </a:r>
            <a:r>
              <a:rPr dirty="0" err="1"/>
              <a:t>הכתובת</a:t>
            </a:r>
            <a:r>
              <a:rPr dirty="0"/>
              <a:t> </a:t>
            </a:r>
            <a:r>
              <a:rPr dirty="0" err="1"/>
              <a:t>עולה</a:t>
            </a:r>
            <a:r>
              <a:rPr dirty="0"/>
              <a:t>, </a:t>
            </a:r>
            <a:r>
              <a:rPr dirty="0" err="1"/>
              <a:t>המידע</a:t>
            </a:r>
            <a:r>
              <a:rPr dirty="0"/>
              <a:t> </a:t>
            </a:r>
            <a:r>
              <a:rPr dirty="0" err="1"/>
              <a:t>מופיע</a:t>
            </a:r>
            <a:r>
              <a:rPr dirty="0"/>
              <a:t> </a:t>
            </a:r>
            <a:r>
              <a:rPr dirty="0" err="1"/>
              <a:t>מיידית</a:t>
            </a:r>
            <a:r>
              <a:rPr dirty="0"/>
              <a:t> ב-</a:t>
            </a:r>
            <a:r>
              <a:rPr dirty="0" err="1"/>
              <a:t>doutb</a:t>
            </a:r>
            <a:r>
              <a:rPr dirty="0"/>
              <a:t> </a:t>
            </a:r>
            <a:r>
              <a:rPr dirty="0" err="1"/>
              <a:t>קריאה</a:t>
            </a:r>
            <a:r>
              <a:rPr dirty="0"/>
              <a:t> א-</a:t>
            </a:r>
            <a:r>
              <a:rPr dirty="0" err="1"/>
              <a:t>סינכרונית</a:t>
            </a:r>
            <a:r>
              <a:rPr lang="he-IL" dirty="0"/>
              <a:t>,</a:t>
            </a:r>
            <a:r>
              <a:rPr dirty="0" err="1"/>
              <a:t>וננעל</a:t>
            </a:r>
            <a:r>
              <a:rPr dirty="0"/>
              <a:t> </a:t>
            </a:r>
            <a:r>
              <a:rPr dirty="0" err="1"/>
              <a:t>באוגר</a:t>
            </a:r>
            <a:r>
              <a:rPr dirty="0"/>
              <a:t> </a:t>
            </a:r>
            <a:r>
              <a:rPr dirty="0" err="1"/>
              <a:t>pxl_data_reg</a:t>
            </a:r>
            <a:r>
              <a:rPr dirty="0"/>
              <a:t> </a:t>
            </a:r>
            <a:r>
              <a:rPr dirty="0" err="1"/>
              <a:t>בעליית</a:t>
            </a:r>
            <a:r>
              <a:rPr dirty="0"/>
              <a:t> </a:t>
            </a:r>
            <a:r>
              <a:rPr dirty="0" err="1"/>
              <a:t>השעון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.</a:t>
            </a:r>
          </a:p>
          <a:p>
            <a:pPr algn="r" rtl="1">
              <a:defRPr sz="1600"/>
            </a:pPr>
            <a:endParaRPr dirty="0"/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 rotWithShape="1">
          <a:blip r:embed="rId2"/>
          <a:srcRect t="20716" b="5381"/>
          <a:stretch/>
        </p:blipFill>
        <p:spPr>
          <a:xfrm>
            <a:off x="-126733" y="2679778"/>
            <a:ext cx="9240253" cy="43103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41973"/>
            <a:ext cx="8229600" cy="1143000"/>
          </a:xfrm>
        </p:spPr>
        <p:txBody>
          <a:bodyPr/>
          <a:lstStyle/>
          <a:p>
            <a:pPr algn="ctr" rtl="1"/>
            <a:r>
              <a:rPr dirty="0" err="1"/>
              <a:t>אימות</a:t>
            </a:r>
            <a:r>
              <a:rPr dirty="0"/>
              <a:t> </a:t>
            </a:r>
            <a:r>
              <a:rPr dirty="0" err="1"/>
              <a:t>התקן</a:t>
            </a:r>
            <a:r>
              <a:rPr dirty="0"/>
              <a:t>: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שורה</a:t>
            </a:r>
            <a:r>
              <a:rPr dirty="0"/>
              <a:t> </a:t>
            </a:r>
            <a:r>
              <a:rPr dirty="0" err="1"/>
              <a:t>שלם</a:t>
            </a:r>
            <a:r>
              <a:rPr dirty="0"/>
              <a:t>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" y="429527"/>
            <a:ext cx="91440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 err="1"/>
              <a:t>לאחר</a:t>
            </a:r>
            <a:r>
              <a:rPr dirty="0"/>
              <a:t> </a:t>
            </a:r>
            <a:r>
              <a:rPr dirty="0" err="1"/>
              <a:t>שה</a:t>
            </a:r>
            <a:r>
              <a:rPr lang="he-IL" dirty="0"/>
              <a:t>ראנו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אמינות</a:t>
            </a:r>
            <a:r>
              <a:rPr dirty="0"/>
              <a:t> </a:t>
            </a:r>
            <a:r>
              <a:rPr dirty="0" err="1"/>
              <a:t>שליפת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 </a:t>
            </a:r>
            <a:r>
              <a:rPr dirty="0" err="1"/>
              <a:t>מהזיכרון</a:t>
            </a:r>
            <a:r>
              <a:rPr dirty="0"/>
              <a:t>, </a:t>
            </a:r>
            <a:r>
              <a:rPr dirty="0" err="1"/>
              <a:t>כעת</a:t>
            </a:r>
            <a:r>
              <a:rPr dirty="0"/>
              <a:t> </a:t>
            </a:r>
            <a:r>
              <a:rPr dirty="0" err="1"/>
              <a:t>נוכיח</a:t>
            </a:r>
            <a:r>
              <a:rPr dirty="0"/>
              <a:t> </a:t>
            </a:r>
            <a:r>
              <a:rPr dirty="0" err="1"/>
              <a:t>שהחומרה</a:t>
            </a:r>
            <a:r>
              <a:rPr dirty="0"/>
              <a:t> </a:t>
            </a:r>
            <a:r>
              <a:rPr dirty="0" err="1"/>
              <a:t>מייצרת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התזמונים</a:t>
            </a:r>
            <a:r>
              <a:rPr dirty="0"/>
              <a:t> </a:t>
            </a:r>
            <a:r>
              <a:rPr dirty="0" err="1"/>
              <a:t>הפיזיים</a:t>
            </a:r>
            <a:r>
              <a:rPr dirty="0"/>
              <a:t> </a:t>
            </a:r>
            <a:r>
              <a:rPr dirty="0" err="1"/>
              <a:t>הנדרשים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בתקן</a:t>
            </a:r>
            <a:r>
              <a:rPr dirty="0"/>
              <a:t> ה-VGA</a:t>
            </a:r>
            <a:r>
              <a:rPr lang="he-IL" dirty="0"/>
              <a:t>.</a:t>
            </a:r>
            <a:endParaRPr lang="en-US" dirty="0"/>
          </a:p>
          <a:p>
            <a:pPr algn="r" rtl="1">
              <a:defRPr sz="1600"/>
            </a:pPr>
            <a:r>
              <a:rPr lang="he-IL" dirty="0"/>
              <a:t>•  נעבוד עם הדגימות לפי </a:t>
            </a:r>
            <a:r>
              <a:rPr lang="he-IL" dirty="0" err="1"/>
              <a:t>הסדר,מהגדול</a:t>
            </a:r>
            <a:r>
              <a:rPr lang="he-IL" dirty="0"/>
              <a:t> לקטן:</a:t>
            </a:r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נתחיל</a:t>
            </a:r>
            <a:r>
              <a:rPr dirty="0"/>
              <a:t> </a:t>
            </a:r>
            <a:r>
              <a:rPr dirty="0" err="1"/>
              <a:t>ממבט-על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שורת</a:t>
            </a:r>
            <a:r>
              <a:rPr dirty="0"/>
              <a:t> </a:t>
            </a:r>
            <a:r>
              <a:rPr dirty="0" err="1"/>
              <a:t>מסך</a:t>
            </a:r>
            <a:r>
              <a:rPr dirty="0"/>
              <a:t> </a:t>
            </a:r>
            <a:r>
              <a:rPr dirty="0" err="1"/>
              <a:t>שלמה</a:t>
            </a:r>
            <a:r>
              <a:rPr dirty="0"/>
              <a:t>, </a:t>
            </a:r>
            <a:r>
              <a:rPr dirty="0" err="1"/>
              <a:t>ונצלול</a:t>
            </a:r>
            <a:r>
              <a:rPr dirty="0"/>
              <a:t> </a:t>
            </a:r>
            <a:r>
              <a:rPr dirty="0" err="1"/>
              <a:t>בהדרגה</a:t>
            </a:r>
            <a:r>
              <a:rPr dirty="0"/>
              <a:t> </a:t>
            </a:r>
            <a:r>
              <a:rPr dirty="0" err="1"/>
              <a:t>לניתוח</a:t>
            </a:r>
            <a:r>
              <a:rPr dirty="0"/>
              <a:t> </a:t>
            </a:r>
            <a:r>
              <a:rPr dirty="0" err="1"/>
              <a:t>האזורים</a:t>
            </a:r>
            <a:r>
              <a:rPr dirty="0"/>
              <a:t> </a:t>
            </a:r>
            <a:r>
              <a:rPr dirty="0" err="1"/>
              <a:t>הפעילים</a:t>
            </a:r>
            <a:r>
              <a:rPr dirty="0"/>
              <a:t>,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ההמתנה</a:t>
            </a:r>
            <a:r>
              <a:rPr dirty="0"/>
              <a:t> (Porches) </a:t>
            </a:r>
            <a:r>
              <a:rPr dirty="0" err="1"/>
              <a:t>ודופק</a:t>
            </a:r>
            <a:r>
              <a:rPr dirty="0"/>
              <a:t> </a:t>
            </a:r>
            <a:r>
              <a:rPr dirty="0" err="1"/>
              <a:t>הסנכרון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הוכחת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השורה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התקן</a:t>
            </a:r>
            <a:r>
              <a:rPr dirty="0"/>
              <a:t> </a:t>
            </a:r>
            <a:r>
              <a:rPr dirty="0" err="1"/>
              <a:t>דורש</a:t>
            </a:r>
            <a:r>
              <a:rPr dirty="0"/>
              <a:t> 800 </a:t>
            </a:r>
            <a:r>
              <a:rPr lang="he-IL" dirty="0"/>
              <a:t> </a:t>
            </a:r>
            <a:r>
              <a:rPr dirty="0" err="1"/>
              <a:t>מחזורי</a:t>
            </a:r>
            <a:r>
              <a:rPr dirty="0"/>
              <a:t> </a:t>
            </a:r>
            <a:r>
              <a:rPr dirty="0" err="1"/>
              <a:t>שעון</a:t>
            </a:r>
            <a:r>
              <a:rPr lang="he-IL" dirty="0"/>
              <a:t> </a:t>
            </a:r>
            <a:r>
              <a:rPr dirty="0"/>
              <a:t> </a:t>
            </a:r>
            <a:r>
              <a:rPr dirty="0" err="1"/>
              <a:t>מונה</a:t>
            </a:r>
            <a:r>
              <a:rPr dirty="0"/>
              <a:t> ה-</a:t>
            </a:r>
            <a:r>
              <a:rPr dirty="0" err="1"/>
              <a:t>hsync_reg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/>
              <a:t>סופר0-799 </a:t>
            </a:r>
            <a:r>
              <a:rPr lang="he-IL" dirty="0"/>
              <a:t> </a:t>
            </a:r>
            <a:r>
              <a:rPr dirty="0" err="1"/>
              <a:t>במדויק</a:t>
            </a:r>
            <a:r>
              <a:rPr dirty="0"/>
              <a:t>, </a:t>
            </a:r>
            <a:r>
              <a:rPr dirty="0" err="1"/>
              <a:t>ומדידת</a:t>
            </a:r>
            <a:r>
              <a:rPr dirty="0"/>
              <a:t> ה</a:t>
            </a:r>
            <a:r>
              <a:rPr lang="he-IL" dirty="0" err="1"/>
              <a:t>קרסרים</a:t>
            </a:r>
            <a:r>
              <a:rPr dirty="0"/>
              <a:t> </a:t>
            </a:r>
            <a:r>
              <a:rPr lang="he-IL" dirty="0"/>
              <a:t>מראה הפרש </a:t>
            </a:r>
            <a:r>
              <a:rPr dirty="0" err="1"/>
              <a:t>של</a:t>
            </a:r>
            <a:r>
              <a:rPr dirty="0"/>
              <a:t>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 rotWithShape="1">
          <a:blip r:embed="rId2"/>
          <a:srcRect l="1656" t="22021"/>
          <a:stretch/>
        </p:blipFill>
        <p:spPr>
          <a:xfrm>
            <a:off x="0" y="2641600"/>
            <a:ext cx="9143999" cy="42163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22642"/>
          </a:xfrm>
        </p:spPr>
        <p:txBody>
          <a:bodyPr/>
          <a:lstStyle/>
          <a:p>
            <a:pPr algn="ctr" rtl="1"/>
            <a:r>
              <a:rPr dirty="0" err="1"/>
              <a:t>האזור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 (</a:t>
            </a:r>
            <a:r>
              <a:rPr dirty="0" err="1"/>
              <a:t>Tdisp</a:t>
            </a:r>
            <a:r>
              <a:rPr dirty="0"/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7928"/>
            <a:ext cx="861568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תזמון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מתוך</a:t>
            </a:r>
            <a:r>
              <a:rPr dirty="0"/>
              <a:t> </a:t>
            </a:r>
            <a:r>
              <a:rPr dirty="0" err="1"/>
              <a:t>כלל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השורה</a:t>
            </a:r>
            <a:r>
              <a:rPr dirty="0"/>
              <a:t>, </a:t>
            </a:r>
            <a:r>
              <a:rPr dirty="0" err="1"/>
              <a:t>מוקצים</a:t>
            </a:r>
            <a:r>
              <a:rPr dirty="0"/>
              <a:t> </a:t>
            </a:r>
            <a:r>
              <a:rPr dirty="0" err="1"/>
              <a:t>בדיוק</a:t>
            </a:r>
            <a:r>
              <a:rPr dirty="0"/>
              <a:t> 640 </a:t>
            </a:r>
            <a:r>
              <a:rPr dirty="0" err="1"/>
              <a:t>מחזורי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לציור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(25.6us).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דגל</a:t>
            </a:r>
            <a:r>
              <a:rPr dirty="0"/>
              <a:t> </a:t>
            </a:r>
            <a:r>
              <a:rPr dirty="0" err="1"/>
              <a:t>הבקרה</a:t>
            </a:r>
            <a:r>
              <a:rPr dirty="0"/>
              <a:t>: </a:t>
            </a:r>
            <a:r>
              <a:rPr lang="he-IL" dirty="0"/>
              <a:t> </a:t>
            </a:r>
          </a:p>
          <a:p>
            <a:pPr algn="r" rtl="1">
              <a:defRPr sz="1600"/>
            </a:pP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in_display_area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עולה</a:t>
            </a:r>
            <a:r>
              <a:rPr dirty="0"/>
              <a:t> ל-'1' </a:t>
            </a:r>
            <a:r>
              <a:rPr dirty="0" err="1"/>
              <a:t>ומאפשר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שליפת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בטווח</a:t>
            </a:r>
            <a:r>
              <a:rPr dirty="0"/>
              <a:t> </a:t>
            </a:r>
            <a:r>
              <a:rPr dirty="0" err="1"/>
              <a:t>המורשה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מונה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המונה</a:t>
            </a:r>
            <a:r>
              <a:rPr dirty="0"/>
              <a:t> </a:t>
            </a:r>
            <a:r>
              <a:rPr dirty="0" err="1"/>
              <a:t>display_x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סופר</a:t>
            </a:r>
            <a:r>
              <a:rPr dirty="0"/>
              <a:t> </a:t>
            </a:r>
            <a:r>
              <a:rPr dirty="0" err="1"/>
              <a:t>במדויק</a:t>
            </a:r>
            <a:r>
              <a:rPr dirty="0"/>
              <a:t> מ-0 </a:t>
            </a:r>
            <a:r>
              <a:rPr dirty="0" err="1"/>
              <a:t>ועד</a:t>
            </a:r>
            <a:r>
              <a:rPr dirty="0"/>
              <a:t> 639. </a:t>
            </a:r>
            <a:r>
              <a:rPr lang="he-IL" dirty="0"/>
              <a:t> </a:t>
            </a:r>
          </a:p>
          <a:p>
            <a:pPr algn="r" rtl="1">
              <a:defRPr sz="1600"/>
            </a:pPr>
            <a:r>
              <a:rPr dirty="0" err="1"/>
              <a:t>לאורך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החלון</a:t>
            </a:r>
            <a:r>
              <a:rPr dirty="0"/>
              <a:t> </a:t>
            </a:r>
            <a:r>
              <a:rPr dirty="0" err="1"/>
              <a:t>הזה</a:t>
            </a:r>
            <a:r>
              <a:rPr dirty="0"/>
              <a:t>, </a:t>
            </a:r>
            <a:r>
              <a:rPr dirty="0" err="1"/>
              <a:t>יציאות</a:t>
            </a:r>
            <a:r>
              <a:rPr dirty="0"/>
              <a:t> ה-RGB </a:t>
            </a:r>
            <a:r>
              <a:rPr dirty="0" err="1"/>
              <a:t>פולטות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</a:t>
            </a:r>
            <a:r>
              <a:rPr dirty="0" err="1"/>
              <a:t>אקטיביים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 rotWithShape="1">
          <a:blip r:embed="rId2"/>
          <a:srcRect l="1225" t="21251"/>
          <a:stretch/>
        </p:blipFill>
        <p:spPr>
          <a:xfrm>
            <a:off x="0" y="2594009"/>
            <a:ext cx="9144000" cy="45411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984" y="-194594"/>
            <a:ext cx="8229600" cy="1143000"/>
          </a:xfrm>
        </p:spPr>
        <p:txBody>
          <a:bodyPr/>
          <a:lstStyle/>
          <a:p>
            <a:pPr algn="ctr" rtl="1"/>
            <a:r>
              <a:rPr lang="en-US" dirty="0"/>
              <a:t>Front </a:t>
            </a:r>
            <a:r>
              <a:rPr dirty="0"/>
              <a:t>Porch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90390" y="274638"/>
            <a:ext cx="926220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משמעות</a:t>
            </a:r>
            <a:r>
              <a:rPr dirty="0"/>
              <a:t> ה</a:t>
            </a:r>
            <a:r>
              <a:rPr lang="he-IL" dirty="0"/>
              <a:t>פרוצס:</a:t>
            </a:r>
          </a:p>
          <a:p>
            <a:pPr algn="r" rtl="1">
              <a:defRPr sz="1600"/>
            </a:pPr>
            <a:r>
              <a:rPr dirty="0"/>
              <a:t> </a:t>
            </a:r>
            <a:r>
              <a:rPr lang="he-IL" dirty="0"/>
              <a:t>  </a:t>
            </a:r>
            <a:r>
              <a:rPr dirty="0"/>
              <a:t>ה-Front Porch </a:t>
            </a:r>
            <a:r>
              <a:rPr dirty="0" err="1"/>
              <a:t>וה</a:t>
            </a:r>
            <a:r>
              <a:rPr dirty="0"/>
              <a:t>-Back Porch </a:t>
            </a:r>
            <a:r>
              <a:rPr dirty="0" err="1"/>
              <a:t>נועדו</a:t>
            </a:r>
            <a:r>
              <a:rPr dirty="0"/>
              <a:t> </a:t>
            </a:r>
            <a:r>
              <a:rPr dirty="0" err="1"/>
              <a:t>לייצוב</a:t>
            </a:r>
            <a:r>
              <a:rPr dirty="0"/>
              <a:t>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אכיפה</a:t>
            </a:r>
            <a:r>
              <a:rPr dirty="0"/>
              <a:t> </a:t>
            </a:r>
            <a:r>
              <a:rPr dirty="0" err="1"/>
              <a:t>לוגית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בסימולציה</a:t>
            </a:r>
            <a:r>
              <a:rPr dirty="0"/>
              <a:t> </a:t>
            </a:r>
            <a:r>
              <a:rPr dirty="0" err="1"/>
              <a:t>ניתן</a:t>
            </a:r>
            <a:r>
              <a:rPr dirty="0"/>
              <a:t>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כי</a:t>
            </a:r>
            <a:r>
              <a:rPr dirty="0"/>
              <a:t> </a:t>
            </a:r>
            <a:r>
              <a:rPr dirty="0" err="1"/>
              <a:t>ברגע</a:t>
            </a:r>
            <a:r>
              <a:rPr dirty="0"/>
              <a:t> </a:t>
            </a:r>
            <a:r>
              <a:rPr dirty="0" err="1"/>
              <a:t>שהקרן</a:t>
            </a:r>
            <a:r>
              <a:rPr dirty="0"/>
              <a:t> </a:t>
            </a:r>
            <a:r>
              <a:rPr dirty="0" err="1"/>
              <a:t>חורגת</a:t>
            </a:r>
            <a:r>
              <a:rPr dirty="0"/>
              <a:t> </a:t>
            </a:r>
            <a:r>
              <a:rPr dirty="0" err="1"/>
              <a:t>מהאזור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 </a:t>
            </a:r>
            <a:r>
              <a:rPr dirty="0" err="1"/>
              <a:t>display_x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המערכת</a:t>
            </a:r>
            <a:r>
              <a:rPr dirty="0"/>
              <a:t> </a:t>
            </a:r>
            <a:r>
              <a:rPr dirty="0" err="1"/>
              <a:t>מאלצת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ערוצי</a:t>
            </a:r>
            <a:r>
              <a:rPr dirty="0"/>
              <a:t> ה-RGB ל-'0000'.</a:t>
            </a:r>
            <a:r>
              <a:rPr lang="he-IL" dirty="0"/>
              <a:t>,ניתן גם לראות את הזמנים שנמדדו,640 </a:t>
            </a:r>
            <a:r>
              <a:rPr lang="en-US" dirty="0"/>
              <a:t>ns</a:t>
            </a:r>
            <a:r>
              <a:rPr lang="he-IL" dirty="0"/>
              <a:t> ו16 </a:t>
            </a:r>
            <a:r>
              <a:rPr lang="he-IL" dirty="0" err="1"/>
              <a:t>קלוקים,כנדרש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התוצאה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שחור</a:t>
            </a:r>
            <a:r>
              <a:rPr dirty="0"/>
              <a:t> </a:t>
            </a:r>
            <a:r>
              <a:rPr dirty="0" err="1"/>
              <a:t>מוחלט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באזורי</a:t>
            </a:r>
            <a:r>
              <a:rPr dirty="0"/>
              <a:t> </a:t>
            </a:r>
            <a:r>
              <a:rPr dirty="0" err="1"/>
              <a:t>המעבר</a:t>
            </a:r>
            <a:r>
              <a:rPr dirty="0"/>
              <a:t>,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שמונע</a:t>
            </a:r>
            <a:r>
              <a:rPr dirty="0"/>
              <a:t> '</a:t>
            </a:r>
            <a:r>
              <a:rPr dirty="0" err="1"/>
              <a:t>מריחות</a:t>
            </a:r>
            <a:r>
              <a:rPr dirty="0"/>
              <a:t>' </a:t>
            </a:r>
            <a:r>
              <a:rPr dirty="0" err="1"/>
              <a:t>צבע</a:t>
            </a:r>
            <a:r>
              <a:rPr dirty="0"/>
              <a:t> </a:t>
            </a:r>
            <a:r>
              <a:rPr dirty="0" err="1"/>
              <a:t>ומאפשר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 </a:t>
            </a:r>
            <a:r>
              <a:rPr dirty="0" err="1"/>
              <a:t>להסתנכרן</a:t>
            </a:r>
            <a:r>
              <a:rPr dirty="0"/>
              <a:t> </a:t>
            </a:r>
            <a:r>
              <a:rPr dirty="0" err="1"/>
              <a:t>בצורה</a:t>
            </a:r>
            <a:r>
              <a:rPr dirty="0"/>
              <a:t> </a:t>
            </a:r>
            <a:r>
              <a:rPr dirty="0" err="1"/>
              <a:t>חלקה</a:t>
            </a:r>
            <a:r>
              <a:rPr dirty="0"/>
              <a:t>.</a:t>
            </a:r>
            <a:r>
              <a:rPr lang="he-IL" dirty="0"/>
              <a:t>(רואים את זה מוחשי יותר </a:t>
            </a:r>
            <a:r>
              <a:rPr lang="he-IL" dirty="0" err="1"/>
              <a:t>בבאים,מתברר</a:t>
            </a:r>
            <a:r>
              <a:rPr lang="he-IL" dirty="0"/>
              <a:t> שה</a:t>
            </a:r>
            <a:r>
              <a:rPr lang="en-US" dirty="0"/>
              <a:t>TB</a:t>
            </a:r>
            <a:r>
              <a:rPr lang="he-IL" dirty="0"/>
              <a:t> זרק רוב הזמן שחור אז היה קשה לאתר זמנים פיזית של צבע)</a:t>
            </a:r>
            <a:endParaRPr dirty="0"/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 rotWithShape="1">
          <a:blip r:embed="rId2"/>
          <a:srcRect t="27369" b="2658"/>
          <a:stretch/>
        </p:blipFill>
        <p:spPr>
          <a:xfrm>
            <a:off x="72189" y="3031958"/>
            <a:ext cx="8999621" cy="35514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-45720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/>
              <a:t>Back Porch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222" y="688206"/>
            <a:ext cx="886854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המתנה</a:t>
            </a:r>
            <a:r>
              <a:rPr dirty="0"/>
              <a:t> (Back Porch):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לאחר</a:t>
            </a:r>
            <a:r>
              <a:rPr dirty="0"/>
              <a:t> </a:t>
            </a:r>
            <a:r>
              <a:rPr dirty="0" err="1"/>
              <a:t>סיום</a:t>
            </a:r>
            <a:r>
              <a:rPr dirty="0"/>
              <a:t> </a:t>
            </a:r>
            <a:r>
              <a:rPr dirty="0" err="1"/>
              <a:t>דופק</a:t>
            </a:r>
            <a:r>
              <a:rPr dirty="0"/>
              <a:t> </a:t>
            </a:r>
            <a:r>
              <a:rPr dirty="0" err="1"/>
              <a:t>הסנכרון</a:t>
            </a:r>
            <a:r>
              <a:rPr dirty="0"/>
              <a:t>, </a:t>
            </a:r>
            <a:r>
              <a:rPr dirty="0" err="1"/>
              <a:t>המערכת</a:t>
            </a:r>
            <a:r>
              <a:rPr dirty="0"/>
              <a:t> </a:t>
            </a:r>
            <a:r>
              <a:rPr dirty="0" err="1"/>
              <a:t>ממתינה</a:t>
            </a:r>
            <a:r>
              <a:rPr dirty="0"/>
              <a:t> 48 </a:t>
            </a:r>
            <a:r>
              <a:rPr dirty="0" err="1"/>
              <a:t>מחזורי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(1.92us) </a:t>
            </a:r>
            <a:r>
              <a:rPr dirty="0" err="1"/>
              <a:t>לייצוב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בתחילת</a:t>
            </a:r>
            <a:r>
              <a:rPr dirty="0"/>
              <a:t> </a:t>
            </a:r>
            <a:r>
              <a:rPr dirty="0" err="1"/>
              <a:t>השורה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המשך</a:t>
            </a:r>
            <a:r>
              <a:rPr dirty="0"/>
              <a:t> </a:t>
            </a:r>
            <a:r>
              <a:rPr dirty="0" err="1"/>
              <a:t>החשכה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בדומה</a:t>
            </a:r>
            <a:r>
              <a:rPr dirty="0"/>
              <a:t> </a:t>
            </a:r>
            <a:r>
              <a:rPr lang="he-IL" dirty="0"/>
              <a:t>לפרונט פורץ</a:t>
            </a:r>
            <a:r>
              <a:rPr dirty="0"/>
              <a:t>, ה-RGB </a:t>
            </a:r>
            <a:r>
              <a:rPr dirty="0" err="1"/>
              <a:t>מוחזק</a:t>
            </a:r>
            <a:r>
              <a:rPr dirty="0"/>
              <a:t> </a:t>
            </a:r>
            <a:r>
              <a:rPr dirty="0" err="1"/>
              <a:t>במכוון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'0000'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למנוע</a:t>
            </a:r>
            <a:r>
              <a:rPr dirty="0"/>
              <a:t> </a:t>
            </a:r>
            <a:r>
              <a:rPr dirty="0" err="1"/>
              <a:t>זליגות</a:t>
            </a:r>
            <a:r>
              <a:rPr dirty="0"/>
              <a:t> </a:t>
            </a:r>
            <a:r>
              <a:rPr dirty="0" err="1"/>
              <a:t>צבע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חזרת</a:t>
            </a:r>
            <a:r>
              <a:rPr dirty="0"/>
              <a:t> </a:t>
            </a:r>
            <a:r>
              <a:rPr dirty="0" err="1"/>
              <a:t>הצבעים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ברגע</a:t>
            </a:r>
            <a:r>
              <a:rPr dirty="0"/>
              <a:t> </a:t>
            </a:r>
            <a:r>
              <a:rPr dirty="0" err="1"/>
              <a:t>שהאות</a:t>
            </a:r>
            <a:r>
              <a:rPr dirty="0"/>
              <a:t> </a:t>
            </a:r>
            <a:r>
              <a:rPr dirty="0" err="1"/>
              <a:t>in_display_area</a:t>
            </a:r>
            <a:r>
              <a:rPr dirty="0"/>
              <a:t> </a:t>
            </a:r>
            <a:r>
              <a:rPr dirty="0" err="1"/>
              <a:t>עולה</a:t>
            </a:r>
            <a:r>
              <a:rPr dirty="0"/>
              <a:t> ל-'1', </a:t>
            </a:r>
            <a:r>
              <a:rPr dirty="0" err="1"/>
              <a:t>רואים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נתוני</a:t>
            </a:r>
            <a:r>
              <a:rPr dirty="0"/>
              <a:t> ה-RGB  </a:t>
            </a:r>
            <a:r>
              <a:rPr dirty="0" err="1"/>
              <a:t>מהזיכרון</a:t>
            </a:r>
            <a:r>
              <a:rPr dirty="0"/>
              <a:t> </a:t>
            </a:r>
            <a:r>
              <a:rPr dirty="0" err="1"/>
              <a:t>מציירים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הפיקסל</a:t>
            </a:r>
            <a:r>
              <a:rPr lang="he-IL" dirty="0"/>
              <a:t>ים</a:t>
            </a:r>
            <a:endParaRPr dirty="0"/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 rotWithShape="1">
          <a:blip r:embed="rId2"/>
          <a:srcRect t="24715" b="2352"/>
          <a:stretch/>
        </p:blipFill>
        <p:spPr>
          <a:xfrm>
            <a:off x="10617" y="2773467"/>
            <a:ext cx="9122766" cy="385010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884" y="-225384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Tpw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34273" y="665665"/>
            <a:ext cx="8495431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אות</a:t>
            </a:r>
            <a:r>
              <a:rPr dirty="0"/>
              <a:t> ה-HSYN</a:t>
            </a:r>
            <a:r>
              <a:rPr lang="en-US" dirty="0"/>
              <a:t>C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זהו</a:t>
            </a:r>
            <a:r>
              <a:rPr dirty="0"/>
              <a:t> </a:t>
            </a:r>
            <a:r>
              <a:rPr dirty="0" err="1"/>
              <a:t>הטריגר</a:t>
            </a:r>
            <a:r>
              <a:rPr dirty="0"/>
              <a:t> </a:t>
            </a:r>
            <a:r>
              <a:rPr dirty="0" err="1"/>
              <a:t>הפיזי</a:t>
            </a:r>
            <a:r>
              <a:rPr dirty="0"/>
              <a:t> </a:t>
            </a:r>
            <a:r>
              <a:rPr dirty="0" err="1"/>
              <a:t>המורה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 </a:t>
            </a:r>
            <a:r>
              <a:rPr dirty="0" err="1"/>
              <a:t>לבצע</a:t>
            </a:r>
            <a:r>
              <a:rPr dirty="0"/>
              <a:t> Retrace </a:t>
            </a:r>
            <a:r>
              <a:rPr lang="he-IL" dirty="0"/>
              <a:t> </a:t>
            </a:r>
            <a:r>
              <a:rPr dirty="0" err="1"/>
              <a:t>לתחילת</a:t>
            </a:r>
            <a:r>
              <a:rPr dirty="0"/>
              <a:t> </a:t>
            </a:r>
            <a:r>
              <a:rPr dirty="0" err="1"/>
              <a:t>השורה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דיוק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בודד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הצבת</a:t>
            </a:r>
            <a:r>
              <a:rPr dirty="0"/>
              <a:t> </a:t>
            </a:r>
            <a:r>
              <a:rPr lang="he-IL" dirty="0" err="1"/>
              <a:t>קרסרים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הדילוג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הפיזי</a:t>
            </a:r>
            <a:r>
              <a:rPr dirty="0"/>
              <a:t> מ</a:t>
            </a:r>
            <a:r>
              <a:rPr lang="he-IL" dirty="0" err="1"/>
              <a:t>רא</a:t>
            </a:r>
            <a:r>
              <a:rPr dirty="0"/>
              <a:t>ה </a:t>
            </a:r>
            <a:r>
              <a:rPr dirty="0" err="1"/>
              <a:t>רוחב</a:t>
            </a:r>
            <a:r>
              <a:rPr dirty="0"/>
              <a:t> </a:t>
            </a:r>
            <a:r>
              <a:rPr dirty="0" err="1"/>
              <a:t>דופק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3.84us, </a:t>
            </a:r>
            <a:r>
              <a:rPr lang="he-IL" dirty="0"/>
              <a:t> </a:t>
            </a:r>
            <a:r>
              <a:rPr dirty="0" err="1"/>
              <a:t>השקול</a:t>
            </a:r>
            <a:r>
              <a:rPr dirty="0"/>
              <a:t> ל-96 </a:t>
            </a:r>
            <a:r>
              <a:rPr dirty="0" err="1"/>
              <a:t>מחזורי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 rotWithShape="1">
          <a:blip r:embed="rId2"/>
          <a:srcRect t="25570" b="4034"/>
          <a:stretch/>
        </p:blipFill>
        <p:spPr>
          <a:xfrm>
            <a:off x="0" y="2358189"/>
            <a:ext cx="9144000" cy="44871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8996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lang="he-IL" dirty="0"/>
              <a:t>מתאוריה לסיליקון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0" y="993813"/>
            <a:ext cx="90236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העולם</a:t>
            </a:r>
            <a:r>
              <a:rPr dirty="0"/>
              <a:t> </a:t>
            </a:r>
            <a:r>
              <a:rPr dirty="0" err="1"/>
              <a:t>האידיאלי</a:t>
            </a:r>
            <a:r>
              <a:rPr dirty="0"/>
              <a:t> (</a:t>
            </a:r>
            <a:r>
              <a:rPr dirty="0" err="1"/>
              <a:t>ModelSim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עד</a:t>
            </a:r>
            <a:r>
              <a:rPr dirty="0"/>
              <a:t> </a:t>
            </a:r>
            <a:r>
              <a:rPr dirty="0" err="1"/>
              <a:t>כה</a:t>
            </a:r>
            <a:r>
              <a:rPr dirty="0"/>
              <a:t> </a:t>
            </a:r>
            <a:r>
              <a:rPr dirty="0" err="1"/>
              <a:t>בדקנו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בסביבה</a:t>
            </a:r>
            <a:r>
              <a:rPr dirty="0"/>
              <a:t> </a:t>
            </a:r>
            <a:r>
              <a:rPr dirty="0" err="1"/>
              <a:t>וירטואלית</a:t>
            </a:r>
            <a:r>
              <a:rPr dirty="0"/>
              <a:t>. </a:t>
            </a:r>
            <a:r>
              <a:rPr dirty="0" err="1"/>
              <a:t>ראינו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ומונה</a:t>
            </a:r>
            <a:r>
              <a:rPr dirty="0"/>
              <a:t>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ללא</a:t>
            </a:r>
            <a:r>
              <a:rPr dirty="0"/>
              <a:t> </a:t>
            </a:r>
            <a:r>
              <a:rPr dirty="0" err="1"/>
              <a:t>עיכובים</a:t>
            </a:r>
            <a:r>
              <a:rPr dirty="0"/>
              <a:t> </a:t>
            </a:r>
            <a:r>
              <a:rPr dirty="0" err="1"/>
              <a:t>פיזיים</a:t>
            </a:r>
            <a:r>
              <a:rPr dirty="0"/>
              <a:t> (Zero Latency).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המציאות</a:t>
            </a:r>
            <a:r>
              <a:rPr dirty="0"/>
              <a:t> </a:t>
            </a:r>
            <a:r>
              <a:rPr dirty="0" err="1"/>
              <a:t>הפיזית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לאחר</a:t>
            </a:r>
            <a:r>
              <a:rPr dirty="0"/>
              <a:t> </a:t>
            </a:r>
            <a:r>
              <a:rPr dirty="0" err="1"/>
              <a:t>סינתזה</a:t>
            </a:r>
            <a:r>
              <a:rPr dirty="0"/>
              <a:t> </a:t>
            </a:r>
            <a:r>
              <a:rPr dirty="0" err="1"/>
              <a:t>וצריבה</a:t>
            </a:r>
            <a:r>
              <a:rPr dirty="0"/>
              <a:t>. </a:t>
            </a:r>
            <a:r>
              <a:rPr dirty="0" err="1"/>
              <a:t>ישנם</a:t>
            </a:r>
            <a:r>
              <a:rPr dirty="0"/>
              <a:t>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התפשטות</a:t>
            </a:r>
            <a:r>
              <a:rPr dirty="0"/>
              <a:t> (Propagation delays)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מגבלת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 </a:t>
            </a:r>
            <a:r>
              <a:rPr dirty="0" err="1"/>
              <a:t>החיצוני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מבחוץ</a:t>
            </a:r>
            <a:r>
              <a:rPr dirty="0"/>
              <a:t> </a:t>
            </a:r>
            <a:r>
              <a:rPr dirty="0" err="1"/>
              <a:t>ניתן</a:t>
            </a:r>
            <a:r>
              <a:rPr dirty="0"/>
              <a:t> </a:t>
            </a:r>
            <a:r>
              <a:rPr dirty="0" err="1"/>
              <a:t>למדוד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הפינים</a:t>
            </a:r>
            <a:r>
              <a:rPr dirty="0"/>
              <a:t> </a:t>
            </a:r>
            <a:r>
              <a:rPr dirty="0" err="1"/>
              <a:t>הפיזיים</a:t>
            </a:r>
            <a:r>
              <a:rPr dirty="0"/>
              <a:t> (VGA_R/G/B, Sync).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לנו</a:t>
            </a:r>
            <a:r>
              <a:rPr dirty="0"/>
              <a:t> </a:t>
            </a:r>
            <a:r>
              <a:rPr dirty="0" err="1"/>
              <a:t>שום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מתי</a:t>
            </a:r>
            <a:r>
              <a:rPr dirty="0"/>
              <a:t> </a:t>
            </a:r>
            <a:r>
              <a:rPr dirty="0" err="1"/>
              <a:t>המונה</a:t>
            </a:r>
            <a:r>
              <a:rPr dirty="0"/>
              <a:t> </a:t>
            </a:r>
            <a:r>
              <a:rPr dirty="0" err="1"/>
              <a:t>מתאפס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איזו</a:t>
            </a:r>
            <a:r>
              <a:rPr dirty="0"/>
              <a:t> </a:t>
            </a:r>
            <a:r>
              <a:rPr dirty="0" err="1"/>
              <a:t>כתובת</a:t>
            </a:r>
            <a:r>
              <a:rPr dirty="0"/>
              <a:t> </a:t>
            </a:r>
            <a:r>
              <a:rPr dirty="0" err="1"/>
              <a:t>נשלחת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4506" y="4122530"/>
            <a:ext cx="3657600" cy="2466474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rPr dirty="0" err="1"/>
              <a:t>קופסה</a:t>
            </a:r>
            <a:r>
              <a:rPr dirty="0"/>
              <a:t> </a:t>
            </a:r>
            <a:r>
              <a:rPr dirty="0" err="1"/>
              <a:t>שחורה</a:t>
            </a:r>
            <a:endParaRPr dirty="0"/>
          </a:p>
          <a:p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גישה</a:t>
            </a:r>
            <a:r>
              <a:rPr dirty="0"/>
              <a:t> </a:t>
            </a:r>
            <a:r>
              <a:rPr dirty="0" err="1"/>
              <a:t>לאותות</a:t>
            </a:r>
            <a:r>
              <a:rPr dirty="0"/>
              <a:t> </a:t>
            </a:r>
            <a:r>
              <a:rPr dirty="0" err="1"/>
              <a:t>פנימיים</a:t>
            </a:r>
            <a:r>
              <a:rPr lang="he-IL" dirty="0"/>
              <a:t>       </a:t>
            </a:r>
            <a:endParaRPr dirty="0"/>
          </a:p>
        </p:txBody>
      </p:sp>
      <p:sp>
        <p:nvSpPr>
          <p:cNvPr id="5" name="Right Arrow 4"/>
          <p:cNvSpPr/>
          <p:nvPr/>
        </p:nvSpPr>
        <p:spPr>
          <a:xfrm>
            <a:off x="6571649" y="4758675"/>
            <a:ext cx="731520" cy="32725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 flipV="1">
            <a:off x="1840831" y="4777927"/>
            <a:ext cx="731520" cy="27431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86876" y="4137846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/>
              <a:t>פינים</a:t>
            </a:r>
            <a:r>
              <a:rPr dirty="0"/>
              <a:t> </a:t>
            </a:r>
            <a:r>
              <a:rPr dirty="0" err="1"/>
              <a:t>בלבד</a:t>
            </a:r>
            <a:endParaRPr dirty="0"/>
          </a:p>
          <a:p>
            <a:r>
              <a:rPr dirty="0"/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דיבוג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: </a:t>
            </a:r>
            <a:br>
              <a:rPr lang="he-IL" dirty="0"/>
            </a:br>
            <a:r>
              <a:rPr lang="he-IL" dirty="0"/>
              <a:t>  </a:t>
            </a:r>
            <a:r>
              <a:rPr dirty="0" err="1"/>
              <a:t>Vivado</a:t>
            </a:r>
            <a:r>
              <a:rPr dirty="0"/>
              <a:t> ILA </a:t>
            </a:r>
            <a:r>
              <a:rPr lang="he-IL" dirty="0"/>
              <a:t> </a:t>
            </a:r>
            <a:r>
              <a:rPr dirty="0" err="1"/>
              <a:t>קופסה</a:t>
            </a:r>
            <a:r>
              <a:rPr dirty="0"/>
              <a:t> </a:t>
            </a:r>
            <a:r>
              <a:rPr dirty="0" err="1"/>
              <a:t>לבנה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-1804225" y="1097280"/>
            <a:ext cx="10491025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הפתרון</a:t>
            </a:r>
            <a:r>
              <a:rPr dirty="0"/>
              <a:t> </a:t>
            </a:r>
            <a:r>
              <a:rPr dirty="0" err="1"/>
              <a:t>ההנדסי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הוספת</a:t>
            </a:r>
            <a:r>
              <a:rPr dirty="0"/>
              <a:t> Integrated Logic Analyzer (ILA) –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</a:t>
            </a:r>
            <a:r>
              <a:rPr dirty="0" err="1"/>
              <a:t>שדוגם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ומשדר</a:t>
            </a:r>
            <a:r>
              <a:rPr dirty="0"/>
              <a:t> </a:t>
            </a:r>
            <a:r>
              <a:rPr dirty="0" err="1"/>
              <a:t>אותם</a:t>
            </a:r>
            <a:r>
              <a:rPr dirty="0"/>
              <a:t> </a:t>
            </a:r>
            <a:r>
              <a:rPr dirty="0" err="1"/>
              <a:t>למחשב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היתרון</a:t>
            </a:r>
            <a:r>
              <a:rPr dirty="0"/>
              <a:t> </a:t>
            </a:r>
            <a:r>
              <a:rPr lang="he-IL" dirty="0"/>
              <a:t> 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מאפשר</a:t>
            </a:r>
            <a:r>
              <a:rPr dirty="0"/>
              <a:t>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ההשהיה</a:t>
            </a:r>
            <a:r>
              <a:rPr dirty="0"/>
              <a:t> </a:t>
            </a:r>
            <a:r>
              <a:rPr dirty="0" err="1"/>
              <a:t>האמיתיים</a:t>
            </a:r>
            <a:r>
              <a:rPr dirty="0"/>
              <a:t> </a:t>
            </a:r>
            <a:r>
              <a:rPr dirty="0" err="1"/>
              <a:t>שבין</a:t>
            </a:r>
            <a:r>
              <a:rPr dirty="0"/>
              <a:t> </a:t>
            </a:r>
            <a:r>
              <a:rPr dirty="0" err="1"/>
              <a:t>שליחת</a:t>
            </a:r>
            <a:r>
              <a:rPr dirty="0"/>
              <a:t> </a:t>
            </a:r>
            <a:r>
              <a:rPr dirty="0" err="1"/>
              <a:t>בקשה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 (</a:t>
            </a:r>
            <a:r>
              <a:rPr dirty="0" err="1"/>
              <a:t>addrb</a:t>
            </a:r>
            <a:r>
              <a:rPr dirty="0"/>
              <a:t>)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החיסרון</a:t>
            </a:r>
            <a:r>
              <a:rPr dirty="0"/>
              <a:t> (Trade-off):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/>
              <a:t>ה-ILA </a:t>
            </a:r>
            <a:r>
              <a:rPr dirty="0" err="1"/>
              <a:t>אינו</a:t>
            </a:r>
            <a:r>
              <a:rPr dirty="0"/>
              <a:t> </a:t>
            </a:r>
            <a:r>
              <a:rPr dirty="0" err="1"/>
              <a:t>חינמי</a:t>
            </a:r>
            <a:r>
              <a:rPr dirty="0"/>
              <a:t>. </a:t>
            </a:r>
            <a:r>
              <a:rPr dirty="0" err="1"/>
              <a:t>הוא</a:t>
            </a:r>
            <a:r>
              <a:rPr dirty="0"/>
              <a:t> </a:t>
            </a:r>
            <a:r>
              <a:rPr lang="he-IL" dirty="0"/>
              <a:t>לוקח</a:t>
            </a:r>
            <a:r>
              <a:rPr dirty="0"/>
              <a:t> </a:t>
            </a:r>
            <a:r>
              <a:rPr dirty="0" err="1"/>
              <a:t>משאבי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 </a:t>
            </a:r>
            <a:r>
              <a:rPr dirty="0" err="1"/>
              <a:t>מהכרטיס</a:t>
            </a:r>
            <a:r>
              <a:rPr dirty="0"/>
              <a:t> (LUTs ו-BRAM) </a:t>
            </a:r>
            <a:r>
              <a:rPr dirty="0" err="1"/>
              <a:t>לצורך</a:t>
            </a:r>
            <a:r>
              <a:rPr dirty="0"/>
              <a:t> </a:t>
            </a:r>
            <a:r>
              <a:rPr dirty="0" err="1"/>
              <a:t>לוגיקת</a:t>
            </a:r>
            <a:r>
              <a:rPr dirty="0"/>
              <a:t> </a:t>
            </a:r>
            <a:r>
              <a:rPr dirty="0" err="1"/>
              <a:t>הדגימה</a:t>
            </a:r>
            <a:r>
              <a:rPr dirty="0"/>
              <a:t> </a:t>
            </a:r>
            <a:r>
              <a:rPr dirty="0" err="1"/>
              <a:t>ואגירת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056374"/>
              </p:ext>
            </p:extLst>
          </p:nvPr>
        </p:nvGraphicFramePr>
        <p:xfrm>
          <a:off x="565485" y="4263356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האות שנדגום ב-ILA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addrb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doutb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pxl_data_reg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בדיקת</a:t>
                      </a:r>
                      <a:r>
                        <a:rPr lang="he-IL" dirty="0"/>
                        <a:t> הבאס </a:t>
                      </a:r>
                      <a:r>
                        <a:rPr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rPr dirty="0" err="1"/>
                        <a:t>אכיפת</a:t>
                      </a:r>
                      <a:r>
                        <a:rPr dirty="0"/>
                        <a:t> </a:t>
                      </a:r>
                      <a:r>
                        <a:rPr lang="he-IL" dirty="0"/>
                        <a:t>0</a:t>
                      </a:r>
                      <a:r>
                        <a:rPr dirty="0"/>
                        <a:t>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רואים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מסך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חשוך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ללא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הקשר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תזמוני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in_display_area_delayed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4" y="0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עלות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: </a:t>
            </a:r>
            <a:r>
              <a:rPr dirty="0" err="1"/>
              <a:t>ניתוח</a:t>
            </a:r>
            <a:r>
              <a:rPr dirty="0"/>
              <a:t>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277268" y="770021"/>
            <a:ext cx="9300951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ה-ILA </a:t>
            </a:r>
            <a:r>
              <a:rPr dirty="0" err="1"/>
              <a:t>איננו</a:t>
            </a:r>
            <a:r>
              <a:rPr dirty="0"/>
              <a:t> </a:t>
            </a:r>
            <a:r>
              <a:rPr dirty="0" err="1"/>
              <a:t>תוכנה</a:t>
            </a:r>
            <a:r>
              <a:rPr lang="he-IL" dirty="0"/>
              <a:t>,</a:t>
            </a:r>
            <a:r>
              <a:rPr dirty="0"/>
              <a:t> </a:t>
            </a:r>
            <a:r>
              <a:rPr dirty="0" err="1"/>
              <a:t>זוהי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פיזית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המסונתזת</a:t>
            </a:r>
            <a:r>
              <a:rPr dirty="0"/>
              <a:t> </a:t>
            </a:r>
            <a:r>
              <a:rPr dirty="0" err="1"/>
              <a:t>ונצרבת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 </a:t>
            </a:r>
            <a:r>
              <a:rPr dirty="0" err="1"/>
              <a:t>לצד</a:t>
            </a:r>
            <a:r>
              <a:rPr dirty="0"/>
              <a:t> </a:t>
            </a:r>
            <a:r>
              <a:rPr dirty="0" err="1"/>
              <a:t>לוגיקת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יעיל</a:t>
            </a:r>
            <a:r>
              <a:rPr dirty="0"/>
              <a:t> </a:t>
            </a:r>
            <a:r>
              <a:rPr dirty="0" err="1"/>
              <a:t>מאוד</a:t>
            </a:r>
            <a:r>
              <a:rPr dirty="0"/>
              <a:t> </a:t>
            </a:r>
            <a:r>
              <a:rPr dirty="0" err="1"/>
              <a:t>וצורך</a:t>
            </a:r>
            <a:r>
              <a:rPr dirty="0"/>
              <a:t> </a:t>
            </a:r>
            <a:r>
              <a:rPr dirty="0" err="1"/>
              <a:t>משאבים</a:t>
            </a:r>
            <a:r>
              <a:rPr dirty="0"/>
              <a:t> </a:t>
            </a:r>
            <a:r>
              <a:rPr dirty="0" err="1"/>
              <a:t>אפסיים</a:t>
            </a:r>
            <a:r>
              <a:rPr dirty="0"/>
              <a:t>, </a:t>
            </a:r>
            <a:r>
              <a:rPr dirty="0" err="1"/>
              <a:t>בעוד</a:t>
            </a:r>
            <a:r>
              <a:rPr dirty="0"/>
              <a:t> </a:t>
            </a:r>
            <a:r>
              <a:rPr dirty="0" err="1"/>
              <a:t>שמערכת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 (ILA + Debug Hub) </a:t>
            </a:r>
            <a:r>
              <a:rPr lang="he-IL" dirty="0"/>
              <a:t> </a:t>
            </a:r>
            <a:r>
              <a:rPr dirty="0" err="1"/>
              <a:t>דורשת</a:t>
            </a:r>
            <a:r>
              <a:rPr dirty="0"/>
              <a:t> </a:t>
            </a:r>
            <a:r>
              <a:rPr dirty="0" err="1"/>
              <a:t>אלפי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רכיבים</a:t>
            </a:r>
            <a:r>
              <a:rPr dirty="0"/>
              <a:t> </a:t>
            </a:r>
            <a:r>
              <a:rPr dirty="0" err="1"/>
              <a:t>לוגיים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lang="he-IL" dirty="0"/>
              <a:t>לסיכום</a:t>
            </a:r>
            <a:r>
              <a:rPr dirty="0"/>
              <a:t>: ה-ILA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כלי</a:t>
            </a:r>
            <a:r>
              <a:rPr dirty="0"/>
              <a:t> </a:t>
            </a:r>
            <a:r>
              <a:rPr lang="he-IL" dirty="0"/>
              <a:t>יעיל </a:t>
            </a:r>
            <a:r>
              <a:rPr dirty="0" err="1"/>
              <a:t>לפיתוח</a:t>
            </a:r>
            <a:r>
              <a:rPr dirty="0"/>
              <a:t> </a:t>
            </a:r>
            <a:r>
              <a:rPr lang="he-IL" dirty="0" err="1"/>
              <a:t>ולבדיקות,אך</a:t>
            </a:r>
            <a:r>
              <a:rPr lang="he-IL" dirty="0"/>
              <a:t> כמובן שהוא לא </a:t>
            </a:r>
            <a:r>
              <a:rPr lang="he-IL" dirty="0" err="1"/>
              <a:t>ישאר</a:t>
            </a:r>
            <a:r>
              <a:rPr lang="he-IL" dirty="0"/>
              <a:t> ברכיב סתם,</a:t>
            </a:r>
          </a:p>
          <a:p>
            <a:pPr algn="r" rtl="1">
              <a:defRPr sz="1600"/>
            </a:pPr>
            <a:r>
              <a:rPr lang="he-IL" dirty="0"/>
              <a:t>מה </a:t>
            </a:r>
            <a:r>
              <a:rPr lang="he-IL" dirty="0" err="1"/>
              <a:t>גם,ייתכן</a:t>
            </a:r>
            <a:r>
              <a:rPr lang="he-IL" dirty="0"/>
              <a:t> שאם המערכת שלנו גדולה ותופסת הרבה </a:t>
            </a:r>
            <a:r>
              <a:rPr lang="he-IL" dirty="0" err="1"/>
              <a:t>זיכרון,לא</a:t>
            </a:r>
            <a:r>
              <a:rPr lang="he-IL" dirty="0"/>
              <a:t> נוכל ליישם טכנולוגיה זו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225313"/>
              </p:ext>
            </p:extLst>
          </p:nvPr>
        </p:nvGraphicFramePr>
        <p:xfrm>
          <a:off x="6021532" y="4032721"/>
          <a:ext cx="2947738" cy="173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1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11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3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4314">
                <a:tc>
                  <a:txBody>
                    <a:bodyPr/>
                    <a:lstStyle/>
                    <a:p>
                      <a:pPr algn="ctr" rtl="1">
                        <a:defRPr sz="1300" b="1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300" b="1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300" b="1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300" b="1"/>
                      </a:pPr>
                      <a:r>
                        <a:rPr dirty="0"/>
                        <a:t>BRAM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919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rPr dirty="0"/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919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rPr dirty="0"/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142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rPr dirty="0"/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rPr dirty="0"/>
                        <a:t>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926080"/>
            <a:ext cx="6021533" cy="375144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105" y="-283011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/>
              <a:t>Post-Silicon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433137" y="471638"/>
            <a:ext cx="956571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בניגוד</a:t>
            </a:r>
            <a:r>
              <a:rPr dirty="0"/>
              <a:t> </a:t>
            </a:r>
            <a:r>
              <a:rPr dirty="0" err="1"/>
              <a:t>לסימולציה</a:t>
            </a:r>
            <a:r>
              <a:rPr dirty="0"/>
              <a:t> </a:t>
            </a:r>
            <a:r>
              <a:rPr dirty="0" err="1"/>
              <a:t>האידיאלית</a:t>
            </a:r>
            <a:r>
              <a:rPr dirty="0"/>
              <a:t> </a:t>
            </a:r>
            <a:r>
              <a:rPr dirty="0" err="1"/>
              <a:t>בשקף</a:t>
            </a:r>
            <a:r>
              <a:rPr lang="he-IL" dirty="0"/>
              <a:t> 17, </a:t>
            </a:r>
            <a:r>
              <a:rPr dirty="0"/>
              <a:t> </a:t>
            </a:r>
            <a:r>
              <a:rPr dirty="0" err="1"/>
              <a:t>כאן</a:t>
            </a:r>
            <a:r>
              <a:rPr dirty="0"/>
              <a:t> </a:t>
            </a:r>
            <a:r>
              <a:rPr dirty="0" err="1"/>
              <a:t>אנו</a:t>
            </a:r>
            <a:r>
              <a:rPr dirty="0"/>
              <a:t> </a:t>
            </a:r>
            <a:r>
              <a:rPr dirty="0" err="1"/>
              <a:t>דוגמים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החומרה</a:t>
            </a:r>
            <a:r>
              <a:rPr dirty="0"/>
              <a:t> </a:t>
            </a:r>
            <a:r>
              <a:rPr dirty="0" err="1"/>
              <a:t>הפיזית</a:t>
            </a:r>
            <a:r>
              <a:rPr dirty="0"/>
              <a:t> </a:t>
            </a:r>
            <a:r>
              <a:rPr dirty="0" err="1"/>
              <a:t>פועלת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ה-ILA.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lang="he-IL" dirty="0"/>
              <a:t>נשים </a:t>
            </a:r>
            <a:r>
              <a:rPr dirty="0" err="1"/>
              <a:t>לב</a:t>
            </a:r>
            <a:r>
              <a:rPr dirty="0"/>
              <a:t> </a:t>
            </a:r>
            <a:r>
              <a:rPr dirty="0" err="1"/>
              <a:t>לפער</a:t>
            </a:r>
            <a:r>
              <a:rPr dirty="0"/>
              <a:t> </a:t>
            </a:r>
            <a:r>
              <a:rPr dirty="0" err="1"/>
              <a:t>הפיזי</a:t>
            </a:r>
            <a:r>
              <a:rPr dirty="0"/>
              <a:t> - </a:t>
            </a:r>
            <a:r>
              <a:rPr dirty="0" err="1"/>
              <a:t>הכתובת</a:t>
            </a:r>
            <a:r>
              <a:rPr dirty="0"/>
              <a:t> 266880 </a:t>
            </a:r>
            <a:r>
              <a:rPr dirty="0" err="1"/>
              <a:t>נשלחת</a:t>
            </a:r>
            <a:r>
              <a:rPr dirty="0"/>
              <a:t> (</a:t>
            </a:r>
            <a:r>
              <a:rPr dirty="0" err="1"/>
              <a:t>bram_address_reg</a:t>
            </a:r>
            <a:r>
              <a:rPr dirty="0"/>
              <a:t>),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4ea </a:t>
            </a:r>
            <a:r>
              <a:rPr dirty="0" err="1"/>
              <a:t>מופיע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לאחר</a:t>
            </a:r>
            <a:r>
              <a:rPr dirty="0"/>
              <a:t> </a:t>
            </a:r>
            <a:r>
              <a:rPr dirty="0" err="1"/>
              <a:t>מכן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אכיפת</a:t>
            </a:r>
            <a:r>
              <a:rPr dirty="0"/>
              <a:t> </a:t>
            </a:r>
            <a:r>
              <a:rPr dirty="0" err="1"/>
              <a:t>שומר</a:t>
            </a:r>
            <a:r>
              <a:rPr dirty="0"/>
              <a:t> </a:t>
            </a:r>
            <a:r>
              <a:rPr dirty="0" err="1"/>
              <a:t>הסף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למרות</a:t>
            </a:r>
            <a:r>
              <a:rPr dirty="0"/>
              <a:t> </a:t>
            </a:r>
            <a:r>
              <a:rPr dirty="0" err="1"/>
              <a:t>שהאוגר</a:t>
            </a:r>
            <a:r>
              <a:rPr dirty="0"/>
              <a:t> </a:t>
            </a:r>
            <a:r>
              <a:rPr dirty="0" err="1"/>
              <a:t>התמלא</a:t>
            </a:r>
            <a:r>
              <a:rPr dirty="0"/>
              <a:t>,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בקו</a:t>
            </a:r>
            <a:r>
              <a:rPr dirty="0"/>
              <a:t> </a:t>
            </a:r>
            <a:r>
              <a:rPr dirty="0" err="1"/>
              <a:t>הצהוב</a:t>
            </a:r>
            <a:r>
              <a:rPr dirty="0"/>
              <a:t>, </a:t>
            </a:r>
            <a:r>
              <a:rPr dirty="0" err="1"/>
              <a:t>כש-in_display_area_delayed</a:t>
            </a:r>
            <a:r>
              <a:rPr dirty="0"/>
              <a:t> </a:t>
            </a:r>
            <a:r>
              <a:rPr dirty="0" err="1"/>
              <a:t>עולה</a:t>
            </a:r>
            <a:r>
              <a:rPr dirty="0"/>
              <a:t> ל-'1', </a:t>
            </a:r>
            <a:r>
              <a:rPr dirty="0" err="1"/>
              <a:t>נתוני</a:t>
            </a:r>
            <a:r>
              <a:rPr dirty="0"/>
              <a:t> ה-RGB </a:t>
            </a:r>
            <a:r>
              <a:rPr dirty="0" err="1"/>
              <a:t>נפרצים</a:t>
            </a:r>
            <a:r>
              <a:rPr dirty="0"/>
              <a:t> </a:t>
            </a:r>
            <a:r>
              <a:rPr dirty="0" err="1"/>
              <a:t>החוצה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dirty="0"/>
              <a:t>(0 -&gt; 4,e,a).</a:t>
            </a:r>
          </a:p>
        </p:txBody>
      </p:sp>
      <p:pic>
        <p:nvPicPr>
          <p:cNvPr id="4" name="Picture 3" descr="ila_hardware_data_path_transition.png"/>
          <p:cNvPicPr>
            <a:picLocks noChangeAspect="1"/>
          </p:cNvPicPr>
          <p:nvPr/>
        </p:nvPicPr>
        <p:blipFill rotWithShape="1">
          <a:blip r:embed="rId2"/>
          <a:srcRect l="1024" t="12018" r="2924"/>
          <a:stretch/>
        </p:blipFill>
        <p:spPr>
          <a:xfrm>
            <a:off x="0" y="2310064"/>
            <a:ext cx="9143999" cy="48008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3" y="-180156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סיכום</a:t>
            </a:r>
            <a:r>
              <a:rPr lang="he-IL" dirty="0"/>
              <a:t>:</a:t>
            </a:r>
            <a:r>
              <a:rPr dirty="0"/>
              <a:t> </a:t>
            </a:r>
            <a:r>
              <a:rPr dirty="0" err="1"/>
              <a:t>ModelSi</a:t>
            </a:r>
            <a:r>
              <a:rPr lang="en-US" dirty="0" err="1"/>
              <a:t>m</a:t>
            </a:r>
            <a:r>
              <a:rPr dirty="0" err="1"/>
              <a:t>מול</a:t>
            </a:r>
            <a:r>
              <a:rPr dirty="0"/>
              <a:t> ILA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063" y="391344"/>
            <a:ext cx="9144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המעבר</a:t>
            </a:r>
            <a:r>
              <a:rPr dirty="0"/>
              <a:t> </a:t>
            </a:r>
            <a:r>
              <a:rPr dirty="0" err="1"/>
              <a:t>מקופסה</a:t>
            </a:r>
            <a:r>
              <a:rPr dirty="0"/>
              <a:t> </a:t>
            </a:r>
            <a:r>
              <a:rPr dirty="0" err="1"/>
              <a:t>שחורה</a:t>
            </a:r>
            <a:r>
              <a:rPr dirty="0"/>
              <a:t> </a:t>
            </a:r>
            <a:r>
              <a:rPr dirty="0" err="1"/>
              <a:t>ללבנה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נאלצנו</a:t>
            </a:r>
            <a:r>
              <a:rPr dirty="0"/>
              <a:t> </a:t>
            </a:r>
            <a:r>
              <a:rPr dirty="0" err="1"/>
              <a:t>להוסיף</a:t>
            </a:r>
            <a:r>
              <a:rPr dirty="0"/>
              <a:t> </a:t>
            </a:r>
            <a:r>
              <a:rPr dirty="0" err="1"/>
              <a:t>אטריביוט</a:t>
            </a:r>
            <a:r>
              <a:rPr dirty="0"/>
              <a:t> </a:t>
            </a:r>
            <a:r>
              <a:rPr dirty="0" err="1"/>
              <a:t>mark_debug</a:t>
            </a:r>
            <a:r>
              <a:rPr dirty="0"/>
              <a:t> ל-VHDL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להורות</a:t>
            </a:r>
            <a:r>
              <a:rPr dirty="0"/>
              <a:t> </a:t>
            </a:r>
            <a:r>
              <a:rPr dirty="0" err="1"/>
              <a:t>לסינתזה</a:t>
            </a:r>
            <a:r>
              <a:rPr dirty="0"/>
              <a:t> </a:t>
            </a:r>
            <a:r>
              <a:rPr dirty="0" err="1"/>
              <a:t>לשמר</a:t>
            </a:r>
            <a:r>
              <a:rPr dirty="0"/>
              <a:t> </a:t>
            </a:r>
            <a:r>
              <a:rPr dirty="0" err="1"/>
              <a:t>חוטים</a:t>
            </a:r>
            <a:r>
              <a:rPr dirty="0"/>
              <a:t> </a:t>
            </a:r>
            <a:r>
              <a:rPr dirty="0" err="1"/>
              <a:t>פנימיים</a:t>
            </a:r>
            <a:r>
              <a:rPr dirty="0"/>
              <a:t> </a:t>
            </a:r>
            <a:r>
              <a:rPr dirty="0" err="1"/>
              <a:t>למדידה</a:t>
            </a:r>
            <a:r>
              <a:rPr dirty="0"/>
              <a:t> (White-Box).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הוכחת</a:t>
            </a:r>
            <a:r>
              <a:rPr dirty="0"/>
              <a:t> </a:t>
            </a:r>
            <a:r>
              <a:rPr dirty="0" err="1"/>
              <a:t>הפיזיקה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הטבלה</a:t>
            </a:r>
            <a:r>
              <a:rPr dirty="0"/>
              <a:t> </a:t>
            </a:r>
            <a:r>
              <a:rPr dirty="0" err="1"/>
              <a:t>מתארת</a:t>
            </a:r>
            <a:r>
              <a:rPr dirty="0"/>
              <a:t> </a:t>
            </a:r>
            <a:r>
              <a:rPr dirty="0" err="1"/>
              <a:t>כיצד</a:t>
            </a:r>
            <a:r>
              <a:rPr dirty="0"/>
              <a:t> </a:t>
            </a:r>
            <a:r>
              <a:rPr dirty="0" err="1"/>
              <a:t>התיאוריה</a:t>
            </a:r>
            <a:r>
              <a:rPr dirty="0"/>
              <a:t> </a:t>
            </a:r>
            <a:r>
              <a:rPr dirty="0" err="1"/>
              <a:t>מהסימולציה</a:t>
            </a:r>
            <a:r>
              <a:rPr dirty="0"/>
              <a:t> </a:t>
            </a:r>
            <a:r>
              <a:rPr dirty="0" err="1"/>
              <a:t>תורגמה</a:t>
            </a:r>
            <a:r>
              <a:rPr dirty="0"/>
              <a:t> </a:t>
            </a:r>
            <a:r>
              <a:rPr dirty="0" err="1"/>
              <a:t>לתופעות</a:t>
            </a:r>
            <a:r>
              <a:rPr dirty="0"/>
              <a:t> </a:t>
            </a:r>
            <a:r>
              <a:rPr dirty="0" err="1"/>
              <a:t>חשמליות</a:t>
            </a:r>
            <a:r>
              <a:rPr dirty="0"/>
              <a:t>/</a:t>
            </a:r>
            <a:r>
              <a:rPr dirty="0" err="1"/>
              <a:t>פיזיות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רשת</a:t>
            </a:r>
            <a:r>
              <a:rPr dirty="0"/>
              <a:t> </a:t>
            </a:r>
            <a:r>
              <a:rPr dirty="0" err="1"/>
              <a:t>השערים</a:t>
            </a:r>
            <a:r>
              <a:rPr dirty="0"/>
              <a:t> (Netlist) </a:t>
            </a:r>
            <a:r>
              <a:rPr dirty="0" err="1"/>
              <a:t>של</a:t>
            </a:r>
            <a:r>
              <a:rPr dirty="0"/>
              <a:t> ה-FPGA.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002936"/>
              </p:ext>
            </p:extLst>
          </p:nvPr>
        </p:nvGraphicFramePr>
        <p:xfrm>
          <a:off x="182880" y="21031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 rtl="1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האות ב-Data Path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ModelSim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סביבה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וירטואלית</a:t>
                      </a:r>
                      <a:endParaRPr dirty="0"/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Vivado</a:t>
                      </a:r>
                      <a:r>
                        <a:rPr dirty="0"/>
                        <a:t> ILA </a:t>
                      </a:r>
                      <a:r>
                        <a:rPr dirty="0" err="1"/>
                        <a:t>הסיליקון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הפיזי</a:t>
                      </a:r>
                      <a:endParaRPr dirty="0"/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bram_address_reg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עדכון מתמטי באפס זמן (0ns).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ניתוב פיזי: 19 חוטים שמפעילים את פורט הקריאה בזיכרון ה-BRAM.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doutb (תגובת BRAM)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rPr dirty="0" err="1"/>
                        <a:t>המידע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מופיע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מיידית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הוכחת Latency: חשיפת זמן התגובה האמיתי של בלוק החומרה.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pxl_data_reg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השמת משתנה תוכנתית פשוטה.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rPr dirty="0" err="1"/>
                        <a:t>יציבות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חומרה</a:t>
                      </a:r>
                      <a:r>
                        <a:rPr dirty="0"/>
                        <a:t>: </a:t>
                      </a:r>
                      <a:r>
                        <a:rPr dirty="0" err="1"/>
                        <a:t>הפליפ-פלופים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דוגמים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את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doutb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כראוי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למרות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ההשהיה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in_display_area_dly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דגל בוליאני (True/False).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פיקוד פיזי (Select Line) שכופה ניתוב על המרבבים (MUX) בסיליקון.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vga_r/g/b_int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מחרוזות תווים וירטואליות.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rPr dirty="0" err="1"/>
                        <a:t>אכיפה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חשמלית</a:t>
                      </a:r>
                      <a:r>
                        <a:rPr dirty="0"/>
                        <a:t>: </a:t>
                      </a:r>
                      <a:r>
                        <a:rPr dirty="0" err="1"/>
                        <a:t>חיווט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הפינים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לאדמה</a:t>
                      </a:r>
                      <a:r>
                        <a:rPr dirty="0"/>
                        <a:t> (GND) </a:t>
                      </a:r>
                      <a:r>
                        <a:rPr dirty="0" err="1"/>
                        <a:t>למניעת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זליגות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צבע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אנלוגיות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פיתוח</a:t>
            </a:r>
            <a:r>
              <a:rPr dirty="0"/>
              <a:t> </a:t>
            </a:r>
            <a:r>
              <a:rPr dirty="0" err="1"/>
              <a:t>עתידי</a:t>
            </a:r>
            <a:r>
              <a:rPr dirty="0"/>
              <a:t>: </a:t>
            </a:r>
            <a:br>
              <a:rPr lang="he-IL" dirty="0"/>
            </a:br>
            <a:r>
              <a:rPr dirty="0" err="1"/>
              <a:t>מעבר</a:t>
            </a:r>
            <a:r>
              <a:rPr dirty="0"/>
              <a:t> </a:t>
            </a:r>
            <a:r>
              <a:rPr dirty="0" err="1"/>
              <a:t>מזיהוי</a:t>
            </a:r>
            <a:r>
              <a:rPr dirty="0"/>
              <a:t> </a:t>
            </a:r>
            <a:r>
              <a:rPr dirty="0" err="1"/>
              <a:t>תנועה</a:t>
            </a:r>
            <a:r>
              <a:rPr dirty="0"/>
              <a:t> </a:t>
            </a:r>
            <a:r>
              <a:rPr dirty="0" err="1"/>
              <a:t>גולמי</a:t>
            </a:r>
            <a:r>
              <a:rPr dirty="0"/>
              <a:t> ל-Edge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466798" y="1179644"/>
            <a:ext cx="10333150" cy="18466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האתגר</a:t>
            </a:r>
            <a:r>
              <a:rPr dirty="0"/>
              <a:t> </a:t>
            </a:r>
            <a:r>
              <a:rPr dirty="0" err="1"/>
              <a:t>במערכת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אלגוריתמי</a:t>
            </a:r>
            <a:r>
              <a:rPr dirty="0"/>
              <a:t> </a:t>
            </a:r>
            <a:r>
              <a:rPr dirty="0" err="1"/>
              <a:t>השוואת</a:t>
            </a:r>
            <a:r>
              <a:rPr dirty="0"/>
              <a:t> </a:t>
            </a:r>
            <a:r>
              <a:rPr dirty="0" err="1"/>
              <a:t>פריימים</a:t>
            </a:r>
            <a:r>
              <a:rPr dirty="0"/>
              <a:t> </a:t>
            </a:r>
            <a:r>
              <a:rPr dirty="0" err="1"/>
              <a:t>מזהים</a:t>
            </a:r>
            <a:r>
              <a:rPr dirty="0"/>
              <a:t> </a:t>
            </a:r>
            <a:r>
              <a:rPr dirty="0" err="1"/>
              <a:t>שינוי</a:t>
            </a:r>
            <a:r>
              <a:rPr dirty="0"/>
              <a:t> </a:t>
            </a:r>
            <a:r>
              <a:rPr dirty="0" err="1"/>
              <a:t>פיקסליירי</a:t>
            </a:r>
            <a:r>
              <a:rPr dirty="0"/>
              <a:t>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אינם</a:t>
            </a:r>
            <a:r>
              <a:rPr dirty="0"/>
              <a:t> </a:t>
            </a:r>
            <a:r>
              <a:rPr dirty="0" err="1"/>
              <a:t>יודעים</a:t>
            </a:r>
            <a:r>
              <a:rPr dirty="0"/>
              <a:t> </a:t>
            </a:r>
            <a:r>
              <a:rPr dirty="0" err="1"/>
              <a:t>להבדיל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נפילת</a:t>
            </a:r>
            <a:r>
              <a:rPr dirty="0"/>
              <a:t> </a:t>
            </a:r>
            <a:r>
              <a:rPr dirty="0" err="1"/>
              <a:t>אדם</a:t>
            </a:r>
            <a:r>
              <a:rPr dirty="0"/>
              <a:t> </a:t>
            </a:r>
            <a:r>
              <a:rPr dirty="0" err="1"/>
              <a:t>לנפילת</a:t>
            </a:r>
            <a:r>
              <a:rPr dirty="0"/>
              <a:t> </a:t>
            </a:r>
            <a:r>
              <a:rPr dirty="0" err="1"/>
              <a:t>חפץ</a:t>
            </a:r>
            <a:r>
              <a:rPr dirty="0"/>
              <a:t> </a:t>
            </a:r>
            <a:r>
              <a:rPr dirty="0" err="1"/>
              <a:t>דומם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פתרון</a:t>
            </a:r>
            <a:r>
              <a:rPr dirty="0"/>
              <a:t> PoC </a:t>
            </a:r>
            <a:r>
              <a:rPr dirty="0" err="1"/>
              <a:t>ברסברי</a:t>
            </a:r>
            <a:r>
              <a:rPr dirty="0"/>
              <a:t> </a:t>
            </a:r>
            <a:r>
              <a:rPr dirty="0" err="1"/>
              <a:t>פאי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הרצת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AI </a:t>
            </a:r>
            <a:r>
              <a:rPr dirty="0" err="1"/>
              <a:t>קליל</a:t>
            </a:r>
            <a:r>
              <a:rPr dirty="0"/>
              <a:t> (Lightweight Deep Learning) </a:t>
            </a:r>
            <a:r>
              <a:rPr lang="he-IL" dirty="0"/>
              <a:t> </a:t>
            </a:r>
            <a:r>
              <a:rPr dirty="0" err="1"/>
              <a:t>לזיהוי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בני</a:t>
            </a:r>
            <a:r>
              <a:rPr dirty="0"/>
              <a:t> </a:t>
            </a:r>
            <a:r>
              <a:rPr dirty="0" err="1"/>
              <a:t>אדם</a:t>
            </a:r>
            <a:r>
              <a:rPr dirty="0"/>
              <a:t> </a:t>
            </a:r>
            <a:r>
              <a:rPr dirty="0" err="1"/>
              <a:t>מקומית</a:t>
            </a:r>
            <a:r>
              <a:rPr dirty="0"/>
              <a:t> (Edge)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המטרה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לשלב</a:t>
            </a:r>
            <a:r>
              <a:rPr dirty="0"/>
              <a:t> </a:t>
            </a:r>
            <a:r>
              <a:rPr dirty="0" err="1"/>
              <a:t>בעתיד</a:t>
            </a:r>
            <a:r>
              <a:rPr dirty="0"/>
              <a:t> </a:t>
            </a:r>
            <a:r>
              <a:rPr dirty="0" err="1"/>
              <a:t>מוד</a:t>
            </a:r>
            <a:r>
              <a:rPr lang="he-IL" dirty="0"/>
              <a:t>לי</a:t>
            </a:r>
            <a:r>
              <a:rPr dirty="0"/>
              <a:t> </a:t>
            </a:r>
            <a:r>
              <a:rPr dirty="0" err="1"/>
              <a:t>זיהוי</a:t>
            </a:r>
            <a:r>
              <a:rPr dirty="0"/>
              <a:t> </a:t>
            </a:r>
            <a:r>
              <a:rPr dirty="0" err="1"/>
              <a:t>דומים</a:t>
            </a:r>
            <a:r>
              <a:rPr dirty="0"/>
              <a:t>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ארכיטקטורת</a:t>
            </a:r>
            <a:r>
              <a:rPr dirty="0"/>
              <a:t> </a:t>
            </a:r>
            <a:r>
              <a:rPr dirty="0" err="1"/>
              <a:t>החומרה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ה-FPGA.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E8606C8B-D526-4542-B6F8-75434A253E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478" b="39358"/>
          <a:stretch/>
        </p:blipFill>
        <p:spPr>
          <a:xfrm>
            <a:off x="1208539" y="3151563"/>
            <a:ext cx="6726921" cy="355705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ארכיטקטורה</a:t>
            </a:r>
            <a:r>
              <a:rPr dirty="0"/>
              <a:t> </a:t>
            </a:r>
            <a:r>
              <a:rPr dirty="0" err="1"/>
              <a:t>עתידית</a:t>
            </a:r>
            <a:r>
              <a:rPr dirty="0"/>
              <a:t>: </a:t>
            </a:r>
            <a:r>
              <a:rPr dirty="0" err="1"/>
              <a:t>חלוקת</a:t>
            </a:r>
            <a:r>
              <a:rPr dirty="0"/>
              <a:t> </a:t>
            </a:r>
            <a:r>
              <a:rPr dirty="0" err="1"/>
              <a:t>עבודה</a:t>
            </a:r>
            <a:r>
              <a:rPr dirty="0"/>
              <a:t> Hardware/Software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87890" y="1071109"/>
            <a:ext cx="916905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שילוב</a:t>
            </a:r>
            <a:r>
              <a:rPr dirty="0"/>
              <a:t> </a:t>
            </a:r>
            <a:r>
              <a:rPr dirty="0" err="1"/>
              <a:t>מעבד</a:t>
            </a:r>
            <a:r>
              <a:rPr dirty="0"/>
              <a:t> </a:t>
            </a:r>
            <a:r>
              <a:rPr dirty="0" err="1"/>
              <a:t>רך</a:t>
            </a:r>
            <a:r>
              <a:rPr dirty="0"/>
              <a:t> (Soft-Core Processor):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הטמעת</a:t>
            </a:r>
            <a:r>
              <a:rPr dirty="0"/>
              <a:t> </a:t>
            </a:r>
            <a:r>
              <a:rPr dirty="0" err="1"/>
              <a:t>מעב</a:t>
            </a:r>
            <a:r>
              <a:rPr lang="he-IL" dirty="0"/>
              <a:t>ד</a:t>
            </a:r>
            <a:r>
              <a:rPr dirty="0"/>
              <a:t> </a:t>
            </a:r>
            <a:r>
              <a:rPr dirty="0" err="1"/>
              <a:t>MicroBlaze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ה-Artix-7 FPGA.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חלוקת</a:t>
            </a:r>
            <a:r>
              <a:rPr dirty="0"/>
              <a:t> </a:t>
            </a:r>
            <a:r>
              <a:rPr dirty="0" err="1"/>
              <a:t>תפקידים</a:t>
            </a:r>
            <a:r>
              <a:rPr dirty="0"/>
              <a:t> </a:t>
            </a:r>
            <a:r>
              <a:rPr dirty="0" err="1"/>
              <a:t>חכמה</a:t>
            </a:r>
            <a:r>
              <a:rPr dirty="0"/>
              <a:t>:</a:t>
            </a:r>
          </a:p>
          <a:p>
            <a:pPr algn="r" rtl="1">
              <a:defRPr sz="1600"/>
            </a:pPr>
            <a:r>
              <a:rPr dirty="0"/>
              <a:t>   - **</a:t>
            </a:r>
            <a:r>
              <a:rPr dirty="0" err="1"/>
              <a:t>חומרה</a:t>
            </a:r>
            <a:r>
              <a:rPr dirty="0"/>
              <a:t>:**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ניהול</a:t>
            </a:r>
            <a:r>
              <a:rPr dirty="0"/>
              <a:t> </a:t>
            </a: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המצלמה</a:t>
            </a:r>
            <a:r>
              <a:rPr dirty="0"/>
              <a:t> (OV7670), </a:t>
            </a:r>
            <a:r>
              <a:rPr dirty="0" err="1"/>
              <a:t>זיכרון</a:t>
            </a:r>
            <a:r>
              <a:rPr dirty="0"/>
              <a:t> ה-BRAM, </a:t>
            </a:r>
            <a:r>
              <a:rPr dirty="0" err="1"/>
              <a:t>ובקר</a:t>
            </a:r>
            <a:r>
              <a:rPr dirty="0"/>
              <a:t> ה-VGA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ובמקביליות</a:t>
            </a:r>
            <a:r>
              <a:rPr dirty="0"/>
              <a:t> </a:t>
            </a:r>
            <a:r>
              <a:rPr dirty="0" err="1"/>
              <a:t>מלאה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   - **</a:t>
            </a:r>
            <a:r>
              <a:rPr dirty="0" err="1"/>
              <a:t>תוכנה</a:t>
            </a:r>
            <a:r>
              <a:rPr dirty="0"/>
              <a:t> (</a:t>
            </a:r>
            <a:r>
              <a:rPr dirty="0" err="1"/>
              <a:t>MicroBlaze</a:t>
            </a:r>
            <a:r>
              <a:rPr dirty="0"/>
              <a:t>)</a:t>
            </a:r>
            <a:endParaRPr lang="he-IL" dirty="0"/>
          </a:p>
          <a:p>
            <a:pPr algn="r" rtl="1">
              <a:defRPr sz="1600"/>
            </a:pPr>
            <a:r>
              <a:rPr dirty="0"/>
              <a:t>:** </a:t>
            </a:r>
            <a:r>
              <a:rPr dirty="0" err="1"/>
              <a:t>הרצת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הסקת</a:t>
            </a:r>
            <a:r>
              <a:rPr dirty="0"/>
              <a:t> ה-AI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הפריימים</a:t>
            </a:r>
            <a:r>
              <a:rPr dirty="0"/>
              <a:t> </a:t>
            </a:r>
            <a:r>
              <a:rPr dirty="0" err="1"/>
              <a:t>שנדגמו</a:t>
            </a:r>
            <a:r>
              <a:rPr dirty="0"/>
              <a:t> </a:t>
            </a:r>
            <a:r>
              <a:rPr dirty="0" err="1"/>
              <a:t>וקבלת</a:t>
            </a:r>
            <a:r>
              <a:rPr dirty="0"/>
              <a:t> </a:t>
            </a:r>
            <a:r>
              <a:rPr dirty="0" err="1"/>
              <a:t>ההחלטה</a:t>
            </a:r>
            <a:r>
              <a:rPr dirty="0"/>
              <a:t> </a:t>
            </a:r>
            <a:r>
              <a:rPr dirty="0" err="1"/>
              <a:t>הקריטית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יתרון</a:t>
            </a:r>
            <a:r>
              <a:rPr dirty="0"/>
              <a:t> </a:t>
            </a:r>
            <a:r>
              <a:rPr dirty="0" err="1"/>
              <a:t>מרכזי</a:t>
            </a:r>
            <a:r>
              <a:rPr dirty="0"/>
              <a:t>: </a:t>
            </a:r>
            <a:r>
              <a:rPr dirty="0" err="1"/>
              <a:t>שמירה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ביצועי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קשיחים</a:t>
            </a:r>
            <a:r>
              <a:rPr dirty="0"/>
              <a:t> (Real-Time) </a:t>
            </a:r>
            <a:r>
              <a:rPr dirty="0" err="1"/>
              <a:t>לצד</a:t>
            </a:r>
            <a:r>
              <a:rPr dirty="0"/>
              <a:t> </a:t>
            </a:r>
            <a:r>
              <a:rPr dirty="0" err="1"/>
              <a:t>גמישות</a:t>
            </a:r>
            <a:r>
              <a:rPr dirty="0"/>
              <a:t> </a:t>
            </a:r>
            <a:r>
              <a:rPr dirty="0" err="1"/>
              <a:t>אלגוריתמית</a:t>
            </a:r>
            <a:r>
              <a:rPr dirty="0"/>
              <a:t> </a:t>
            </a:r>
            <a:r>
              <a:rPr dirty="0" err="1"/>
              <a:t>גבוהה</a:t>
            </a:r>
            <a:r>
              <a:rPr dirty="0"/>
              <a:t>.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645BB0E1-7D7E-4FC6-9E99-3544F364F7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253" b="13721"/>
          <a:stretch/>
        </p:blipFill>
        <p:spPr>
          <a:xfrm>
            <a:off x="682631" y="3757807"/>
            <a:ext cx="8204622" cy="27378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2763</Words>
  <Application>Microsoft Office PowerPoint</Application>
  <PresentationFormat>‫הצגה על המסך (4:3)</PresentationFormat>
  <Paragraphs>304</Paragraphs>
  <Slides>29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פיתוח מערכת מבוססת FPGA להתראת נפילה לחולי דמנציה</vt:lpstr>
      <vt:lpstr>ארכיטקטורת המערכת</vt:lpstr>
      <vt:lpstr>מבוא ל-VGA קונספט תותח האלקטרונים (CRT)</vt:lpstr>
      <vt:lpstr>מבוא ל-VGA סריקה קווית (Raster Scan)</vt:lpstr>
      <vt:lpstr>תזמוני VGA: הפיזיקה מאחורי המספרים</vt:lpstr>
      <vt:lpstr>תזמונים בחומרה  (VGA Controller)</vt:lpstr>
      <vt:lpstr>מסלול הנתונים: חישוב כתובת הפיקסל ושליפה</vt:lpstr>
      <vt:lpstr>עיבוד הפיקסל:  ניתוב ל-RGB ומנגנון ה-Blanking</vt:lpstr>
      <vt:lpstr>המרת DAC  ומחבר ה-VGA</vt:lpstr>
      <vt:lpstr>משקלי הביטים:</vt:lpstr>
      <vt:lpstr>סיכום לקראת ארכיטקטורת החומרה</vt:lpstr>
      <vt:lpstr>מבט-על: זרימת נתונים ותחומי שעון</vt:lpstr>
      <vt:lpstr>ניהול שעונים במערכת  (Clock Generator)</vt:lpstr>
      <vt:lpstr>זיכרון הBRAM (Frame Buffer)</vt:lpstr>
      <vt:lpstr>ממשק המצלמה, מהעולם הפיזי אל הזיכרון</vt:lpstr>
      <vt:lpstr>ממשק הזיכרון (BRAM) ממדים וסנכרון נתונים</vt:lpstr>
      <vt:lpstr>אימות מסלול הנתונים  VGA Controller ↔ BRAM</vt:lpstr>
      <vt:lpstr>אימות התקן: מחזור שורה שלם (Ts)</vt:lpstr>
      <vt:lpstr>האזור הפעיל (Tdisp)</vt:lpstr>
      <vt:lpstr>Front Porch</vt:lpstr>
      <vt:lpstr>Back Porch</vt:lpstr>
      <vt:lpstr>Tpw</vt:lpstr>
      <vt:lpstr>מתאוריה לסיליקון</vt:lpstr>
      <vt:lpstr>דיבוג בתוך הסיליקון:    Vivado ILA  קופסה לבנה</vt:lpstr>
      <vt:lpstr>עלות הדיבוג: ניתוח Trade-offs</vt:lpstr>
      <vt:lpstr>Post-Silicon Validation</vt:lpstr>
      <vt:lpstr>סיכום: ModelSimמול ILA</vt:lpstr>
      <vt:lpstr>פיתוח עתידי:  מעבר מזיהוי תנועה גולמי ל-Edge AI</vt:lpstr>
      <vt:lpstr>ארכיטקטורה עתידית: חלוקת עבודה Hardware/Software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פיתוח מערכת מבוססת FPGA להתראת נפילה לחולי דמנציה</dc:title>
  <dc:subject/>
  <dc:creator>USER</dc:creator>
  <cp:keywords/>
  <dc:description>generated using python-pptx</dc:description>
  <cp:lastModifiedBy>yosi brim</cp:lastModifiedBy>
  <cp:revision>67</cp:revision>
  <dcterms:created xsi:type="dcterms:W3CDTF">2013-01-27T09:14:16Z</dcterms:created>
  <dcterms:modified xsi:type="dcterms:W3CDTF">2026-08-17T00:16:30Z</dcterms:modified>
  <cp:category/>
</cp:coreProperties>
</file>