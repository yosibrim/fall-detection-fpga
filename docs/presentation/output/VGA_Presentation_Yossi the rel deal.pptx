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88" r:id="rId8"/>
    <p:sldId id="263" r:id="rId9"/>
    <p:sldId id="264" r:id="rId10"/>
    <p:sldId id="265" r:id="rId11"/>
    <p:sldId id="267" r:id="rId12"/>
    <p:sldId id="268" r:id="rId13"/>
    <p:sldId id="269" r:id="rId14"/>
    <p:sldId id="271" r:id="rId15"/>
    <p:sldId id="272" r:id="rId16"/>
    <p:sldId id="273" r:id="rId17"/>
    <p:sldId id="277" r:id="rId18"/>
    <p:sldId id="276" r:id="rId19"/>
    <p:sldId id="274" r:id="rId20"/>
    <p:sldId id="275" r:id="rId21"/>
    <p:sldId id="278" r:id="rId22"/>
    <p:sldId id="279" r:id="rId23"/>
    <p:sldId id="280" r:id="rId24"/>
    <p:sldId id="287" r:id="rId25"/>
    <p:sldId id="281" r:id="rId26"/>
    <p:sldId id="282" r:id="rId27"/>
    <p:sldId id="284" r:id="rId28"/>
    <p:sldId id="286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9" d="100"/>
          <a:sy n="59" d="100"/>
        </p:scale>
        <p:origin x="150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07002FAE-C8C6-47A9-917F-069B340A5C16}" type="datetimeFigureOut">
              <a:rPr lang="he-IL" smtClean="0"/>
              <a:t>ו'/אלול/תשפ"ו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6BB60923-6C8D-45DF-8473-B9DD050EE40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80689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60923-6C8D-45DF-8473-B9DD050EE40B}" type="slidenum">
              <a:rPr lang="he-IL" smtClean="0"/>
              <a:t>20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982873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60923-6C8D-45DF-8473-B9DD050EE40B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157427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fi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5.jfi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fi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fi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fi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f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פיתוח</a:t>
            </a:r>
            <a:r>
              <a:rPr dirty="0"/>
              <a:t> </a:t>
            </a:r>
            <a:r>
              <a:rPr dirty="0" err="1"/>
              <a:t>מערכת</a:t>
            </a:r>
            <a:r>
              <a:rPr dirty="0"/>
              <a:t> </a:t>
            </a:r>
            <a:r>
              <a:rPr dirty="0" err="1"/>
              <a:t>מבוססת</a:t>
            </a:r>
            <a:r>
              <a:rPr dirty="0"/>
              <a:t> FPGA </a:t>
            </a:r>
            <a:r>
              <a:rPr lang="he-IL" dirty="0"/>
              <a:t> </a:t>
            </a:r>
            <a:r>
              <a:rPr dirty="0" err="1"/>
              <a:t>להתראת</a:t>
            </a:r>
            <a:r>
              <a:rPr dirty="0"/>
              <a:t> </a:t>
            </a:r>
            <a:r>
              <a:rPr dirty="0" err="1"/>
              <a:t>נפילה</a:t>
            </a:r>
            <a:r>
              <a:rPr dirty="0"/>
              <a:t> </a:t>
            </a:r>
            <a:r>
              <a:rPr dirty="0" err="1"/>
              <a:t>לחולי</a:t>
            </a:r>
            <a:r>
              <a:rPr dirty="0"/>
              <a:t> </a:t>
            </a:r>
            <a:r>
              <a:rPr dirty="0" err="1"/>
              <a:t>דמנציה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631675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תמונה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ממצלמת</a:t>
            </a:r>
            <a:r>
              <a:rPr dirty="0"/>
              <a:t> OV7670 </a:t>
            </a:r>
            <a:r>
              <a:rPr dirty="0" err="1"/>
              <a:t>והצגתה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כרטיס</a:t>
            </a:r>
            <a:r>
              <a:rPr dirty="0"/>
              <a:t> Artix-7.</a:t>
            </a:r>
          </a:p>
          <a:p>
            <a:pPr algn="ctr" rtl="1">
              <a:defRPr sz="1700"/>
            </a:pP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מנת</a:t>
            </a:r>
            <a:r>
              <a:rPr dirty="0"/>
              <a:t> </a:t>
            </a:r>
            <a:r>
              <a:rPr dirty="0" err="1"/>
              <a:t>לאפשר</a:t>
            </a:r>
            <a:r>
              <a:rPr dirty="0"/>
              <a:t> </a:t>
            </a:r>
            <a:r>
              <a:rPr dirty="0" err="1"/>
              <a:t>עיבוד</a:t>
            </a:r>
            <a:r>
              <a:rPr dirty="0"/>
              <a:t> </a:t>
            </a:r>
            <a:r>
              <a:rPr dirty="0" err="1"/>
              <a:t>תמונה</a:t>
            </a:r>
            <a:r>
              <a:rPr dirty="0"/>
              <a:t> </a:t>
            </a:r>
            <a:r>
              <a:rPr dirty="0" err="1"/>
              <a:t>לזיהויי</a:t>
            </a:r>
            <a:r>
              <a:rPr dirty="0"/>
              <a:t> </a:t>
            </a:r>
            <a:r>
              <a:rPr dirty="0" err="1"/>
              <a:t>עמידה</a:t>
            </a:r>
            <a:r>
              <a:rPr dirty="0"/>
              <a:t> </a:t>
            </a:r>
            <a:r>
              <a:rPr dirty="0" err="1"/>
              <a:t>ממושכת</a:t>
            </a:r>
            <a:r>
              <a:rPr dirty="0"/>
              <a:t> </a:t>
            </a:r>
            <a:r>
              <a:rPr dirty="0" err="1"/>
              <a:t>לחולי</a:t>
            </a:r>
            <a:r>
              <a:rPr dirty="0"/>
              <a:t> </a:t>
            </a:r>
            <a:r>
              <a:rPr dirty="0" err="1"/>
              <a:t>דמנציה</a:t>
            </a:r>
            <a:r>
              <a:rPr dirty="0"/>
              <a:t>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02912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8236" y="5760720"/>
            <a:ext cx="854753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rPr dirty="0" err="1"/>
              <a:t>מגיש</a:t>
            </a:r>
            <a:r>
              <a:rPr lang="he-IL" dirty="0"/>
              <a:t>ים</a:t>
            </a:r>
            <a:r>
              <a:rPr dirty="0"/>
              <a:t>: יוסי ברים</a:t>
            </a:r>
            <a:r>
              <a:rPr lang="he-IL" dirty="0"/>
              <a:t> ואלעד </a:t>
            </a:r>
            <a:r>
              <a:rPr lang="he-IL" dirty="0" err="1"/>
              <a:t>אסבג</a:t>
            </a:r>
            <a:r>
              <a:rPr dirty="0"/>
              <a:t> | </a:t>
            </a:r>
            <a:r>
              <a:rPr dirty="0" err="1"/>
              <a:t>הנדסת</a:t>
            </a:r>
            <a:r>
              <a:rPr dirty="0"/>
              <a:t> </a:t>
            </a:r>
            <a:r>
              <a:rPr dirty="0" err="1"/>
              <a:t>חשמל</a:t>
            </a:r>
            <a:r>
              <a:rPr dirty="0"/>
              <a:t> </a:t>
            </a:r>
            <a:r>
              <a:rPr dirty="0" err="1"/>
              <a:t>שנה</a:t>
            </a:r>
            <a:r>
              <a:rPr dirty="0"/>
              <a:t> ד| </a:t>
            </a:r>
            <a:r>
              <a:rPr dirty="0" err="1"/>
              <a:t>המרכז</a:t>
            </a:r>
            <a:r>
              <a:rPr dirty="0"/>
              <a:t> </a:t>
            </a:r>
            <a:r>
              <a:rPr dirty="0" err="1"/>
              <a:t>האקדמי</a:t>
            </a:r>
            <a:r>
              <a:rPr dirty="0"/>
              <a:t> </a:t>
            </a:r>
            <a:r>
              <a:rPr dirty="0" err="1"/>
              <a:t>לב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 rtl="1">
              <a:defRPr sz="1800"/>
            </a:pPr>
            <a:r>
              <a:rPr dirty="0" err="1"/>
              <a:t>נתוני</a:t>
            </a:r>
            <a:r>
              <a:rPr dirty="0"/>
              <a:t> </a:t>
            </a:r>
            <a:r>
              <a:rPr dirty="0" err="1"/>
              <a:t>התמונה</a:t>
            </a:r>
            <a:r>
              <a:rPr dirty="0"/>
              <a:t> </a:t>
            </a:r>
            <a:r>
              <a:rPr dirty="0" err="1"/>
              <a:t>הגולמיים</a:t>
            </a:r>
            <a:r>
              <a:rPr dirty="0"/>
              <a:t> </a:t>
            </a:r>
            <a:r>
              <a:rPr dirty="0" err="1"/>
              <a:t>נקלטים</a:t>
            </a:r>
            <a:r>
              <a:rPr dirty="0"/>
              <a:t> </a:t>
            </a:r>
            <a:r>
              <a:rPr dirty="0" err="1"/>
              <a:t>מהמצלמה</a:t>
            </a:r>
            <a:r>
              <a:rPr dirty="0"/>
              <a:t> </a:t>
            </a:r>
            <a:r>
              <a:rPr dirty="0" err="1"/>
              <a:t>ונאגרים</a:t>
            </a:r>
            <a:r>
              <a:rPr dirty="0"/>
              <a:t> </a:t>
            </a:r>
            <a:r>
              <a:rPr dirty="0" err="1"/>
              <a:t>בזיכרון</a:t>
            </a:r>
            <a:r>
              <a:rPr dirty="0"/>
              <a:t> ה-BRAM</a:t>
            </a:r>
          </a:p>
          <a:p>
            <a:pPr algn="r" rtl="1">
              <a:defRPr sz="1800"/>
            </a:pP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שולף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 </a:t>
            </a:r>
            <a:r>
              <a:rPr dirty="0" err="1"/>
              <a:t>ומעביר</a:t>
            </a:r>
            <a:r>
              <a:rPr dirty="0"/>
              <a:t> </a:t>
            </a:r>
            <a:r>
              <a:rPr dirty="0" err="1"/>
              <a:t>לממירD</a:t>
            </a:r>
            <a:r>
              <a:rPr dirty="0"/>
              <a:t> to A </a:t>
            </a:r>
            <a:r>
              <a:rPr lang="he-IL" dirty="0"/>
              <a:t> </a:t>
            </a:r>
            <a:r>
              <a:rPr dirty="0" err="1"/>
              <a:t>לקבלת</a:t>
            </a:r>
            <a:r>
              <a:rPr dirty="0"/>
              <a:t> </a:t>
            </a:r>
            <a:r>
              <a:rPr dirty="0" err="1"/>
              <a:t>אות</a:t>
            </a:r>
            <a:r>
              <a:rPr dirty="0"/>
              <a:t> </a:t>
            </a:r>
            <a:r>
              <a:rPr dirty="0" err="1"/>
              <a:t>אנלוגי</a:t>
            </a:r>
            <a:r>
              <a:rPr dirty="0"/>
              <a:t> </a:t>
            </a:r>
            <a:r>
              <a:rPr dirty="0" err="1"/>
              <a:t>פיזי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2240598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rPr dirty="0" err="1"/>
              <a:t>מערכת</a:t>
            </a:r>
            <a:r>
              <a:rPr dirty="0"/>
              <a:t> </a:t>
            </a:r>
            <a:r>
              <a:rPr dirty="0" err="1"/>
              <a:t>התראת</a:t>
            </a:r>
            <a:r>
              <a:rPr dirty="0"/>
              <a:t> </a:t>
            </a:r>
            <a:r>
              <a:rPr dirty="0" err="1"/>
              <a:t>נפילה</a:t>
            </a:r>
            <a:br>
              <a:rPr dirty="0"/>
            </a:br>
            <a:r>
              <a:rPr dirty="0" err="1"/>
              <a:t>מבוסס</a:t>
            </a:r>
            <a:r>
              <a:rPr dirty="0"/>
              <a:t>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8663" y="2110117"/>
            <a:ext cx="1841466" cy="12926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/>
            </a:pPr>
            <a:r>
              <a:rPr dirty="0"/>
              <a:t>Inputs:</a:t>
            </a:r>
            <a:br>
              <a:rPr dirty="0"/>
            </a:br>
            <a:r>
              <a:rPr dirty="0" err="1"/>
              <a:t>clk</a:t>
            </a:r>
            <a:r>
              <a:rPr dirty="0"/>
              <a:t>, reset</a:t>
            </a:r>
            <a:br>
              <a:rPr dirty="0"/>
            </a:br>
            <a:r>
              <a:rPr dirty="0"/>
              <a:t>ov7670_vsync, </a:t>
            </a:r>
            <a:r>
              <a:rPr dirty="0" err="1"/>
              <a:t>href</a:t>
            </a:r>
            <a:r>
              <a:rPr dirty="0"/>
              <a:t>, pclk</a:t>
            </a:r>
            <a:br>
              <a:rPr dirty="0"/>
            </a:br>
            <a:r>
              <a:rPr dirty="0"/>
              <a:t>ov7670_data[7:0]</a:t>
            </a:r>
            <a:br>
              <a:rPr dirty="0"/>
            </a:br>
            <a:r>
              <a:rPr dirty="0" err="1"/>
              <a:t>btn</a:t>
            </a:r>
            <a:r>
              <a:rPr dirty="0"/>
              <a:t>[1:0], </a:t>
            </a:r>
            <a:r>
              <a:rPr dirty="0" err="1"/>
              <a:t>sw</a:t>
            </a:r>
            <a:r>
              <a:rPr dirty="0"/>
              <a:t>[1:0]</a:t>
            </a:r>
            <a:br>
              <a:rPr dirty="0"/>
            </a:br>
            <a:r>
              <a:rPr dirty="0" err="1"/>
              <a:t>scl</a:t>
            </a:r>
            <a:r>
              <a:rPr dirty="0"/>
              <a:t>, </a:t>
            </a:r>
            <a:r>
              <a:rPr dirty="0" err="1"/>
              <a:t>sda</a:t>
            </a:r>
            <a:endParaRPr dirty="0"/>
          </a:p>
        </p:txBody>
      </p:sp>
      <p:sp>
        <p:nvSpPr>
          <p:cNvPr id="6" name="Right Arrow 5"/>
          <p:cNvSpPr/>
          <p:nvPr/>
        </p:nvSpPr>
        <p:spPr>
          <a:xfrm>
            <a:off x="2788920" y="3324422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0" y="2107793"/>
            <a:ext cx="1961947" cy="10926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/>
            </a:pPr>
            <a:r>
              <a:rPr dirty="0"/>
              <a:t>Outputs:</a:t>
            </a:r>
            <a:br>
              <a:rPr dirty="0"/>
            </a:br>
            <a:r>
              <a:rPr dirty="0"/>
              <a:t>VGA_HS_O, VGA_VS_O</a:t>
            </a:r>
            <a:br>
              <a:rPr dirty="0"/>
            </a:br>
            <a:r>
              <a:rPr dirty="0"/>
              <a:t>VGA_R[3:0], G[3:0], B[3:0]</a:t>
            </a:r>
            <a:br>
              <a:rPr dirty="0"/>
            </a:br>
            <a:r>
              <a:rPr dirty="0"/>
              <a:t>ov7670_xclk, </a:t>
            </a:r>
            <a:r>
              <a:rPr dirty="0" err="1"/>
              <a:t>pwdn</a:t>
            </a:r>
            <a:r>
              <a:rPr dirty="0"/>
              <a:t>, reset</a:t>
            </a:r>
            <a:br>
              <a:rPr dirty="0"/>
            </a:br>
            <a:endParaRPr dirty="0"/>
          </a:p>
        </p:txBody>
      </p:sp>
      <p:sp>
        <p:nvSpPr>
          <p:cNvPr id="8" name="Right Arrow 7"/>
          <p:cNvSpPr/>
          <p:nvPr/>
        </p:nvSpPr>
        <p:spPr>
          <a:xfrm>
            <a:off x="5669280" y="32918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מבוא</a:t>
            </a:r>
            <a:r>
              <a:rPr dirty="0"/>
              <a:t> ל-VGA</a:t>
            </a:r>
            <a:br>
              <a:rPr lang="he-IL" dirty="0"/>
            </a:br>
            <a:r>
              <a:rPr dirty="0" err="1"/>
              <a:t>קונספט</a:t>
            </a:r>
            <a:r>
              <a:rPr dirty="0"/>
              <a:t> </a:t>
            </a:r>
            <a:r>
              <a:rPr dirty="0" err="1"/>
              <a:t>תותח</a:t>
            </a:r>
            <a:r>
              <a:rPr dirty="0"/>
              <a:t> </a:t>
            </a:r>
            <a:r>
              <a:rPr dirty="0" err="1"/>
              <a:t>האלקטרונים</a:t>
            </a:r>
            <a:r>
              <a:rPr dirty="0"/>
              <a:t>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5310" y="1417638"/>
            <a:ext cx="853690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מקור</a:t>
            </a:r>
            <a:r>
              <a:rPr dirty="0"/>
              <a:t> </a:t>
            </a:r>
            <a:r>
              <a:rPr dirty="0" err="1"/>
              <a:t>הפרוטוקול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טכנולוגיית</a:t>
            </a:r>
            <a:r>
              <a:rPr dirty="0"/>
              <a:t> ה-VGA </a:t>
            </a:r>
            <a:r>
              <a:rPr dirty="0" err="1"/>
              <a:t>פותחה</a:t>
            </a:r>
            <a:r>
              <a:rPr dirty="0"/>
              <a:t> </a:t>
            </a:r>
            <a:r>
              <a:rPr dirty="0" err="1"/>
              <a:t>במקור</a:t>
            </a:r>
            <a:r>
              <a:rPr dirty="0"/>
              <a:t> </a:t>
            </a:r>
            <a:r>
              <a:rPr dirty="0" err="1"/>
              <a:t>עבור</a:t>
            </a:r>
            <a:r>
              <a:rPr dirty="0"/>
              <a:t> </a:t>
            </a:r>
            <a:r>
              <a:rPr dirty="0" err="1"/>
              <a:t>מסכי</a:t>
            </a:r>
            <a:r>
              <a:rPr dirty="0"/>
              <a:t> </a:t>
            </a:r>
            <a:r>
              <a:rPr dirty="0" err="1"/>
              <a:t>שפופרת</a:t>
            </a:r>
            <a:r>
              <a:rPr dirty="0"/>
              <a:t> </a:t>
            </a:r>
            <a:r>
              <a:rPr dirty="0" err="1"/>
              <a:t>קרן</a:t>
            </a:r>
            <a:r>
              <a:rPr dirty="0"/>
              <a:t> </a:t>
            </a:r>
            <a:r>
              <a:rPr dirty="0" err="1"/>
              <a:t>קתודית</a:t>
            </a:r>
            <a:r>
              <a:rPr dirty="0"/>
              <a:t> (CRT) </a:t>
            </a:r>
            <a:r>
              <a:rPr dirty="0" err="1"/>
              <a:t>המבוססים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פיזיקה</a:t>
            </a:r>
            <a:r>
              <a:rPr dirty="0"/>
              <a:t> </a:t>
            </a:r>
            <a:r>
              <a:rPr dirty="0" err="1"/>
              <a:t>אנלוגית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תותח</a:t>
            </a:r>
            <a:r>
              <a:rPr dirty="0"/>
              <a:t> </a:t>
            </a:r>
            <a:r>
              <a:rPr dirty="0" err="1"/>
              <a:t>אלקטרונים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המסך</a:t>
            </a:r>
            <a:r>
              <a:rPr dirty="0"/>
              <a:t> </a:t>
            </a:r>
            <a:r>
              <a:rPr dirty="0" err="1"/>
              <a:t>פועל</a:t>
            </a:r>
            <a:r>
              <a:rPr dirty="0"/>
              <a:t> </a:t>
            </a:r>
            <a:r>
              <a:rPr dirty="0" err="1"/>
              <a:t>באמצעות</a:t>
            </a:r>
            <a:r>
              <a:rPr dirty="0"/>
              <a:t> </a:t>
            </a:r>
            <a:r>
              <a:rPr dirty="0" err="1"/>
              <a:t>קרן</a:t>
            </a:r>
            <a:r>
              <a:rPr dirty="0"/>
              <a:t> </a:t>
            </a:r>
            <a:r>
              <a:rPr dirty="0" err="1"/>
              <a:t>פיזית</a:t>
            </a:r>
            <a:r>
              <a:rPr dirty="0"/>
              <a:t> </a:t>
            </a:r>
            <a:r>
              <a:rPr dirty="0" err="1"/>
              <a:t>הנורית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גבי</a:t>
            </a:r>
            <a:r>
              <a:rPr dirty="0"/>
              <a:t> </a:t>
            </a:r>
            <a:r>
              <a:rPr dirty="0" err="1"/>
              <a:t>מסך</a:t>
            </a:r>
            <a:r>
              <a:rPr dirty="0"/>
              <a:t> </a:t>
            </a:r>
            <a:r>
              <a:rPr dirty="0" err="1"/>
              <a:t>מצופה</a:t>
            </a:r>
            <a:r>
              <a:rPr dirty="0"/>
              <a:t> </a:t>
            </a:r>
            <a:r>
              <a:rPr dirty="0" err="1"/>
              <a:t>זרחן</a:t>
            </a:r>
            <a:r>
              <a:rPr dirty="0"/>
              <a:t>. </a:t>
            </a:r>
            <a:r>
              <a:rPr dirty="0" err="1"/>
              <a:t>עוצמת</a:t>
            </a:r>
            <a:r>
              <a:rPr dirty="0"/>
              <a:t> </a:t>
            </a:r>
            <a:r>
              <a:rPr dirty="0" err="1"/>
              <a:t>הזרם</a:t>
            </a:r>
            <a:r>
              <a:rPr dirty="0"/>
              <a:t> </a:t>
            </a:r>
            <a:r>
              <a:rPr dirty="0" err="1"/>
              <a:t>קובעת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עוצמת</a:t>
            </a:r>
            <a:r>
              <a:rPr dirty="0"/>
              <a:t> </a:t>
            </a:r>
            <a:r>
              <a:rPr dirty="0" err="1"/>
              <a:t>ההארה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פיקסל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למרות</a:t>
            </a:r>
            <a:r>
              <a:rPr dirty="0"/>
              <a:t> </a:t>
            </a:r>
            <a:r>
              <a:rPr dirty="0" err="1"/>
              <a:t>שכיום</a:t>
            </a:r>
            <a:r>
              <a:rPr dirty="0"/>
              <a:t> </a:t>
            </a:r>
            <a:r>
              <a:rPr dirty="0" err="1"/>
              <a:t>המסכים</a:t>
            </a:r>
            <a:r>
              <a:rPr dirty="0"/>
              <a:t> </a:t>
            </a:r>
            <a:r>
              <a:rPr dirty="0" err="1"/>
              <a:t>מודרניים</a:t>
            </a:r>
            <a:r>
              <a:rPr dirty="0"/>
              <a:t>, </a:t>
            </a:r>
            <a:r>
              <a:rPr dirty="0" err="1"/>
              <a:t>הפרוטוקול</a:t>
            </a:r>
            <a:r>
              <a:rPr dirty="0"/>
              <a:t> </a:t>
            </a:r>
            <a:r>
              <a:rPr dirty="0" err="1"/>
              <a:t>מחייב</a:t>
            </a:r>
            <a:r>
              <a:rPr dirty="0"/>
              <a:t> </a:t>
            </a:r>
            <a:r>
              <a:rPr dirty="0" err="1"/>
              <a:t>שידור</a:t>
            </a:r>
            <a:r>
              <a:rPr dirty="0"/>
              <a:t> </a:t>
            </a: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השהייה</a:t>
            </a:r>
            <a:r>
              <a:rPr dirty="0"/>
              <a:t> </a:t>
            </a:r>
            <a:r>
              <a:rPr dirty="0" err="1"/>
              <a:t>שיאפשרו</a:t>
            </a:r>
            <a:r>
              <a:rPr dirty="0"/>
              <a:t> </a:t>
            </a:r>
            <a:r>
              <a:rPr dirty="0" err="1"/>
              <a:t>לקרן</a:t>
            </a:r>
            <a:r>
              <a:rPr dirty="0"/>
              <a:t> </a:t>
            </a:r>
            <a:r>
              <a:rPr dirty="0" err="1"/>
              <a:t>הפיזית</a:t>
            </a:r>
            <a:r>
              <a:rPr dirty="0"/>
              <a:t>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תנועה</a:t>
            </a:r>
            <a:r>
              <a:rPr dirty="0"/>
              <a:t> </a:t>
            </a:r>
            <a:r>
              <a:rPr dirty="0" err="1"/>
              <a:t>וחזרה</a:t>
            </a:r>
            <a:r>
              <a:rPr dirty="0"/>
              <a:t>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 rotWithShape="1">
          <a:blip r:embed="rId2"/>
          <a:srcRect t="4554"/>
          <a:stretch/>
        </p:blipFill>
        <p:spPr>
          <a:xfrm>
            <a:off x="2974428" y="3636579"/>
            <a:ext cx="3368564" cy="25568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339429" y="154895"/>
            <a:ext cx="10040066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מבוא</a:t>
            </a:r>
            <a:r>
              <a:rPr dirty="0"/>
              <a:t> ל-VGA</a:t>
            </a:r>
            <a:br>
              <a:rPr lang="he-IL" dirty="0"/>
            </a:br>
            <a:r>
              <a:rPr dirty="0" err="1"/>
              <a:t>סריקה</a:t>
            </a:r>
            <a:r>
              <a:rPr dirty="0"/>
              <a:t> </a:t>
            </a:r>
            <a:r>
              <a:rPr dirty="0" err="1"/>
              <a:t>קווית</a:t>
            </a:r>
            <a:r>
              <a:rPr dirty="0"/>
              <a:t>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7457" y="1395476"/>
            <a:ext cx="8686295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הציור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</a:t>
            </a:r>
            <a:r>
              <a:rPr dirty="0" err="1"/>
              <a:t>מבוסס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קרן</a:t>
            </a:r>
            <a:r>
              <a:rPr dirty="0"/>
              <a:t> </a:t>
            </a:r>
            <a:r>
              <a:rPr dirty="0" err="1"/>
              <a:t>שסורקת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משמאל</a:t>
            </a:r>
            <a:r>
              <a:rPr dirty="0"/>
              <a:t> </a:t>
            </a:r>
            <a:r>
              <a:rPr dirty="0" err="1"/>
              <a:t>לימין</a:t>
            </a:r>
            <a:r>
              <a:rPr lang="he-IL" dirty="0"/>
              <a:t> (שורה) </a:t>
            </a:r>
            <a:r>
              <a:rPr dirty="0" err="1"/>
              <a:t>ומלמעלה</a:t>
            </a:r>
            <a:r>
              <a:rPr dirty="0"/>
              <a:t> </a:t>
            </a:r>
            <a:r>
              <a:rPr dirty="0" err="1"/>
              <a:t>למטה</a:t>
            </a:r>
            <a:r>
              <a:rPr dirty="0"/>
              <a:t> </a:t>
            </a:r>
            <a:r>
              <a:rPr lang="he-IL" dirty="0"/>
              <a:t>(פריים)</a:t>
            </a:r>
          </a:p>
          <a:p>
            <a:pPr algn="r" rtl="1">
              <a:defRPr sz="1600"/>
            </a:pPr>
            <a:endParaRPr lang="he-IL"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תנועת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</a:t>
            </a:r>
            <a:r>
              <a:rPr dirty="0" err="1"/>
              <a:t>חייבת</a:t>
            </a:r>
            <a:r>
              <a:rPr dirty="0"/>
              <a:t> </a:t>
            </a:r>
            <a:r>
              <a:rPr dirty="0" err="1"/>
              <a:t>להיות</a:t>
            </a:r>
            <a:r>
              <a:rPr dirty="0"/>
              <a:t> </a:t>
            </a:r>
            <a:r>
              <a:rPr dirty="0" err="1"/>
              <a:t>רציפה</a:t>
            </a:r>
            <a:r>
              <a:rPr dirty="0"/>
              <a:t>, </a:t>
            </a:r>
            <a:r>
              <a:rPr dirty="0" err="1"/>
              <a:t>מה</a:t>
            </a:r>
            <a:r>
              <a:rPr dirty="0"/>
              <a:t> </a:t>
            </a:r>
            <a:r>
              <a:rPr dirty="0" err="1"/>
              <a:t>שיוצר</a:t>
            </a:r>
            <a:r>
              <a:rPr dirty="0"/>
              <a:t> </a:t>
            </a:r>
            <a:r>
              <a:rPr dirty="0" err="1"/>
              <a:t>מסלול</a:t>
            </a:r>
            <a:r>
              <a:rPr dirty="0"/>
              <a:t> </a:t>
            </a:r>
            <a:r>
              <a:rPr dirty="0" err="1"/>
              <a:t>בצורת</a:t>
            </a:r>
            <a:r>
              <a:rPr dirty="0"/>
              <a:t> '</a:t>
            </a:r>
            <a:r>
              <a:rPr dirty="0" err="1"/>
              <a:t>זיגזג</a:t>
            </a:r>
            <a:r>
              <a:rPr dirty="0"/>
              <a:t>'.</a:t>
            </a:r>
            <a:endParaRPr lang="he-IL" dirty="0"/>
          </a:p>
          <a:p>
            <a:pPr algn="r" rtl="1">
              <a:defRPr sz="1600"/>
            </a:pP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בכל</a:t>
            </a:r>
            <a:r>
              <a:rPr dirty="0"/>
              <a:t> </a:t>
            </a:r>
            <a:r>
              <a:rPr dirty="0" err="1"/>
              <a:t>פעם</a:t>
            </a:r>
            <a:r>
              <a:rPr dirty="0"/>
              <a:t> </a:t>
            </a:r>
            <a:r>
              <a:rPr dirty="0" err="1"/>
              <a:t>שהקרן</a:t>
            </a:r>
            <a:r>
              <a:rPr dirty="0"/>
              <a:t> </a:t>
            </a:r>
            <a:r>
              <a:rPr dirty="0" err="1"/>
              <a:t>מגיעה</a:t>
            </a:r>
            <a:r>
              <a:rPr dirty="0"/>
              <a:t> </a:t>
            </a:r>
            <a:r>
              <a:rPr dirty="0" err="1"/>
              <a:t>לקצה</a:t>
            </a:r>
            <a:r>
              <a:rPr dirty="0"/>
              <a:t> (</a:t>
            </a:r>
            <a:r>
              <a:rPr dirty="0" err="1"/>
              <a:t>אופקי</a:t>
            </a:r>
            <a:r>
              <a:rPr dirty="0"/>
              <a:t>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אנכי</a:t>
            </a:r>
            <a:r>
              <a:rPr dirty="0"/>
              <a:t>), </a:t>
            </a:r>
            <a:r>
              <a:rPr dirty="0" err="1"/>
              <a:t>נדרש</a:t>
            </a:r>
            <a:r>
              <a:rPr dirty="0"/>
              <a:t>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להחזיר</a:t>
            </a:r>
            <a:r>
              <a:rPr dirty="0"/>
              <a:t> </a:t>
            </a:r>
            <a:r>
              <a:rPr dirty="0" err="1"/>
              <a:t>אותה</a:t>
            </a:r>
            <a:r>
              <a:rPr dirty="0"/>
              <a:t> </a:t>
            </a:r>
            <a:r>
              <a:rPr dirty="0" err="1"/>
              <a:t>לנקודת</a:t>
            </a:r>
            <a:r>
              <a:rPr dirty="0"/>
              <a:t> </a:t>
            </a:r>
            <a:r>
              <a:rPr dirty="0" err="1"/>
              <a:t>ההתחלה</a:t>
            </a:r>
            <a:r>
              <a:rPr dirty="0"/>
              <a:t>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773" y="2995914"/>
            <a:ext cx="5990896" cy="38611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8635"/>
            <a:ext cx="8360229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תזמוני</a:t>
            </a:r>
            <a:r>
              <a:rPr dirty="0"/>
              <a:t> VGA</a:t>
            </a:r>
            <a:r>
              <a:rPr lang="he-IL" dirty="0"/>
              <a:t>:</a:t>
            </a:r>
            <a:br>
              <a:rPr lang="he-IL" dirty="0"/>
            </a:br>
            <a:r>
              <a:rPr dirty="0" err="1"/>
              <a:t>הפיזיקה</a:t>
            </a:r>
            <a:r>
              <a:rPr dirty="0"/>
              <a:t> </a:t>
            </a:r>
            <a:r>
              <a:rPr dirty="0" err="1"/>
              <a:t>מאחורי</a:t>
            </a:r>
            <a:r>
              <a:rPr dirty="0"/>
              <a:t> </a:t>
            </a:r>
            <a:r>
              <a:rPr dirty="0" err="1"/>
              <a:t>המספרים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457200"/>
              </p:ext>
            </p:extLst>
          </p:nvPr>
        </p:nvGraphicFramePr>
        <p:xfrm>
          <a:off x="457200" y="2326105"/>
          <a:ext cx="8229600" cy="3705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6155"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המימוש שלנו (RTL)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מכת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מתח</a:t>
                      </a:r>
                      <a:r>
                        <a:rPr dirty="0"/>
                        <a:t> </a:t>
                      </a:r>
                      <a:r>
                        <a:rPr lang="he-IL" dirty="0"/>
                        <a:t>(</a:t>
                      </a:r>
                      <a:r>
                        <a:rPr dirty="0" err="1"/>
                        <a:t>טריגר</a:t>
                      </a:r>
                      <a:r>
                        <a:rPr lang="he-IL" dirty="0"/>
                        <a:t>)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שמאלצת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את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הקרן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לקפוץ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חזרה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שמאלה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המשך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השהיית</a:t>
                      </a:r>
                      <a:r>
                        <a:rPr dirty="0"/>
                        <a:t> ה-RGB </a:t>
                      </a:r>
                      <a:r>
                        <a:rPr dirty="0" err="1"/>
                        <a:t>על</a:t>
                      </a:r>
                      <a:r>
                        <a:rPr dirty="0"/>
                        <a:t> '0000' </a:t>
                      </a:r>
                      <a:r>
                        <a:rPr dirty="0" err="1"/>
                        <a:t>עד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הגעה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לפיקסל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הראשון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966" y="176604"/>
            <a:ext cx="8229600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lang="he-IL" dirty="0"/>
              <a:t>תזמונים בחומרה </a:t>
            </a:r>
            <a:br>
              <a:rPr lang="he-IL" dirty="0"/>
            </a:br>
            <a:r>
              <a:rPr lang="he-IL" dirty="0"/>
              <a:t>(</a:t>
            </a:r>
            <a:r>
              <a:rPr lang="en-US" dirty="0"/>
              <a:t>VGA Controller</a:t>
            </a:r>
            <a:r>
              <a:rPr lang="he-IL" dirty="0"/>
              <a:t>)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2503" y="1089898"/>
            <a:ext cx="8044297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lang="he-IL" dirty="0"/>
              <a:t>בעיקרון המניות הם אופקי </a:t>
            </a:r>
            <a:r>
              <a:rPr lang="he-IL" dirty="0" err="1"/>
              <a:t>ואנכי,אנו</a:t>
            </a:r>
            <a:r>
              <a:rPr lang="he-IL" dirty="0"/>
              <a:t> נתמקד באופקי</a:t>
            </a:r>
          </a:p>
          <a:p>
            <a:pPr marL="285750" indent="-285750" algn="r" rtl="1">
              <a:buFont typeface="Arial" panose="020B0604020202020204" pitchFamily="34" charset="0"/>
              <a:buChar char="•"/>
              <a:defRPr sz="1600"/>
            </a:pP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שלם</a:t>
            </a:r>
            <a:r>
              <a:rPr dirty="0"/>
              <a:t> </a:t>
            </a:r>
            <a:r>
              <a:rPr lang="he-IL" dirty="0"/>
              <a:t>(800 פיקסלים):</a:t>
            </a:r>
          </a:p>
          <a:p>
            <a:pPr algn="r" rtl="1">
              <a:defRPr sz="1600"/>
            </a:pPr>
            <a:r>
              <a:rPr dirty="0" err="1"/>
              <a:t>חיבור</a:t>
            </a:r>
            <a:r>
              <a:rPr dirty="0"/>
              <a:t> </a:t>
            </a:r>
            <a:r>
              <a:rPr dirty="0" err="1"/>
              <a:t>הערכים</a:t>
            </a:r>
            <a:r>
              <a:rPr dirty="0"/>
              <a:t> (640+16+96+48) </a:t>
            </a:r>
            <a:r>
              <a:rPr dirty="0" err="1"/>
              <a:t>דורש</a:t>
            </a:r>
            <a:r>
              <a:rPr dirty="0"/>
              <a:t> </a:t>
            </a:r>
            <a:r>
              <a:rPr dirty="0" err="1"/>
              <a:t>מהמונה</a:t>
            </a:r>
            <a:r>
              <a:rPr dirty="0"/>
              <a:t> </a:t>
            </a:r>
            <a:r>
              <a:rPr dirty="0" err="1"/>
              <a:t>האופקי</a:t>
            </a:r>
            <a:r>
              <a:rPr dirty="0"/>
              <a:t> (</a:t>
            </a:r>
            <a:r>
              <a:rPr lang="en-US" dirty="0" err="1"/>
              <a:t>hsync_reg</a:t>
            </a:r>
            <a:r>
              <a:rPr dirty="0"/>
              <a:t>) </a:t>
            </a:r>
            <a:r>
              <a:rPr dirty="0" err="1"/>
              <a:t>לספור</a:t>
            </a:r>
            <a:r>
              <a:rPr dirty="0"/>
              <a:t> מ-0 </a:t>
            </a:r>
            <a:r>
              <a:rPr dirty="0" err="1"/>
              <a:t>ועד</a:t>
            </a:r>
            <a:r>
              <a:rPr dirty="0"/>
              <a:t> 799.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פיקסל</a:t>
            </a:r>
            <a:r>
              <a:rPr dirty="0"/>
              <a:t> 25MHz</a:t>
            </a:r>
            <a:r>
              <a:rPr lang="he-IL" dirty="0"/>
              <a:t> :</a:t>
            </a:r>
          </a:p>
          <a:p>
            <a:pPr algn="r" rtl="1">
              <a:defRPr sz="1600"/>
            </a:pPr>
            <a:r>
              <a:rPr dirty="0" err="1"/>
              <a:t>כל</a:t>
            </a:r>
            <a:r>
              <a:rPr dirty="0"/>
              <a:t> '</a:t>
            </a:r>
            <a:r>
              <a:rPr dirty="0" err="1"/>
              <a:t>פיקסל</a:t>
            </a:r>
            <a:r>
              <a:rPr dirty="0"/>
              <a:t>' </a:t>
            </a:r>
            <a:r>
              <a:rPr dirty="0" err="1"/>
              <a:t>שקול</a:t>
            </a:r>
            <a:r>
              <a:rPr dirty="0"/>
              <a:t> </a:t>
            </a:r>
            <a:r>
              <a:rPr dirty="0" err="1"/>
              <a:t>למחזור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אחד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40ns. </a:t>
            </a:r>
            <a:r>
              <a:rPr lang="he-IL" dirty="0"/>
              <a:t>,</a:t>
            </a:r>
            <a:r>
              <a:rPr dirty="0" err="1"/>
              <a:t>סנכרון</a:t>
            </a:r>
            <a:r>
              <a:rPr dirty="0"/>
              <a:t>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מבטיח</a:t>
            </a:r>
            <a:r>
              <a:rPr dirty="0"/>
              <a:t> </a:t>
            </a:r>
            <a:r>
              <a:rPr dirty="0" err="1"/>
              <a:t>קצב</a:t>
            </a:r>
            <a:r>
              <a:rPr dirty="0"/>
              <a:t> </a:t>
            </a:r>
            <a:r>
              <a:rPr dirty="0" err="1"/>
              <a:t>ריענון</a:t>
            </a:r>
            <a:r>
              <a:rPr dirty="0"/>
              <a:t> </a:t>
            </a:r>
            <a:r>
              <a:rPr dirty="0" err="1"/>
              <a:t>תקני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60Hz.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(זמן חישוב של מטריצה </a:t>
            </a:r>
            <a:r>
              <a:rPr lang="he-IL" dirty="0" err="1"/>
              <a:t>שלמה,שורות</a:t>
            </a:r>
            <a:r>
              <a:rPr lang="he-IL" dirty="0"/>
              <a:t> על עמודות)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אכיפת</a:t>
            </a:r>
            <a:r>
              <a:rPr dirty="0"/>
              <a:t> </a:t>
            </a:r>
            <a:r>
              <a:rPr lang="he-IL" dirty="0"/>
              <a:t>השחרה מחוץ לתחום:</a:t>
            </a:r>
          </a:p>
          <a:p>
            <a:pPr algn="r" rtl="1">
              <a:defRPr sz="1600"/>
            </a:pPr>
            <a:r>
              <a:rPr dirty="0" err="1"/>
              <a:t>מחוץ</a:t>
            </a:r>
            <a:r>
              <a:rPr dirty="0"/>
              <a:t> </a:t>
            </a:r>
            <a:r>
              <a:rPr dirty="0" err="1"/>
              <a:t>לתחום</a:t>
            </a:r>
            <a:r>
              <a:rPr dirty="0"/>
              <a:t> ה-640,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</a:t>
            </a:r>
            <a:r>
              <a:rPr dirty="0" err="1"/>
              <a:t>מאלצת</a:t>
            </a:r>
            <a:r>
              <a:rPr dirty="0"/>
              <a:t> "0000" ב-RGB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למנוע</a:t>
            </a:r>
            <a:r>
              <a:rPr dirty="0"/>
              <a:t> '</a:t>
            </a:r>
            <a:r>
              <a:rPr dirty="0" err="1"/>
              <a:t>מריחות</a:t>
            </a:r>
            <a:r>
              <a:rPr dirty="0"/>
              <a:t>' </a:t>
            </a:r>
            <a:r>
              <a:rPr dirty="0" err="1"/>
              <a:t>צבע</a:t>
            </a:r>
            <a:r>
              <a:rPr dirty="0"/>
              <a:t> </a:t>
            </a:r>
            <a:r>
              <a:rPr dirty="0" err="1"/>
              <a:t>בעת</a:t>
            </a:r>
            <a:r>
              <a:rPr dirty="0"/>
              <a:t> </a:t>
            </a:r>
            <a:r>
              <a:rPr dirty="0" err="1"/>
              <a:t>תנועת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36178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730" y="3615058"/>
            <a:ext cx="3520915" cy="32429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1016F80-F95D-4CA5-A2E1-AA093B411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28" y="0"/>
            <a:ext cx="8686799" cy="1228040"/>
          </a:xfrm>
        </p:spPr>
        <p:txBody>
          <a:bodyPr/>
          <a:lstStyle/>
          <a:p>
            <a:r>
              <a:rPr lang="he-IL" dirty="0"/>
              <a:t>מילון אותות מרכזיים</a:t>
            </a:r>
          </a:p>
        </p:txBody>
      </p:sp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FB65AD89-7790-4637-AE13-D8FB7F12A232}"/>
              </a:ext>
            </a:extLst>
          </p:cNvPr>
          <p:cNvSpPr txBox="1"/>
          <p:nvPr/>
        </p:nvSpPr>
        <p:spPr>
          <a:xfrm>
            <a:off x="132285" y="1228040"/>
            <a:ext cx="898048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b="1" dirty="0"/>
              <a:t>שעון ומוני בסיס</a:t>
            </a:r>
          </a:p>
          <a:p>
            <a:pPr algn="r"/>
            <a:endParaRPr lang="he-IL" b="1" dirty="0"/>
          </a:p>
          <a:p>
            <a:pPr algn="r"/>
            <a:r>
              <a:rPr lang="he-IL" dirty="0"/>
              <a:t>שעון הפיקסלים (25 מגה הרץ) של הבקר ,מניע את הלוגיקה</a:t>
            </a:r>
            <a:r>
              <a:rPr lang="en-US" dirty="0"/>
              <a:t> :</a:t>
            </a:r>
            <a:r>
              <a:rPr lang="en-US" dirty="0" err="1"/>
              <a:t>pxl_clk</a:t>
            </a:r>
            <a:endParaRPr lang="en-US" dirty="0"/>
          </a:p>
          <a:p>
            <a:pPr algn="r"/>
            <a:r>
              <a:rPr lang="he-IL" dirty="0"/>
              <a:t>מונים המייצגים את מיקום הפיקסל הנוכחי על </a:t>
            </a:r>
            <a:r>
              <a:rPr lang="he-IL" dirty="0" err="1"/>
              <a:t>המסך,אנחנו</a:t>
            </a:r>
            <a:r>
              <a:rPr lang="he-IL" dirty="0"/>
              <a:t> נתמקד באופקי</a:t>
            </a:r>
            <a:r>
              <a:rPr lang="en-US" dirty="0"/>
              <a:t>  :</a:t>
            </a:r>
            <a:r>
              <a:rPr lang="en-US" dirty="0" err="1"/>
              <a:t>vsync_reg</a:t>
            </a:r>
            <a:r>
              <a:rPr lang="en-US" dirty="0"/>
              <a:t>/</a:t>
            </a:r>
            <a:r>
              <a:rPr lang="en-US" dirty="0" err="1"/>
              <a:t>hsync_reg</a:t>
            </a:r>
            <a:endParaRPr lang="en-US" dirty="0"/>
          </a:p>
          <a:p>
            <a:pPr algn="r"/>
            <a:r>
              <a:rPr lang="he-IL" b="1" dirty="0"/>
              <a:t> ממשק הזיכרון</a:t>
            </a:r>
          </a:p>
          <a:p>
            <a:pPr algn="r"/>
            <a:r>
              <a:rPr lang="he-IL" b="1" dirty="0"/>
              <a:t> </a:t>
            </a:r>
            <a:r>
              <a:rPr lang="en-US" b="1" dirty="0"/>
              <a:t>BRAM</a:t>
            </a:r>
            <a:endParaRPr lang="he-IL" b="1" dirty="0"/>
          </a:p>
          <a:p>
            <a:pPr algn="r"/>
            <a:r>
              <a:rPr lang="he-IL" dirty="0"/>
              <a:t>אפיק הכתובת המחושב(בגודל 19 ביטים),הנשלח אל הזיכרון כדי לשלוף את הפיקסל הרלוונטי</a:t>
            </a:r>
            <a:r>
              <a:rPr lang="en-US" dirty="0"/>
              <a:t> :</a:t>
            </a:r>
            <a:r>
              <a:rPr lang="en-US" dirty="0" err="1"/>
              <a:t>addrb</a:t>
            </a:r>
            <a:endParaRPr lang="he-IL" dirty="0"/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6527B4C6-5779-49A3-AEC0-FE0506B00903}"/>
              </a:ext>
            </a:extLst>
          </p:cNvPr>
          <p:cNvSpPr txBox="1"/>
          <p:nvPr/>
        </p:nvSpPr>
        <p:spPr>
          <a:xfrm>
            <a:off x="-148443" y="3086485"/>
            <a:ext cx="9303253" cy="369331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he-IL" dirty="0"/>
              <a:t> </a:t>
            </a:r>
            <a:r>
              <a:rPr lang="en-US" dirty="0"/>
              <a:t> :doubt</a:t>
            </a:r>
            <a:r>
              <a:rPr lang="he-IL" dirty="0"/>
              <a:t>אפיק הנתונים (12 ביט) החוזר מהזיכרון ונושא את ערך הצבע</a:t>
            </a:r>
          </a:p>
          <a:p>
            <a:pPr algn="r" rtl="1"/>
            <a:r>
              <a:rPr lang="he-IL" b="1" dirty="0"/>
              <a:t>שליחת הנתונים ובקרה </a:t>
            </a:r>
          </a:p>
          <a:p>
            <a:pPr algn="r" rtl="1"/>
            <a:endParaRPr lang="he-IL" b="1" dirty="0"/>
          </a:p>
          <a:p>
            <a:pPr algn="r" rtl="1"/>
            <a:r>
              <a:rPr lang="en-US" dirty="0" err="1"/>
              <a:t>In_display_area</a:t>
            </a:r>
            <a:r>
              <a:rPr lang="he-IL" dirty="0"/>
              <a:t>: דגל לוגי המציין שאנחנו נמצאים בתוך האזור תצוגה הפעיל(כאשר הדגל פעיל)</a:t>
            </a:r>
          </a:p>
          <a:p>
            <a:pPr algn="r" rtl="1"/>
            <a:r>
              <a:rPr lang="en-US" dirty="0"/>
              <a:t> :</a:t>
            </a:r>
            <a:r>
              <a:rPr lang="en-US" dirty="0" err="1"/>
              <a:t>Pxl_data_reg</a:t>
            </a:r>
            <a:r>
              <a:rPr lang="he-IL" dirty="0"/>
              <a:t>רגיסטר הדגימה שאחראי על ייצוב הנתונים שנשלפים מהזיכרון(שהוא א סינכרוני),ולמנוע </a:t>
            </a:r>
            <a:r>
              <a:rPr lang="he-IL" dirty="0" err="1"/>
              <a:t>גליצים</a:t>
            </a:r>
            <a:r>
              <a:rPr lang="he-IL" dirty="0"/>
              <a:t> </a:t>
            </a:r>
            <a:r>
              <a:rPr lang="he-IL" dirty="0" err="1"/>
              <a:t>וכו</a:t>
            </a:r>
            <a:endParaRPr lang="he-IL" dirty="0"/>
          </a:p>
          <a:p>
            <a:pPr algn="r" rtl="1"/>
            <a:r>
              <a:rPr lang="en-US" dirty="0" err="1"/>
              <a:t>In_display_area_delayed</a:t>
            </a:r>
            <a:r>
              <a:rPr lang="he-IL" dirty="0"/>
              <a:t>: כמו הדגל </a:t>
            </a:r>
            <a:r>
              <a:rPr lang="he-IL" dirty="0" err="1"/>
              <a:t>למעלה,רק</a:t>
            </a:r>
            <a:r>
              <a:rPr lang="he-IL" dirty="0"/>
              <a:t> מושהה במחזור </a:t>
            </a:r>
            <a:r>
              <a:rPr lang="he-IL" dirty="0" err="1"/>
              <a:t>אחד,בגלל</a:t>
            </a:r>
            <a:r>
              <a:rPr lang="he-IL" dirty="0"/>
              <a:t> העיקוב שמיוצר </a:t>
            </a:r>
            <a:r>
              <a:rPr lang="he-IL" dirty="0" err="1"/>
              <a:t>מרגיסר</a:t>
            </a:r>
            <a:r>
              <a:rPr lang="he-IL" dirty="0"/>
              <a:t> הדגימה</a:t>
            </a:r>
          </a:p>
          <a:p>
            <a:pPr algn="r" rtl="1"/>
            <a:r>
              <a:rPr lang="he-IL" b="1" dirty="0"/>
              <a:t>יציאות פיזיות</a:t>
            </a:r>
          </a:p>
          <a:p>
            <a:pPr algn="r" rtl="1"/>
            <a:endParaRPr lang="he-IL" b="1" dirty="0"/>
          </a:p>
          <a:p>
            <a:pPr algn="r" rtl="1"/>
            <a:r>
              <a:rPr lang="en-US" dirty="0"/>
              <a:t>VGA VGA_G VGA_B</a:t>
            </a:r>
            <a:r>
              <a:rPr lang="he-IL" dirty="0"/>
              <a:t>ֹ_</a:t>
            </a:r>
            <a:r>
              <a:rPr lang="en-US" dirty="0"/>
              <a:t>   :R</a:t>
            </a:r>
            <a:r>
              <a:rPr lang="he-IL" dirty="0"/>
              <a:t>אותות ערוצי הצבע שמנותבים מהרגיסטר </a:t>
            </a:r>
            <a:r>
              <a:rPr lang="he-IL" dirty="0" err="1"/>
              <a:t>דגימה,ישירות</a:t>
            </a:r>
            <a:r>
              <a:rPr lang="he-IL" dirty="0"/>
              <a:t> אל הפינים הפיזיים</a:t>
            </a:r>
          </a:p>
          <a:p>
            <a:pPr algn="r" rtl="1"/>
            <a:r>
              <a:rPr lang="he-IL" dirty="0"/>
              <a:t>של המסך(ניתן לראות זאת מפורש בדגימה </a:t>
            </a:r>
            <a:r>
              <a:rPr lang="he-IL" dirty="0" err="1"/>
              <a:t>באקסה</a:t>
            </a:r>
            <a:r>
              <a:rPr lang="he-IL" dirty="0"/>
              <a:t>)</a:t>
            </a:r>
          </a:p>
          <a:p>
            <a:pPr algn="r" rtl="1"/>
            <a:r>
              <a:rPr lang="en-US" dirty="0"/>
              <a:t>VGA</a:t>
            </a:r>
            <a:r>
              <a:rPr lang="he-IL" dirty="0"/>
              <a:t>_</a:t>
            </a:r>
            <a:r>
              <a:rPr lang="en-US" dirty="0"/>
              <a:t>HS</a:t>
            </a:r>
            <a:r>
              <a:rPr lang="he-IL" dirty="0"/>
              <a:t>_</a:t>
            </a:r>
            <a:r>
              <a:rPr lang="en-US" dirty="0"/>
              <a:t>O</a:t>
            </a:r>
            <a:r>
              <a:rPr lang="he-IL" dirty="0"/>
              <a:t> ,</a:t>
            </a:r>
            <a:r>
              <a:rPr lang="en-US" dirty="0"/>
              <a:t>VGA</a:t>
            </a:r>
            <a:r>
              <a:rPr lang="he-IL" dirty="0"/>
              <a:t>_</a:t>
            </a:r>
            <a:r>
              <a:rPr lang="en-US" dirty="0"/>
              <a:t>VS</a:t>
            </a:r>
            <a:r>
              <a:rPr lang="he-IL" dirty="0"/>
              <a:t>_</a:t>
            </a:r>
            <a:r>
              <a:rPr lang="en-US" dirty="0"/>
              <a:t>  :O</a:t>
            </a:r>
            <a:r>
              <a:rPr lang="he-IL" dirty="0"/>
              <a:t>פולסי סנכרון </a:t>
            </a:r>
            <a:r>
              <a:rPr lang="he-IL" dirty="0" err="1"/>
              <a:t>ןאנכי</a:t>
            </a:r>
            <a:r>
              <a:rPr lang="he-IL" dirty="0"/>
              <a:t> ואופקי שנשלחים </a:t>
            </a:r>
            <a:r>
              <a:rPr lang="he-IL" dirty="0" err="1"/>
              <a:t>החוצה,עבור</a:t>
            </a:r>
            <a:r>
              <a:rPr lang="he-IL" dirty="0"/>
              <a:t> ניהול התזמונים של המסך</a:t>
            </a:r>
          </a:p>
        </p:txBody>
      </p:sp>
    </p:spTree>
    <p:extLst>
      <p:ext uri="{BB962C8B-B14F-4D97-AF65-F5344CB8AC3E}">
        <p14:creationId xmlns:p14="http://schemas.microsoft.com/office/powerpoint/2010/main" val="669765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עיבוד</a:t>
            </a:r>
            <a:r>
              <a:rPr dirty="0"/>
              <a:t> </a:t>
            </a:r>
            <a:r>
              <a:rPr dirty="0" err="1"/>
              <a:t>הפיקסל</a:t>
            </a:r>
            <a:r>
              <a:rPr dirty="0"/>
              <a:t>: </a:t>
            </a:r>
            <a:br>
              <a:rPr lang="he-IL" dirty="0"/>
            </a:br>
            <a:r>
              <a:rPr dirty="0" err="1"/>
              <a:t>ניתוב</a:t>
            </a:r>
            <a:r>
              <a:rPr dirty="0"/>
              <a:t> </a:t>
            </a:r>
            <a:r>
              <a:rPr lang="he-IL" dirty="0"/>
              <a:t>ל</a:t>
            </a:r>
            <a:r>
              <a:rPr dirty="0"/>
              <a:t>RGB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5831" y="1089898"/>
            <a:ext cx="8628993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רישום</a:t>
            </a:r>
            <a:r>
              <a:rPr dirty="0"/>
              <a:t> </a:t>
            </a:r>
            <a:r>
              <a:rPr dirty="0" err="1"/>
              <a:t>ופיצול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הנתונים</a:t>
            </a:r>
            <a:r>
              <a:rPr dirty="0"/>
              <a:t> מ-</a:t>
            </a:r>
            <a:r>
              <a:rPr dirty="0" err="1"/>
              <a:t>doutb</a:t>
            </a:r>
            <a:r>
              <a:rPr dirty="0"/>
              <a:t> </a:t>
            </a:r>
            <a:r>
              <a:rPr dirty="0" err="1"/>
              <a:t>ננעלים</a:t>
            </a:r>
            <a:r>
              <a:rPr dirty="0"/>
              <a:t> </a:t>
            </a:r>
            <a:r>
              <a:rPr dirty="0" err="1"/>
              <a:t>באוגר</a:t>
            </a:r>
            <a:r>
              <a:rPr dirty="0"/>
              <a:t> </a:t>
            </a:r>
            <a:r>
              <a:rPr dirty="0" err="1"/>
              <a:t>pxl_data_reg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ומפוצלים</a:t>
            </a:r>
            <a:r>
              <a:rPr dirty="0"/>
              <a:t> ל</a:t>
            </a:r>
            <a:r>
              <a:rPr lang="he-IL" dirty="0"/>
              <a:t>מסלולים</a:t>
            </a:r>
            <a:r>
              <a:rPr dirty="0"/>
              <a:t>: </a:t>
            </a:r>
            <a:r>
              <a:rPr dirty="0" err="1"/>
              <a:t>vga_r_int</a:t>
            </a:r>
            <a:r>
              <a:rPr dirty="0"/>
              <a:t> (11:8), </a:t>
            </a:r>
            <a:r>
              <a:rPr dirty="0" err="1"/>
              <a:t>vga_g_int</a:t>
            </a:r>
            <a:r>
              <a:rPr dirty="0"/>
              <a:t> (7:4) ו-</a:t>
            </a:r>
            <a:r>
              <a:rPr dirty="0" err="1"/>
              <a:t>vga_b_int</a:t>
            </a:r>
            <a:r>
              <a:rPr dirty="0"/>
              <a:t> (3:0).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האות</a:t>
            </a:r>
            <a:r>
              <a:rPr dirty="0"/>
              <a:t> </a:t>
            </a:r>
            <a:r>
              <a:rPr dirty="0" err="1"/>
              <a:t>in_display_area_delayed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משמש</a:t>
            </a:r>
            <a:r>
              <a:rPr dirty="0"/>
              <a:t> </a:t>
            </a:r>
            <a:r>
              <a:rPr dirty="0" err="1"/>
              <a:t>כדגל</a:t>
            </a:r>
            <a:r>
              <a:rPr dirty="0"/>
              <a:t> </a:t>
            </a:r>
            <a:r>
              <a:rPr dirty="0" err="1"/>
              <a:t>המזהה</a:t>
            </a:r>
            <a:r>
              <a:rPr dirty="0"/>
              <a:t> </a:t>
            </a:r>
            <a:r>
              <a:rPr dirty="0" err="1"/>
              <a:t>האם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</a:t>
            </a:r>
            <a:r>
              <a:rPr dirty="0" err="1"/>
              <a:t>מצוירת</a:t>
            </a:r>
            <a:r>
              <a:rPr dirty="0"/>
              <a:t> </a:t>
            </a:r>
            <a:r>
              <a:rPr dirty="0" err="1"/>
              <a:t>כעת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נמצאת</a:t>
            </a:r>
            <a:r>
              <a:rPr dirty="0"/>
              <a:t> </a:t>
            </a:r>
            <a:r>
              <a:rPr dirty="0" err="1"/>
              <a:t>מחוץ</a:t>
            </a:r>
            <a:r>
              <a:rPr dirty="0"/>
              <a:t> </a:t>
            </a:r>
            <a:r>
              <a:rPr dirty="0" err="1"/>
              <a:t>לתצוגה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סינון</a:t>
            </a:r>
            <a:r>
              <a:rPr dirty="0"/>
              <a:t> </a:t>
            </a:r>
            <a:r>
              <a:rPr dirty="0" err="1"/>
              <a:t>דיגיטלי</a:t>
            </a:r>
            <a:r>
              <a:rPr dirty="0"/>
              <a:t> (Mux)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כאשר</a:t>
            </a:r>
            <a:r>
              <a:rPr dirty="0"/>
              <a:t> </a:t>
            </a:r>
            <a:r>
              <a:rPr dirty="0" err="1"/>
              <a:t>הדגל</a:t>
            </a:r>
            <a:r>
              <a:rPr dirty="0"/>
              <a:t> </a:t>
            </a:r>
            <a:r>
              <a:rPr lang="he-IL" dirty="0"/>
              <a:t> </a:t>
            </a:r>
            <a:r>
              <a:rPr lang="en-US" dirty="0" err="1"/>
              <a:t>in_display_area</a:t>
            </a:r>
            <a:r>
              <a:rPr lang="he-IL" dirty="0"/>
              <a:t> </a:t>
            </a:r>
            <a:r>
              <a:rPr dirty="0"/>
              <a:t>ב-'1', </a:t>
            </a:r>
            <a:r>
              <a:rPr lang="he-IL" dirty="0"/>
              <a:t>(מצב </a:t>
            </a:r>
            <a:r>
              <a:rPr lang="en-US" dirty="0"/>
              <a:t>display</a:t>
            </a:r>
            <a:r>
              <a:rPr lang="he-IL" dirty="0"/>
              <a:t> ) </a:t>
            </a:r>
            <a:r>
              <a:rPr dirty="0" err="1"/>
              <a:t>ערכי</a:t>
            </a:r>
            <a:r>
              <a:rPr dirty="0"/>
              <a:t> ה-RGB </a:t>
            </a:r>
            <a:r>
              <a:rPr dirty="0" err="1"/>
              <a:t>מועברים</a:t>
            </a:r>
            <a:r>
              <a:rPr dirty="0"/>
              <a:t> </a:t>
            </a:r>
            <a:r>
              <a:rPr dirty="0" err="1"/>
              <a:t>ליציאות</a:t>
            </a:r>
            <a:r>
              <a:rPr dirty="0"/>
              <a:t> VGA_R/G/B. </a:t>
            </a:r>
            <a:r>
              <a:rPr lang="he-IL" dirty="0"/>
              <a:t>           </a:t>
            </a:r>
            <a:r>
              <a:rPr dirty="0" err="1"/>
              <a:t>בזמני</a:t>
            </a:r>
            <a:r>
              <a:rPr dirty="0"/>
              <a:t> ה-</a:t>
            </a:r>
            <a:r>
              <a:rPr lang="he-IL" dirty="0"/>
              <a:t> </a:t>
            </a:r>
            <a:r>
              <a:rPr dirty="0"/>
              <a:t>Porch </a:t>
            </a:r>
            <a:r>
              <a:rPr lang="he-IL" dirty="0"/>
              <a:t> (</a:t>
            </a:r>
            <a:r>
              <a:rPr lang="en-US" dirty="0"/>
              <a:t>blanking</a:t>
            </a:r>
            <a:r>
              <a:rPr lang="he-IL" dirty="0"/>
              <a:t>) </a:t>
            </a:r>
            <a:r>
              <a:rPr dirty="0" err="1"/>
              <a:t>וה</a:t>
            </a:r>
            <a:r>
              <a:rPr dirty="0"/>
              <a:t>-Sync, </a:t>
            </a:r>
            <a:r>
              <a:rPr dirty="0" err="1"/>
              <a:t>היציאות</a:t>
            </a:r>
            <a:r>
              <a:rPr dirty="0"/>
              <a:t> </a:t>
            </a:r>
            <a:r>
              <a:rPr dirty="0" err="1"/>
              <a:t>נאלצות</a:t>
            </a:r>
            <a:r>
              <a:rPr dirty="0"/>
              <a:t> ל-"0000" </a:t>
            </a:r>
            <a:r>
              <a:rPr lang="he-IL" dirty="0"/>
              <a:t>,</a:t>
            </a:r>
            <a:r>
              <a:rPr dirty="0" err="1"/>
              <a:t>שחור</a:t>
            </a:r>
            <a:r>
              <a:rPr dirty="0"/>
              <a:t> </a:t>
            </a:r>
            <a:r>
              <a:rPr dirty="0" err="1"/>
              <a:t>מוחלט</a:t>
            </a:r>
            <a:endParaRPr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FDE92B07-D836-457E-A416-FB1EAF3270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2678" r="3659" b="17053"/>
          <a:stretch/>
        </p:blipFill>
        <p:spPr>
          <a:xfrm>
            <a:off x="330436" y="3514587"/>
            <a:ext cx="8628993" cy="32542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210" y="-112620"/>
            <a:ext cx="8229600" cy="1143000"/>
          </a:xfrm>
        </p:spPr>
        <p:txBody>
          <a:bodyPr/>
          <a:lstStyle/>
          <a:p>
            <a:pPr algn="ctr" rtl="1"/>
            <a:r>
              <a:rPr dirty="0" err="1"/>
              <a:t>המרת</a:t>
            </a:r>
            <a:r>
              <a:rPr dirty="0"/>
              <a:t> DAC </a:t>
            </a:r>
            <a:r>
              <a:rPr lang="he-IL" dirty="0"/>
              <a:t> </a:t>
            </a:r>
            <a:r>
              <a:rPr dirty="0" err="1"/>
              <a:t>ומחבר</a:t>
            </a:r>
            <a:r>
              <a:rPr dirty="0"/>
              <a:t>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0435" y="1591879"/>
            <a:ext cx="7241628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סולם</a:t>
            </a:r>
            <a:r>
              <a:rPr dirty="0"/>
              <a:t> </a:t>
            </a:r>
            <a:r>
              <a:rPr dirty="0" err="1"/>
              <a:t>נגדים</a:t>
            </a:r>
            <a:r>
              <a:rPr dirty="0"/>
              <a:t> (Resistor Network)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המרת</a:t>
            </a:r>
            <a:r>
              <a:rPr dirty="0"/>
              <a:t> 12 </a:t>
            </a:r>
            <a:r>
              <a:rPr lang="he-IL" dirty="0"/>
              <a:t> </a:t>
            </a:r>
            <a:r>
              <a:rPr dirty="0" err="1"/>
              <a:t>ביטי</a:t>
            </a:r>
            <a:r>
              <a:rPr dirty="0"/>
              <a:t> ה-RGB </a:t>
            </a:r>
            <a:r>
              <a:rPr dirty="0" err="1"/>
              <a:t>למתח</a:t>
            </a:r>
            <a:r>
              <a:rPr dirty="0"/>
              <a:t> </a:t>
            </a:r>
            <a:r>
              <a:rPr dirty="0" err="1"/>
              <a:t>אנלוגי</a:t>
            </a:r>
            <a:r>
              <a:rPr dirty="0"/>
              <a:t> </a:t>
            </a:r>
            <a:r>
              <a:rPr dirty="0" err="1"/>
              <a:t>רציף</a:t>
            </a:r>
            <a:r>
              <a:rPr dirty="0"/>
              <a:t> </a:t>
            </a:r>
            <a:r>
              <a:rPr lang="he-IL" dirty="0"/>
              <a:t>, </a:t>
            </a:r>
            <a:r>
              <a:rPr dirty="0" err="1"/>
              <a:t>באמצעות</a:t>
            </a:r>
            <a:r>
              <a:rPr dirty="0"/>
              <a:t> </a:t>
            </a:r>
            <a:r>
              <a:rPr lang="he-IL" dirty="0"/>
              <a:t>רשת </a:t>
            </a:r>
            <a:r>
              <a:rPr dirty="0" err="1"/>
              <a:t>נגדים</a:t>
            </a:r>
            <a:r>
              <a:rPr lang="he-IL" dirty="0"/>
              <a:t> מ</a:t>
            </a:r>
            <a:r>
              <a:rPr dirty="0"/>
              <a:t> 510Ω </a:t>
            </a:r>
            <a:r>
              <a:rPr dirty="0" err="1"/>
              <a:t>עד</a:t>
            </a:r>
            <a:r>
              <a:rPr dirty="0"/>
              <a:t> 4KΩ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•</a:t>
            </a:r>
            <a:r>
              <a:rPr dirty="0"/>
              <a:t> </a:t>
            </a: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סנכרון</a:t>
            </a:r>
            <a:r>
              <a:rPr dirty="0"/>
              <a:t> (B11 / B12)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פיני</a:t>
            </a:r>
            <a:r>
              <a:rPr dirty="0"/>
              <a:t> </a:t>
            </a:r>
            <a:r>
              <a:rPr dirty="0" err="1"/>
              <a:t>היציאה</a:t>
            </a:r>
            <a:r>
              <a:rPr dirty="0"/>
              <a:t> </a:t>
            </a:r>
            <a:r>
              <a:rPr dirty="0" err="1"/>
              <a:t>מוגנים</a:t>
            </a:r>
            <a:r>
              <a:rPr dirty="0"/>
              <a:t> </a:t>
            </a:r>
            <a:r>
              <a:rPr dirty="0" err="1"/>
              <a:t>באמצעות</a:t>
            </a:r>
            <a:r>
              <a:rPr dirty="0"/>
              <a:t> </a:t>
            </a:r>
            <a:r>
              <a:rPr dirty="0" err="1"/>
              <a:t>נגדי</a:t>
            </a:r>
            <a:r>
              <a:rPr dirty="0"/>
              <a:t> 100Ω </a:t>
            </a:r>
            <a:r>
              <a:rPr lang="he-IL" dirty="0"/>
              <a:t> </a:t>
            </a:r>
            <a:r>
              <a:rPr dirty="0" err="1"/>
              <a:t>ומזינים</a:t>
            </a:r>
            <a:r>
              <a:rPr dirty="0"/>
              <a:t> </a:t>
            </a:r>
            <a:r>
              <a:rPr dirty="0" err="1"/>
              <a:t>ישירות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מחבר</a:t>
            </a:r>
            <a:r>
              <a:rPr dirty="0"/>
              <a:t> ה-DB15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435" y="3305908"/>
            <a:ext cx="2785056" cy="3277456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397460" y="3847228"/>
            <a:ext cx="3045791" cy="2426480"/>
          </a:xfrm>
          <a:prstGeom prst="rect">
            <a:avLst/>
          </a:prstGeom>
        </p:spPr>
      </p:pic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15C6DADA-FBFD-40CE-80CE-D90CFB23A20F}"/>
              </a:ext>
            </a:extLst>
          </p:cNvPr>
          <p:cNvSpPr txBox="1"/>
          <p:nvPr/>
        </p:nvSpPr>
        <p:spPr>
          <a:xfrm>
            <a:off x="1524001" y="1000403"/>
            <a:ext cx="6609596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dirty="0"/>
              <a:t>על מנת לשדר את האותות הצבעוניים הדיגיטליים החוצה למסך בעל הכניסה </a:t>
            </a:r>
            <a:r>
              <a:rPr lang="he-IL" dirty="0" err="1"/>
              <a:t>האנלוגית,נשתמש</a:t>
            </a:r>
            <a:r>
              <a:rPr lang="he-IL" dirty="0"/>
              <a:t> בממיר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D TO A</a:t>
            </a:r>
            <a:endParaRPr lang="he-IL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360"/>
            <a:ext cx="8229599" cy="809297"/>
          </a:xfrm>
        </p:spPr>
        <p:txBody>
          <a:bodyPr>
            <a:normAutofit fontScale="90000"/>
          </a:bodyPr>
          <a:lstStyle/>
          <a:p>
            <a:pPr algn="ctr" rtl="1"/>
            <a:r>
              <a:rPr lang="he-IL" dirty="0"/>
              <a:t>המרת </a:t>
            </a:r>
            <a:r>
              <a:rPr lang="en-US" dirty="0"/>
              <a:t>D TO A</a:t>
            </a:r>
            <a:br>
              <a:rPr lang="en-US" dirty="0"/>
            </a:br>
            <a:r>
              <a:rPr lang="he-IL" dirty="0"/>
              <a:t>משקלי הביטים: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694" y="730513"/>
            <a:ext cx="8229598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lang="he-IL" dirty="0"/>
              <a:t>• משקל פיזי לכל ביט</a:t>
            </a:r>
          </a:p>
          <a:p>
            <a:pPr algn="r" rtl="1">
              <a:defRPr sz="1600"/>
            </a:pPr>
            <a:r>
              <a:rPr lang="en-US" dirty="0"/>
              <a:t> MSB  </a:t>
            </a:r>
            <a:r>
              <a:rPr lang="he-IL" dirty="0"/>
              <a:t>לעומת </a:t>
            </a:r>
            <a:r>
              <a:rPr lang="en-US" dirty="0"/>
              <a:t>LSB</a:t>
            </a:r>
            <a:r>
              <a:rPr lang="he-IL" dirty="0"/>
              <a:t> :</a:t>
            </a:r>
            <a:endParaRPr lang="en-US" dirty="0"/>
          </a:p>
          <a:p>
            <a:pPr algn="r" rtl="1">
              <a:defRPr sz="1600"/>
            </a:pPr>
            <a:r>
              <a:rPr lang="he-IL" dirty="0"/>
              <a:t>הביט המשמעותי ביותר (</a:t>
            </a:r>
            <a:r>
              <a:rPr lang="en-US" dirty="0" err="1"/>
              <a:t>msb</a:t>
            </a:r>
            <a:r>
              <a:rPr lang="he-IL" dirty="0"/>
              <a:t>)מחובר לנגד הקטן ביותר, ולכן מזרים את הזרם הגדול ביותר למעגל          ומשפיע משמעותית על עוצמת הצבע,</a:t>
            </a:r>
          </a:p>
          <a:p>
            <a:pPr algn="r" rtl="1">
              <a:defRPr sz="1600"/>
            </a:pPr>
            <a:r>
              <a:rPr dirty="0"/>
              <a:t> </a:t>
            </a:r>
            <a:r>
              <a:rPr dirty="0" err="1"/>
              <a:t>לעומתו</a:t>
            </a:r>
            <a:r>
              <a:rPr dirty="0"/>
              <a:t>, </a:t>
            </a:r>
            <a:r>
              <a:rPr dirty="0" err="1"/>
              <a:t>הביט</a:t>
            </a:r>
            <a:r>
              <a:rPr dirty="0"/>
              <a:t> </a:t>
            </a:r>
            <a:r>
              <a:rPr dirty="0" err="1"/>
              <a:t>הפחות</a:t>
            </a:r>
            <a:r>
              <a:rPr dirty="0"/>
              <a:t> </a:t>
            </a:r>
            <a:r>
              <a:rPr dirty="0" err="1"/>
              <a:t>משמעותי</a:t>
            </a:r>
            <a:r>
              <a:rPr dirty="0"/>
              <a:t> (LSB) </a:t>
            </a:r>
            <a:r>
              <a:rPr dirty="0" err="1"/>
              <a:t>מחובר</a:t>
            </a:r>
            <a:r>
              <a:rPr dirty="0"/>
              <a:t> </a:t>
            </a:r>
            <a:r>
              <a:rPr dirty="0" err="1"/>
              <a:t>לנגד</a:t>
            </a:r>
            <a:r>
              <a:rPr dirty="0"/>
              <a:t> </a:t>
            </a:r>
            <a:r>
              <a:rPr dirty="0" err="1"/>
              <a:t>הגדול</a:t>
            </a:r>
            <a:r>
              <a:rPr dirty="0"/>
              <a:t> </a:t>
            </a:r>
            <a:r>
              <a:rPr dirty="0" err="1"/>
              <a:t>ביותר</a:t>
            </a:r>
            <a:r>
              <a:rPr dirty="0"/>
              <a:t> </a:t>
            </a:r>
            <a:r>
              <a:rPr dirty="0" err="1"/>
              <a:t>בסולם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ו</a:t>
            </a:r>
            <a:r>
              <a:rPr dirty="0" err="1"/>
              <a:t>תרומתו</a:t>
            </a:r>
            <a:r>
              <a:rPr dirty="0"/>
              <a:t> </a:t>
            </a:r>
            <a:r>
              <a:rPr dirty="0" err="1"/>
              <a:t>לזרם</a:t>
            </a:r>
            <a:r>
              <a:rPr dirty="0"/>
              <a:t> </a:t>
            </a:r>
            <a:r>
              <a:rPr dirty="0" err="1"/>
              <a:t>הכולל</a:t>
            </a:r>
            <a:r>
              <a:rPr dirty="0"/>
              <a:t> </a:t>
            </a:r>
            <a:r>
              <a:rPr dirty="0" err="1"/>
              <a:t>היא</a:t>
            </a:r>
            <a:r>
              <a:rPr dirty="0"/>
              <a:t> </a:t>
            </a:r>
            <a:r>
              <a:rPr dirty="0" err="1"/>
              <a:t>מזערית</a:t>
            </a:r>
            <a:r>
              <a:rPr dirty="0"/>
              <a:t> </a:t>
            </a:r>
            <a:r>
              <a:rPr dirty="0" err="1"/>
              <a:t>ונועדה</a:t>
            </a:r>
            <a:r>
              <a:rPr dirty="0"/>
              <a:t> </a:t>
            </a:r>
            <a:r>
              <a:rPr dirty="0" err="1"/>
              <a:t>לכוונון</a:t>
            </a:r>
            <a:r>
              <a:rPr dirty="0"/>
              <a:t> </a:t>
            </a:r>
            <a:r>
              <a:rPr dirty="0" err="1"/>
              <a:t>עדין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הגוון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lang="he-IL" dirty="0"/>
              <a:t>•</a:t>
            </a:r>
            <a:r>
              <a:rPr dirty="0"/>
              <a:t> </a:t>
            </a:r>
            <a:r>
              <a:rPr dirty="0" err="1"/>
              <a:t>סכימה</a:t>
            </a:r>
            <a:r>
              <a:rPr dirty="0"/>
              <a:t> </a:t>
            </a:r>
            <a:r>
              <a:rPr dirty="0" err="1"/>
              <a:t>אנלוגית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הזרמים</a:t>
            </a:r>
            <a:r>
              <a:rPr dirty="0"/>
              <a:t> </a:t>
            </a:r>
            <a:r>
              <a:rPr dirty="0" err="1"/>
              <a:t>מהביטים</a:t>
            </a:r>
            <a:r>
              <a:rPr dirty="0"/>
              <a:t> </a:t>
            </a:r>
            <a:r>
              <a:rPr dirty="0" err="1"/>
              <a:t>הפעילים</a:t>
            </a:r>
            <a:r>
              <a:rPr dirty="0"/>
              <a:t> ('1') </a:t>
            </a:r>
            <a:r>
              <a:rPr dirty="0" err="1"/>
              <a:t>מתחברים</a:t>
            </a:r>
            <a:r>
              <a:rPr dirty="0"/>
              <a:t> </a:t>
            </a:r>
            <a:r>
              <a:rPr dirty="0" err="1"/>
              <a:t>וזורמים</a:t>
            </a:r>
            <a:r>
              <a:rPr dirty="0"/>
              <a:t> </a:t>
            </a:r>
            <a:r>
              <a:rPr dirty="0" err="1"/>
              <a:t>יחד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נגד</a:t>
            </a:r>
            <a:r>
              <a:rPr dirty="0"/>
              <a:t> </a:t>
            </a:r>
            <a:r>
              <a:rPr dirty="0" err="1"/>
              <a:t>הסיומת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(75Ω) </a:t>
            </a:r>
            <a:r>
              <a:rPr dirty="0" err="1"/>
              <a:t>אל</a:t>
            </a:r>
            <a:r>
              <a:rPr dirty="0"/>
              <a:t> </a:t>
            </a:r>
            <a:r>
              <a:rPr dirty="0" err="1"/>
              <a:t>האדמה</a:t>
            </a:r>
            <a:r>
              <a:rPr dirty="0"/>
              <a:t>. </a:t>
            </a:r>
            <a:r>
              <a:rPr dirty="0" err="1"/>
              <a:t>כך</a:t>
            </a:r>
            <a:r>
              <a:rPr dirty="0"/>
              <a:t> </a:t>
            </a:r>
            <a:r>
              <a:rPr dirty="0" err="1"/>
              <a:t>נוצר</a:t>
            </a:r>
            <a:r>
              <a:rPr dirty="0"/>
              <a:t> </a:t>
            </a:r>
            <a:r>
              <a:rPr dirty="0" err="1"/>
              <a:t>מחלק</a:t>
            </a:r>
            <a:r>
              <a:rPr dirty="0"/>
              <a:t> </a:t>
            </a:r>
            <a:r>
              <a:rPr dirty="0" err="1"/>
              <a:t>מתח</a:t>
            </a:r>
            <a:r>
              <a:rPr dirty="0"/>
              <a:t> </a:t>
            </a:r>
            <a:r>
              <a:rPr dirty="0" err="1"/>
              <a:t>דינמי</a:t>
            </a:r>
            <a:r>
              <a:rPr dirty="0"/>
              <a:t> </a:t>
            </a:r>
            <a:r>
              <a:rPr dirty="0" err="1"/>
              <a:t>המפיק</a:t>
            </a:r>
            <a:r>
              <a:rPr dirty="0"/>
              <a:t> 0V </a:t>
            </a:r>
            <a:r>
              <a:rPr dirty="0" err="1"/>
              <a:t>עד</a:t>
            </a:r>
            <a:r>
              <a:rPr dirty="0"/>
              <a:t> </a:t>
            </a:r>
            <a:r>
              <a:rPr lang="en-US" dirty="0"/>
              <a:t>3.3</a:t>
            </a:r>
            <a:r>
              <a:rPr dirty="0"/>
              <a:t>V</a:t>
            </a:r>
            <a:r>
              <a:rPr lang="he-IL" dirty="0"/>
              <a:t>.</a:t>
            </a:r>
            <a:endParaRPr lang="en-US" dirty="0"/>
          </a:p>
          <a:p>
            <a:pPr algn="r" rtl="1">
              <a:defRPr sz="1600"/>
            </a:pPr>
            <a:endParaRPr lang="en-US" dirty="0"/>
          </a:p>
          <a:p>
            <a:pPr algn="r" rtl="1">
              <a:defRPr sz="1600"/>
            </a:pPr>
            <a:r>
              <a:rPr lang="he-IL" dirty="0"/>
              <a:t>מימין בצבע כחול מיוצג החיבור הפיזי במסך ,משמאל מיוצג החיבור בלוח ה</a:t>
            </a:r>
            <a:r>
              <a:rPr lang="en-US" dirty="0"/>
              <a:t>FPGA</a:t>
            </a:r>
            <a:endParaRPr dirty="0"/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 rotWithShape="1">
          <a:blip r:embed="rId2"/>
          <a:srcRect t="10239" b="6031"/>
          <a:stretch/>
        </p:blipFill>
        <p:spPr>
          <a:xfrm>
            <a:off x="2612972" y="3919335"/>
            <a:ext cx="3918056" cy="2611193"/>
          </a:xfrm>
          <a:prstGeom prst="rect">
            <a:avLst/>
          </a:prstGeom>
        </p:spPr>
      </p:pic>
      <p:sp>
        <p:nvSpPr>
          <p:cNvPr id="5" name="Rectangle 5">
            <a:extLst>
              <a:ext uri="{FF2B5EF4-FFF2-40B4-BE49-F238E27FC236}">
                <a16:creationId xmlns:a16="http://schemas.microsoft.com/office/drawing/2014/main" id="{25C6F1A3-CEA7-43DA-BE32-B9A50E2F2E7C}"/>
              </a:ext>
            </a:extLst>
          </p:cNvPr>
          <p:cNvSpPr/>
          <p:nvPr/>
        </p:nvSpPr>
        <p:spPr>
          <a:xfrm>
            <a:off x="5263018" y="3808279"/>
            <a:ext cx="1148933" cy="2862458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73D7872E-440C-47D3-9128-B0BE4AC00DBD}"/>
              </a:ext>
            </a:extLst>
          </p:cNvPr>
          <p:cNvSpPr/>
          <p:nvPr/>
        </p:nvSpPr>
        <p:spPr>
          <a:xfrm>
            <a:off x="2683517" y="3808279"/>
            <a:ext cx="2396007" cy="2862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84083" y="128561"/>
            <a:ext cx="9109919" cy="776507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מבט-על</a:t>
            </a:r>
            <a:r>
              <a:rPr lang="he-IL" dirty="0"/>
              <a:t>:</a:t>
            </a:r>
            <a:r>
              <a:rPr dirty="0"/>
              <a:t> </a:t>
            </a:r>
            <a:r>
              <a:rPr dirty="0" err="1"/>
              <a:t>זרימת</a:t>
            </a:r>
            <a:r>
              <a:rPr dirty="0"/>
              <a:t> </a:t>
            </a:r>
            <a:r>
              <a:rPr dirty="0" err="1"/>
              <a:t>נתונים</a:t>
            </a:r>
            <a:r>
              <a:rPr dirty="0"/>
              <a:t> </a:t>
            </a:r>
            <a:r>
              <a:rPr dirty="0" err="1"/>
              <a:t>ותחומי</a:t>
            </a:r>
            <a:r>
              <a:rPr dirty="0"/>
              <a:t> </a:t>
            </a:r>
            <a:r>
              <a:rPr dirty="0" err="1"/>
              <a:t>שעון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0" y="737531"/>
            <a:ext cx="8568636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מחולל</a:t>
            </a:r>
            <a:r>
              <a:rPr dirty="0"/>
              <a:t> </a:t>
            </a:r>
            <a:r>
              <a:rPr dirty="0" err="1"/>
              <a:t>שעונים</a:t>
            </a:r>
            <a:r>
              <a:rPr dirty="0"/>
              <a:t> (</a:t>
            </a:r>
            <a:r>
              <a:rPr dirty="0" err="1"/>
              <a:t>clk_generator</a:t>
            </a:r>
            <a:r>
              <a:rPr dirty="0"/>
              <a:t>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רכיב</a:t>
            </a:r>
            <a:r>
              <a:rPr dirty="0"/>
              <a:t> PLL </a:t>
            </a:r>
            <a:r>
              <a:rPr lang="he-IL" dirty="0"/>
              <a:t> </a:t>
            </a:r>
            <a:r>
              <a:rPr dirty="0" err="1"/>
              <a:t>המקבל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מערכת</a:t>
            </a:r>
            <a:r>
              <a:rPr dirty="0"/>
              <a:t> </a:t>
            </a:r>
            <a:r>
              <a:rPr dirty="0" err="1"/>
              <a:t>ומפיק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25MHz </a:t>
            </a:r>
            <a:r>
              <a:rPr lang="he-IL" dirty="0"/>
              <a:t> </a:t>
            </a:r>
            <a:r>
              <a:rPr dirty="0" err="1"/>
              <a:t>נפרד</a:t>
            </a:r>
            <a:r>
              <a:rPr dirty="0"/>
              <a:t> ל-VGA </a:t>
            </a:r>
            <a:r>
              <a:rPr dirty="0" err="1"/>
              <a:t>ושעון</a:t>
            </a:r>
            <a:r>
              <a:rPr dirty="0"/>
              <a:t> </a:t>
            </a:r>
            <a:r>
              <a:rPr dirty="0" err="1"/>
              <a:t>ייעודי</a:t>
            </a:r>
            <a:r>
              <a:rPr dirty="0"/>
              <a:t> </a:t>
            </a:r>
            <a:r>
              <a:rPr dirty="0" err="1"/>
              <a:t>למצלמה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זיכרון</a:t>
            </a:r>
            <a:r>
              <a:rPr dirty="0"/>
              <a:t> ה-BRAM </a:t>
            </a:r>
            <a:r>
              <a:rPr dirty="0" err="1"/>
              <a:t>בתצורת</a:t>
            </a:r>
            <a:r>
              <a:rPr dirty="0"/>
              <a:t> Dual-Port </a:t>
            </a:r>
            <a:r>
              <a:rPr lang="he-IL" dirty="0"/>
              <a:t> </a:t>
            </a:r>
            <a:r>
              <a:rPr dirty="0" err="1"/>
              <a:t>פועל</a:t>
            </a:r>
            <a:r>
              <a:rPr dirty="0"/>
              <a:t> </a:t>
            </a:r>
            <a:r>
              <a:rPr dirty="0" err="1"/>
              <a:t>כחוצץ</a:t>
            </a:r>
            <a:r>
              <a:rPr dirty="0"/>
              <a:t> </a:t>
            </a:r>
            <a:r>
              <a:rPr dirty="0" err="1"/>
              <a:t>בטוח</a:t>
            </a:r>
            <a:r>
              <a:rPr dirty="0"/>
              <a:t> </a:t>
            </a:r>
            <a:r>
              <a:rPr dirty="0" err="1"/>
              <a:t>בין</a:t>
            </a:r>
            <a:r>
              <a:rPr dirty="0"/>
              <a:t> </a:t>
            </a:r>
            <a:r>
              <a:rPr dirty="0" err="1"/>
              <a:t>קצב</a:t>
            </a:r>
            <a:r>
              <a:rPr dirty="0"/>
              <a:t> </a:t>
            </a:r>
            <a:r>
              <a:rPr dirty="0" err="1"/>
              <a:t>הכתיבה</a:t>
            </a:r>
            <a:r>
              <a:rPr dirty="0"/>
              <a:t> </a:t>
            </a:r>
            <a:r>
              <a:rPr dirty="0" err="1"/>
              <a:t>לקצב</a:t>
            </a:r>
            <a:r>
              <a:rPr dirty="0"/>
              <a:t> </a:t>
            </a:r>
            <a:r>
              <a:rPr dirty="0" err="1"/>
              <a:t>הקריאה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תחום</a:t>
            </a:r>
            <a:r>
              <a:rPr dirty="0"/>
              <a:t> </a:t>
            </a:r>
            <a:r>
              <a:rPr dirty="0" err="1"/>
              <a:t>אדום</a:t>
            </a:r>
            <a:r>
              <a:rPr dirty="0"/>
              <a:t> </a:t>
            </a:r>
            <a:r>
              <a:rPr lang="he-IL" dirty="0"/>
              <a:t>,</a:t>
            </a: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מהמצלמה</a:t>
            </a:r>
            <a:r>
              <a:rPr dirty="0"/>
              <a:t> (ov7670_capture)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ודחיפתם</a:t>
            </a:r>
            <a:r>
              <a:rPr dirty="0"/>
              <a:t> </a:t>
            </a:r>
            <a:r>
              <a:rPr dirty="0" err="1"/>
              <a:t>לפורט</a:t>
            </a:r>
            <a:r>
              <a:rPr dirty="0"/>
              <a:t> A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(</a:t>
            </a:r>
            <a:r>
              <a:rPr dirty="0" err="1"/>
              <a:t>clka</a:t>
            </a:r>
            <a:r>
              <a:rPr dirty="0"/>
              <a:t>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תחום</a:t>
            </a:r>
            <a:r>
              <a:rPr dirty="0"/>
              <a:t> </a:t>
            </a:r>
            <a:r>
              <a:rPr dirty="0" err="1"/>
              <a:t>כחול</a:t>
            </a:r>
            <a:r>
              <a:rPr dirty="0"/>
              <a:t> (VGA Domain): </a:t>
            </a:r>
            <a:r>
              <a:rPr lang="he-IL" dirty="0"/>
              <a:t> </a:t>
            </a:r>
          </a:p>
          <a:p>
            <a:pPr algn="r" rtl="1">
              <a:defRPr sz="1600"/>
            </a:pPr>
            <a:r>
              <a:rPr dirty="0" err="1"/>
              <a:t>המיקוד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– </a:t>
            </a:r>
            <a:r>
              <a:rPr dirty="0" err="1"/>
              <a:t>שליפת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מפורט</a:t>
            </a:r>
            <a:r>
              <a:rPr dirty="0"/>
              <a:t> B (</a:t>
            </a:r>
            <a:r>
              <a:rPr dirty="0" err="1"/>
              <a:t>clkb</a:t>
            </a:r>
            <a:r>
              <a:rPr dirty="0"/>
              <a:t>)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ידי</a:t>
            </a:r>
            <a:r>
              <a:rPr dirty="0"/>
              <a:t>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וייצור</a:t>
            </a:r>
            <a:r>
              <a:rPr dirty="0"/>
              <a:t> </a:t>
            </a: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 rotWithShape="1">
          <a:blip r:embed="rId2"/>
          <a:srcRect l="-135" t="8704" r="135" b="9466"/>
          <a:stretch/>
        </p:blipFill>
        <p:spPr>
          <a:xfrm>
            <a:off x="223345" y="3501752"/>
            <a:ext cx="7772400" cy="33562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3682" y="3402725"/>
            <a:ext cx="4813738" cy="23753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89132" y="3641834"/>
            <a:ext cx="4211495" cy="3216166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0924" y="85452"/>
            <a:ext cx="8229600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ניהול</a:t>
            </a:r>
            <a:r>
              <a:rPr dirty="0"/>
              <a:t> </a:t>
            </a:r>
            <a:r>
              <a:rPr dirty="0" err="1"/>
              <a:t>שעונים</a:t>
            </a:r>
            <a:r>
              <a:rPr dirty="0"/>
              <a:t> </a:t>
            </a:r>
            <a:r>
              <a:rPr dirty="0" err="1"/>
              <a:t>במערכת</a:t>
            </a:r>
            <a:br>
              <a:rPr lang="he-IL" dirty="0"/>
            </a:br>
            <a:r>
              <a:rPr dirty="0"/>
              <a:t>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3587" y="918604"/>
            <a:ext cx="7703103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lang="he-IL" dirty="0"/>
              <a:t>• שעון מקור:</a:t>
            </a:r>
            <a:endParaRPr lang="en-US" dirty="0"/>
          </a:p>
          <a:p>
            <a:pPr algn="r" rtl="1">
              <a:defRPr sz="1600"/>
            </a:pPr>
            <a:r>
              <a:rPr lang="he-IL" dirty="0"/>
              <a:t>  כניסת  </a:t>
            </a:r>
            <a:r>
              <a:rPr dirty="0" err="1"/>
              <a:t>clk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מקבלת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הלוח</a:t>
            </a:r>
            <a:r>
              <a:rPr dirty="0"/>
              <a:t> </a:t>
            </a:r>
            <a:r>
              <a:rPr dirty="0" err="1"/>
              <a:t>המקורי</a:t>
            </a:r>
            <a:r>
              <a:rPr dirty="0"/>
              <a:t>(100MHz) </a:t>
            </a:r>
            <a:r>
              <a:rPr lang="he-IL" dirty="0"/>
              <a:t>,</a:t>
            </a:r>
            <a:r>
              <a:rPr dirty="0" err="1"/>
              <a:t>ומזינה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ה (clk_wiz_0).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תצוגה</a:t>
            </a:r>
            <a:r>
              <a:rPr dirty="0"/>
              <a:t> (</a:t>
            </a:r>
            <a:r>
              <a:rPr dirty="0" err="1"/>
              <a:t>vga_pll</a:t>
            </a:r>
            <a:r>
              <a:rPr dirty="0"/>
              <a:t>)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ה </a:t>
            </a:r>
            <a:r>
              <a:rPr lang="en-US" dirty="0"/>
              <a:t>clk_wiz_0</a:t>
            </a:r>
            <a:r>
              <a:rPr lang="he-IL" dirty="0"/>
              <a:t> מפיק תדר של 25</a:t>
            </a:r>
            <a:r>
              <a:rPr lang="en-US" dirty="0"/>
              <a:t>MHz </a:t>
            </a:r>
            <a:r>
              <a:rPr lang="he-IL" dirty="0"/>
              <a:t>,</a:t>
            </a:r>
            <a:r>
              <a:rPr lang="he-IL" dirty="0" err="1"/>
              <a:t>אשרמזין</a:t>
            </a:r>
            <a:r>
              <a:rPr lang="he-IL" dirty="0"/>
              <a:t> את בקר ה-</a:t>
            </a:r>
            <a:r>
              <a:rPr lang="en-US" dirty="0"/>
              <a:t> VGA (</a:t>
            </a:r>
            <a:r>
              <a:rPr lang="en-US" dirty="0" err="1"/>
              <a:t>pxl_clk</a:t>
            </a:r>
            <a:r>
              <a:rPr lang="en-US" dirty="0"/>
              <a:t>) </a:t>
            </a:r>
            <a:r>
              <a:rPr lang="he-IL" dirty="0"/>
              <a:t>ואת פורט הקריאה </a:t>
            </a:r>
            <a:r>
              <a:rPr lang="en-US" dirty="0" err="1"/>
              <a:t>clkb</a:t>
            </a:r>
            <a:r>
              <a:rPr lang="en-US" dirty="0"/>
              <a:t> </a:t>
            </a:r>
            <a:r>
              <a:rPr lang="he-IL" dirty="0"/>
              <a:t> ב-</a:t>
            </a:r>
            <a:r>
              <a:rPr lang="en-US" dirty="0"/>
              <a:t>BRAM.</a:t>
            </a:r>
          </a:p>
          <a:p>
            <a:pPr algn="r" rtl="1">
              <a:defRPr sz="1600"/>
            </a:pPr>
            <a:r>
              <a:rPr lang="en-US" dirty="0"/>
              <a:t>)</a:t>
            </a:r>
            <a:r>
              <a:rPr lang="he-IL" dirty="0"/>
              <a:t>כאן הוא נקרא </a:t>
            </a:r>
            <a:r>
              <a:rPr lang="en-US" dirty="0" err="1"/>
              <a:t>vga_pll</a:t>
            </a:r>
            <a:r>
              <a:rPr lang="he-IL" dirty="0"/>
              <a:t> )</a:t>
            </a:r>
            <a:endParaRPr lang="en-US"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מצלמה</a:t>
            </a:r>
            <a:r>
              <a:rPr dirty="0"/>
              <a:t> (</a:t>
            </a:r>
            <a:r>
              <a:rPr dirty="0" err="1"/>
              <a:t>xclk_pll</a:t>
            </a:r>
            <a:r>
              <a:rPr dirty="0"/>
              <a:t>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הפקת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ייעודי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24MHz (xclk_ov7670) </a:t>
            </a:r>
            <a:r>
              <a:rPr lang="he-IL" dirty="0"/>
              <a:t> </a:t>
            </a:r>
            <a:r>
              <a:rPr dirty="0" err="1"/>
              <a:t>המנותב</a:t>
            </a:r>
            <a:r>
              <a:rPr dirty="0"/>
              <a:t> </a:t>
            </a:r>
            <a:r>
              <a:rPr dirty="0" err="1"/>
              <a:t>החוצה</a:t>
            </a:r>
            <a:r>
              <a:rPr dirty="0"/>
              <a:t> </a:t>
            </a:r>
            <a:r>
              <a:rPr dirty="0" err="1"/>
              <a:t>לסנכרון</a:t>
            </a:r>
            <a:r>
              <a:rPr dirty="0"/>
              <a:t> </a:t>
            </a:r>
            <a:r>
              <a:rPr dirty="0" err="1"/>
              <a:t>רכיב</a:t>
            </a:r>
            <a:r>
              <a:rPr dirty="0"/>
              <a:t> </a:t>
            </a:r>
            <a:r>
              <a:rPr dirty="0" err="1"/>
              <a:t>המצלמה</a:t>
            </a:r>
            <a:r>
              <a:rPr lang="he-IL" dirty="0"/>
              <a:t> (כאן הוא נקרא </a:t>
            </a:r>
            <a:r>
              <a:rPr lang="en-US" dirty="0" err="1"/>
              <a:t>xclk_pll</a:t>
            </a:r>
            <a:r>
              <a:rPr lang="he-IL" dirty="0"/>
              <a:t> )</a:t>
            </a:r>
          </a:p>
          <a:p>
            <a:pPr marL="285750" indent="-285750" algn="r" rtl="1">
              <a:buFont typeface="Arial" panose="020B0604020202020204" pitchFamily="34" charset="0"/>
              <a:buChar char="•"/>
              <a:defRPr sz="1600"/>
            </a:pPr>
            <a:r>
              <a:rPr lang="he-IL" dirty="0"/>
              <a:t>ה </a:t>
            </a:r>
            <a:r>
              <a:rPr lang="en-US" dirty="0"/>
              <a:t>clock generator  </a:t>
            </a:r>
            <a:r>
              <a:rPr lang="he-IL" dirty="0"/>
              <a:t> יוצר על ידי טכנולוגיית </a:t>
            </a:r>
            <a:r>
              <a:rPr lang="en-US" dirty="0"/>
              <a:t>IP </a:t>
            </a:r>
            <a:r>
              <a:rPr lang="he-IL" dirty="0"/>
              <a:t> של </a:t>
            </a:r>
            <a:r>
              <a:rPr lang="en-US" dirty="0" err="1"/>
              <a:t>vivado</a:t>
            </a:r>
            <a:endParaRPr lang="en-US"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0B7EF3D2-EADC-4975-9141-A088762829A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316" b="2748"/>
          <a:stretch/>
        </p:blipFill>
        <p:spPr>
          <a:xfrm>
            <a:off x="2958353" y="3639575"/>
            <a:ext cx="4472461" cy="29437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זיכרון</a:t>
            </a:r>
            <a:r>
              <a:rPr dirty="0"/>
              <a:t> </a:t>
            </a:r>
            <a:r>
              <a:rPr dirty="0" err="1"/>
              <a:t>הBRAM</a:t>
            </a:r>
            <a:br>
              <a:rPr lang="he-IL" dirty="0"/>
            </a:br>
            <a:r>
              <a:rPr dirty="0"/>
              <a:t>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120" y="1097280"/>
            <a:ext cx="907288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תצורת</a:t>
            </a:r>
            <a:r>
              <a:rPr dirty="0"/>
              <a:t> Dual-Port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הפרדה</a:t>
            </a:r>
            <a:r>
              <a:rPr dirty="0"/>
              <a:t> </a:t>
            </a:r>
            <a:r>
              <a:rPr dirty="0" err="1"/>
              <a:t>מוחלטת</a:t>
            </a:r>
            <a:r>
              <a:rPr dirty="0"/>
              <a:t> </a:t>
            </a:r>
            <a:r>
              <a:rPr dirty="0" err="1"/>
              <a:t>לחומרת</a:t>
            </a:r>
            <a:r>
              <a:rPr dirty="0"/>
              <a:t> </a:t>
            </a:r>
            <a:r>
              <a:rPr dirty="0" err="1"/>
              <a:t>כתיבה</a:t>
            </a:r>
            <a:r>
              <a:rPr dirty="0"/>
              <a:t> (A) </a:t>
            </a:r>
            <a:r>
              <a:rPr lang="he-IL" dirty="0"/>
              <a:t> </a:t>
            </a:r>
            <a:r>
              <a:rPr dirty="0" err="1"/>
              <a:t>וקריאה</a:t>
            </a:r>
            <a:r>
              <a:rPr dirty="0"/>
              <a:t> (B) </a:t>
            </a:r>
            <a:r>
              <a:rPr lang="he-IL" dirty="0"/>
              <a:t>,</a:t>
            </a:r>
            <a:r>
              <a:rPr dirty="0" err="1"/>
              <a:t>זהו</a:t>
            </a:r>
            <a:r>
              <a:rPr dirty="0"/>
              <a:t> </a:t>
            </a:r>
            <a:r>
              <a:rPr dirty="0" err="1"/>
              <a:t>הפתרון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ל-</a:t>
            </a:r>
            <a:r>
              <a:rPr dirty="0" err="1"/>
              <a:t>חציית</a:t>
            </a:r>
            <a:r>
              <a:rPr dirty="0"/>
              <a:t> </a:t>
            </a:r>
            <a:r>
              <a:rPr dirty="0" err="1"/>
              <a:t>תחומי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) </a:t>
            </a:r>
            <a:r>
              <a:rPr lang="he-IL" dirty="0" err="1"/>
              <a:t>למנו</a:t>
            </a:r>
            <a:r>
              <a:rPr dirty="0"/>
              <a:t>ע </a:t>
            </a:r>
            <a:r>
              <a:rPr dirty="0" err="1"/>
              <a:t>התנגשויות</a:t>
            </a:r>
            <a:r>
              <a:rPr dirty="0"/>
              <a:t> </a:t>
            </a:r>
            <a:r>
              <a:rPr dirty="0" err="1"/>
              <a:t>נתוני</a:t>
            </a:r>
            <a:r>
              <a:rPr lang="he-IL" dirty="0"/>
              <a:t>ם)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שעונים</a:t>
            </a:r>
            <a:r>
              <a:rPr dirty="0"/>
              <a:t> א-</a:t>
            </a:r>
            <a:r>
              <a:rPr dirty="0" err="1"/>
              <a:t>סינכרוניים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הכתיבה</a:t>
            </a:r>
            <a:r>
              <a:rPr dirty="0"/>
              <a:t> (</a:t>
            </a:r>
            <a:r>
              <a:rPr dirty="0" err="1"/>
              <a:t>clka</a:t>
            </a:r>
            <a:r>
              <a:rPr dirty="0"/>
              <a:t>) </a:t>
            </a:r>
            <a:r>
              <a:rPr dirty="0" err="1"/>
              <a:t>מתבצעת</a:t>
            </a:r>
            <a:r>
              <a:rPr dirty="0"/>
              <a:t> </a:t>
            </a:r>
            <a:r>
              <a:rPr dirty="0" err="1"/>
              <a:t>בתדר</a:t>
            </a:r>
            <a:r>
              <a:rPr dirty="0"/>
              <a:t> </a:t>
            </a:r>
            <a:r>
              <a:rPr dirty="0" err="1"/>
              <a:t>המערכת</a:t>
            </a:r>
            <a:r>
              <a:rPr dirty="0"/>
              <a:t> (100MHz), </a:t>
            </a:r>
            <a:r>
              <a:rPr lang="he-IL" dirty="0"/>
              <a:t>,</a:t>
            </a:r>
            <a:r>
              <a:rPr dirty="0" err="1"/>
              <a:t>בעוד</a:t>
            </a:r>
            <a:r>
              <a:rPr dirty="0"/>
              <a:t> </a:t>
            </a:r>
            <a:r>
              <a:rPr dirty="0" err="1"/>
              <a:t>הקריאה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 (</a:t>
            </a:r>
            <a:r>
              <a:rPr dirty="0" err="1"/>
              <a:t>clkb</a:t>
            </a:r>
            <a:r>
              <a:rPr dirty="0"/>
              <a:t>) </a:t>
            </a:r>
            <a:r>
              <a:rPr dirty="0" err="1"/>
              <a:t>מונעת</a:t>
            </a:r>
            <a:r>
              <a:rPr dirty="0"/>
              <a:t> </a:t>
            </a:r>
            <a:r>
              <a:rPr dirty="0" err="1"/>
              <a:t>בלעדית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ידי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ה-VGA </a:t>
            </a:r>
            <a:r>
              <a:rPr dirty="0" err="1"/>
              <a:t>שלנו</a:t>
            </a:r>
            <a:r>
              <a:rPr dirty="0"/>
              <a:t> (25MHz).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ממדי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(307,200x12)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הזיכרון</a:t>
            </a:r>
            <a:r>
              <a:rPr dirty="0"/>
              <a:t> </a:t>
            </a:r>
            <a:r>
              <a:rPr dirty="0" err="1"/>
              <a:t>מוקצה</a:t>
            </a:r>
            <a:r>
              <a:rPr dirty="0"/>
              <a:t> </a:t>
            </a:r>
            <a:r>
              <a:rPr dirty="0" err="1"/>
              <a:t>להכיל</a:t>
            </a:r>
            <a:r>
              <a:rPr dirty="0"/>
              <a:t> 307,200 </a:t>
            </a:r>
            <a:r>
              <a:rPr lang="he-IL" dirty="0"/>
              <a:t> </a:t>
            </a:r>
            <a:r>
              <a:rPr dirty="0" err="1"/>
              <a:t>פיקסלים</a:t>
            </a:r>
            <a:r>
              <a:rPr dirty="0"/>
              <a:t> </a:t>
            </a:r>
            <a:r>
              <a:rPr lang="he-IL" dirty="0"/>
              <a:t>,</a:t>
            </a:r>
            <a:r>
              <a:rPr dirty="0" err="1"/>
              <a:t>רזולוציה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640x480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תפוקת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האות</a:t>
            </a:r>
            <a:r>
              <a:rPr dirty="0"/>
              <a:t> </a:t>
            </a:r>
            <a:r>
              <a:rPr dirty="0" err="1"/>
              <a:t>doutb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משחרר</a:t>
            </a:r>
            <a:r>
              <a:rPr dirty="0"/>
              <a:t> 12 </a:t>
            </a:r>
            <a:r>
              <a:rPr dirty="0" err="1"/>
              <a:t>ביט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צבע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/>
              <a:t>(RGB) </a:t>
            </a:r>
            <a:r>
              <a:rPr dirty="0" err="1"/>
              <a:t>בכל</a:t>
            </a:r>
            <a:r>
              <a:rPr dirty="0"/>
              <a:t>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(25MHz) </a:t>
            </a:r>
            <a:r>
              <a:rPr dirty="0" err="1"/>
              <a:t>ישירות</a:t>
            </a:r>
            <a:r>
              <a:rPr dirty="0"/>
              <a:t> </a:t>
            </a:r>
            <a:r>
              <a:rPr dirty="0" err="1"/>
              <a:t>לבקר</a:t>
            </a:r>
            <a:r>
              <a:rPr dirty="0"/>
              <a:t>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51" y="3735593"/>
            <a:ext cx="5458429" cy="25853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0843"/>
            <a:ext cx="9085942" cy="978496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ממשק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(BRAM)</a:t>
            </a:r>
            <a:r>
              <a:rPr lang="he-IL" dirty="0"/>
              <a:t> וסנכרון נתונים למסך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8058" y="713048"/>
            <a:ext cx="8817428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תרגום</a:t>
            </a:r>
            <a:r>
              <a:rPr dirty="0"/>
              <a:t> </a:t>
            </a:r>
            <a:r>
              <a:rPr dirty="0" err="1"/>
              <a:t>קואורדינטות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הכתובת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 </a:t>
            </a:r>
            <a:r>
              <a:rPr dirty="0" err="1"/>
              <a:t>addrb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באורך</a:t>
            </a:r>
            <a:r>
              <a:rPr dirty="0"/>
              <a:t> 19 </a:t>
            </a:r>
            <a:r>
              <a:rPr dirty="0" err="1"/>
              <a:t>ביט</a:t>
            </a:r>
            <a:r>
              <a:rPr dirty="0"/>
              <a:t> </a:t>
            </a:r>
            <a:r>
              <a:rPr dirty="0" err="1"/>
              <a:t>מחושבת</a:t>
            </a:r>
            <a:r>
              <a:rPr dirty="0"/>
              <a:t> </a:t>
            </a:r>
            <a:r>
              <a:rPr dirty="0" err="1"/>
              <a:t>מתמטית</a:t>
            </a:r>
            <a:r>
              <a:rPr dirty="0"/>
              <a:t> </a:t>
            </a:r>
            <a:r>
              <a:rPr dirty="0" err="1"/>
              <a:t>לפי</a:t>
            </a:r>
            <a:r>
              <a:rPr dirty="0"/>
              <a:t> </a:t>
            </a:r>
            <a:r>
              <a:rPr dirty="0" err="1"/>
              <a:t>המיקום</a:t>
            </a:r>
            <a:r>
              <a:rPr dirty="0"/>
              <a:t> </a:t>
            </a:r>
            <a:r>
              <a:rPr dirty="0" err="1"/>
              <a:t>באזור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: Y * 640 + X.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מנגנון</a:t>
            </a:r>
            <a:r>
              <a:rPr dirty="0"/>
              <a:t> ה-Pipeline </a:t>
            </a:r>
            <a:r>
              <a:rPr lang="he-IL" dirty="0" err="1"/>
              <a:t>דילאיי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</a:t>
            </a:r>
            <a:r>
              <a:rPr dirty="0" err="1"/>
              <a:t>הקריאה</a:t>
            </a:r>
            <a:r>
              <a:rPr dirty="0"/>
              <a:t> </a:t>
            </a:r>
            <a:r>
              <a:rPr dirty="0" err="1"/>
              <a:t>מהזיכרון</a:t>
            </a:r>
            <a:r>
              <a:rPr dirty="0"/>
              <a:t> א-</a:t>
            </a:r>
            <a:r>
              <a:rPr dirty="0" err="1"/>
              <a:t>סינכרונית</a:t>
            </a:r>
            <a:r>
              <a:rPr dirty="0"/>
              <a:t>.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להבטיח</a:t>
            </a:r>
            <a:r>
              <a:rPr dirty="0"/>
              <a:t> </a:t>
            </a:r>
            <a:r>
              <a:rPr dirty="0" err="1"/>
              <a:t>יציבות</a:t>
            </a:r>
            <a:r>
              <a:rPr dirty="0"/>
              <a:t>, </a:t>
            </a:r>
            <a:r>
              <a:rPr dirty="0" err="1"/>
              <a:t>הקוד</a:t>
            </a:r>
            <a:r>
              <a:rPr dirty="0"/>
              <a:t> </a:t>
            </a:r>
            <a:r>
              <a:rPr dirty="0" err="1"/>
              <a:t>נועל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הנתון</a:t>
            </a:r>
            <a:r>
              <a:rPr dirty="0"/>
              <a:t> </a:t>
            </a:r>
            <a:r>
              <a:rPr dirty="0" err="1"/>
              <a:t>הנכנס</a:t>
            </a:r>
            <a:r>
              <a:rPr dirty="0"/>
              <a:t> (</a:t>
            </a:r>
            <a:r>
              <a:rPr dirty="0" err="1"/>
              <a:t>doutb</a:t>
            </a:r>
            <a:r>
              <a:rPr dirty="0"/>
              <a:t>) </a:t>
            </a:r>
            <a:r>
              <a:rPr lang="he-IL" dirty="0"/>
              <a:t> </a:t>
            </a:r>
            <a:r>
              <a:rPr dirty="0" err="1"/>
              <a:t>לתוך</a:t>
            </a:r>
            <a:r>
              <a:rPr dirty="0"/>
              <a:t> </a:t>
            </a:r>
            <a:r>
              <a:rPr dirty="0" err="1"/>
              <a:t>אוגר</a:t>
            </a:r>
            <a:r>
              <a:rPr dirty="0"/>
              <a:t> </a:t>
            </a:r>
            <a:r>
              <a:rPr dirty="0" err="1"/>
              <a:t>פנימי</a:t>
            </a:r>
            <a:r>
              <a:rPr dirty="0"/>
              <a:t> (</a:t>
            </a:r>
            <a:r>
              <a:rPr dirty="0" err="1"/>
              <a:t>pxl_data_reg</a:t>
            </a:r>
            <a:r>
              <a:rPr dirty="0"/>
              <a:t>) </a:t>
            </a:r>
            <a:r>
              <a:rPr dirty="0" err="1"/>
              <a:t>בעליית</a:t>
            </a:r>
            <a:r>
              <a:rPr dirty="0"/>
              <a:t> </a:t>
            </a:r>
            <a:r>
              <a:rPr dirty="0" err="1"/>
              <a:t>השעון</a:t>
            </a:r>
            <a:r>
              <a:rPr dirty="0"/>
              <a:t> </a:t>
            </a:r>
            <a:r>
              <a:rPr dirty="0" err="1"/>
              <a:t>הבאה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לפצות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השהיית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, </a:t>
            </a:r>
            <a:r>
              <a:rPr dirty="0" err="1"/>
              <a:t>דגל</a:t>
            </a:r>
            <a:r>
              <a:rPr dirty="0"/>
              <a:t> </a:t>
            </a:r>
            <a:r>
              <a:rPr dirty="0" err="1"/>
              <a:t>אזור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 (</a:t>
            </a:r>
            <a:r>
              <a:rPr dirty="0" err="1"/>
              <a:t>in_display_area</a:t>
            </a:r>
            <a:r>
              <a:rPr dirty="0"/>
              <a:t>) </a:t>
            </a:r>
            <a:r>
              <a:rPr lang="he-IL" dirty="0"/>
              <a:t> </a:t>
            </a:r>
            <a:r>
              <a:rPr dirty="0" err="1"/>
              <a:t>מושהה</a:t>
            </a:r>
            <a:r>
              <a:rPr dirty="0"/>
              <a:t> </a:t>
            </a:r>
            <a:r>
              <a:rPr dirty="0" err="1"/>
              <a:t>גם</a:t>
            </a:r>
            <a:r>
              <a:rPr dirty="0"/>
              <a:t>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במחזור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אחד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ניתוב</a:t>
            </a:r>
            <a:r>
              <a:rPr dirty="0"/>
              <a:t> </a:t>
            </a:r>
            <a:r>
              <a:rPr dirty="0" err="1"/>
              <a:t>דיגיטלי</a:t>
            </a:r>
            <a:r>
              <a:rPr dirty="0"/>
              <a:t> (Mux)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כאשר</a:t>
            </a:r>
            <a:r>
              <a:rPr dirty="0"/>
              <a:t> </a:t>
            </a:r>
            <a:r>
              <a:rPr dirty="0" err="1"/>
              <a:t>הדגל</a:t>
            </a:r>
            <a:r>
              <a:rPr dirty="0"/>
              <a:t> </a:t>
            </a:r>
            <a:r>
              <a:rPr dirty="0" err="1"/>
              <a:t>המושהה</a:t>
            </a:r>
            <a:r>
              <a:rPr dirty="0"/>
              <a:t> </a:t>
            </a:r>
            <a:r>
              <a:rPr dirty="0" err="1"/>
              <a:t>דולק</a:t>
            </a:r>
            <a:r>
              <a:rPr dirty="0"/>
              <a:t> 12 </a:t>
            </a:r>
            <a:r>
              <a:rPr dirty="0" err="1"/>
              <a:t>הביטים</a:t>
            </a:r>
            <a:r>
              <a:rPr dirty="0"/>
              <a:t> </a:t>
            </a:r>
            <a:r>
              <a:rPr dirty="0" err="1"/>
              <a:t>מפוצלים</a:t>
            </a:r>
            <a:r>
              <a:rPr dirty="0"/>
              <a:t> </a:t>
            </a:r>
            <a:r>
              <a:rPr dirty="0" err="1"/>
              <a:t>ומנותבים</a:t>
            </a:r>
            <a:r>
              <a:rPr dirty="0"/>
              <a:t> </a:t>
            </a:r>
            <a:r>
              <a:rPr dirty="0" err="1"/>
              <a:t>ליציאות</a:t>
            </a:r>
            <a:r>
              <a:rPr dirty="0"/>
              <a:t> VGA_R, VGA_G ו-VGA_B 4 </a:t>
            </a:r>
            <a:r>
              <a:rPr dirty="0" err="1"/>
              <a:t>ביטים</a:t>
            </a:r>
            <a:r>
              <a:rPr dirty="0"/>
              <a:t> </a:t>
            </a:r>
            <a:r>
              <a:rPr dirty="0" err="1"/>
              <a:t>לצבע</a:t>
            </a:r>
            <a:endParaRPr dirty="0"/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 rotWithShape="1">
          <a:blip r:embed="rId2"/>
          <a:srcRect l="5217" t="10044" r="4783" b="5896"/>
          <a:stretch/>
        </p:blipFill>
        <p:spPr>
          <a:xfrm>
            <a:off x="1074056" y="3298371"/>
            <a:ext cx="6473372" cy="328204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080" y="0"/>
            <a:ext cx="8229600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אימות</a:t>
            </a:r>
            <a:r>
              <a:rPr dirty="0"/>
              <a:t> </a:t>
            </a:r>
            <a:r>
              <a:rPr dirty="0" err="1"/>
              <a:t>מסלול</a:t>
            </a:r>
            <a:r>
              <a:rPr dirty="0"/>
              <a:t> </a:t>
            </a:r>
            <a:r>
              <a:rPr dirty="0" err="1"/>
              <a:t>הנתונים</a:t>
            </a:r>
            <a:br>
              <a:rPr lang="he-IL" dirty="0"/>
            </a:br>
            <a:r>
              <a:rPr dirty="0"/>
              <a:t>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365225" y="1265248"/>
            <a:ext cx="924025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600"/>
            </a:pPr>
            <a:r>
              <a:rPr lang="he-IL" dirty="0"/>
              <a:t>קריאה מזיכרון ללא השהיה עלולה לייצר </a:t>
            </a:r>
            <a:r>
              <a:rPr lang="he-IL" dirty="0" err="1"/>
              <a:t>גליצ'ים</a:t>
            </a:r>
            <a:r>
              <a:rPr lang="he-IL" dirty="0"/>
              <a:t> ורעשים בעת החלפת כתובת</a:t>
            </a:r>
          </a:p>
          <a:p>
            <a:pPr algn="r" rtl="1">
              <a:defRPr sz="1600"/>
            </a:pPr>
            <a:r>
              <a:rPr lang="he-IL" dirty="0"/>
              <a:t>לשם כך משתמשים ברגיסטר דוגם </a:t>
            </a:r>
            <a:r>
              <a:rPr lang="en-US" dirty="0" err="1"/>
              <a:t>pxl_data_reg</a:t>
            </a:r>
            <a:r>
              <a:rPr lang="he-IL" dirty="0"/>
              <a:t> בבקר</a:t>
            </a:r>
          </a:p>
          <a:p>
            <a:pPr algn="r" rtl="1">
              <a:defRPr sz="1600"/>
            </a:pPr>
            <a:r>
              <a:rPr lang="he-IL" dirty="0"/>
              <a:t>וכן דגימת הנתון מה </a:t>
            </a:r>
            <a:r>
              <a:rPr lang="en-US" dirty="0" err="1"/>
              <a:t>doutb</a:t>
            </a:r>
            <a:r>
              <a:rPr lang="he-IL" dirty="0"/>
              <a:t> מתבצעת רק בעליית </a:t>
            </a:r>
            <a:r>
              <a:rPr lang="he-IL" dirty="0" err="1"/>
              <a:t>שעון,כאשר</a:t>
            </a:r>
            <a:r>
              <a:rPr lang="he-IL" dirty="0"/>
              <a:t> המידע יציב ונקי מרעשים</a:t>
            </a:r>
          </a:p>
          <a:p>
            <a:pPr algn="r" rtl="1">
              <a:defRPr sz="1600"/>
            </a:pPr>
            <a:endParaRPr lang="he-IL" dirty="0"/>
          </a:p>
          <a:p>
            <a:pPr algn="r" rtl="1">
              <a:defRPr sz="1600"/>
            </a:pPr>
            <a:r>
              <a:rPr lang="he-IL" dirty="0"/>
              <a:t>מה שרואים כאן זה בעצם </a:t>
            </a:r>
            <a:r>
              <a:rPr lang="he-IL" dirty="0" err="1"/>
              <a:t>שאיך</a:t>
            </a:r>
            <a:r>
              <a:rPr lang="he-IL" dirty="0"/>
              <a:t> שהדגל </a:t>
            </a:r>
            <a:r>
              <a:rPr lang="he-IL" dirty="0" err="1"/>
              <a:t>נפתח,החל</a:t>
            </a:r>
            <a:r>
              <a:rPr lang="he-IL" dirty="0"/>
              <a:t> משעון </a:t>
            </a:r>
            <a:r>
              <a:rPr lang="he-IL" dirty="0" err="1"/>
              <a:t>לאחריו,המידע</a:t>
            </a:r>
            <a:r>
              <a:rPr lang="he-IL" dirty="0"/>
              <a:t> שהיה ב </a:t>
            </a:r>
            <a:r>
              <a:rPr lang="en-US" dirty="0" err="1"/>
              <a:t>doutb</a:t>
            </a:r>
            <a:r>
              <a:rPr lang="he-IL" dirty="0"/>
              <a:t> עובר ל </a:t>
            </a:r>
            <a:r>
              <a:rPr lang="en-US" dirty="0"/>
              <a:t>R G B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וממשיך להתעדכן בהתאם למה שמגיע מה</a:t>
            </a:r>
            <a:r>
              <a:rPr lang="en-US" dirty="0" err="1"/>
              <a:t>addrb</a:t>
            </a:r>
            <a:r>
              <a:rPr lang="he-IL" dirty="0"/>
              <a:t> ,שקובע איזה פיקסל נשלף מהזיכרון ,בכל מחזור </a:t>
            </a:r>
            <a:r>
              <a:rPr lang="he-IL" dirty="0" err="1"/>
              <a:t>נתון,יעבור</a:t>
            </a:r>
            <a:r>
              <a:rPr lang="he-IL" dirty="0"/>
              <a:t> דרך</a:t>
            </a:r>
          </a:p>
          <a:p>
            <a:pPr algn="r" rtl="1">
              <a:defRPr sz="1600"/>
            </a:pPr>
            <a:r>
              <a:rPr lang="en-US" dirty="0" err="1"/>
              <a:t>pxl_data_reg</a:t>
            </a:r>
            <a:r>
              <a:rPr lang="he-IL" dirty="0"/>
              <a:t> וישודר </a:t>
            </a:r>
            <a:r>
              <a:rPr lang="he-IL" dirty="0" err="1"/>
              <a:t>למסך,דרך</a:t>
            </a:r>
            <a:r>
              <a:rPr lang="he-IL" dirty="0"/>
              <a:t> ה </a:t>
            </a:r>
            <a:r>
              <a:rPr lang="en-US"/>
              <a:t>R G B </a:t>
            </a:r>
            <a:endParaRPr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5571DB6E-4AA8-4839-9CEB-03BF006F853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017"/>
          <a:stretch/>
        </p:blipFill>
        <p:spPr>
          <a:xfrm>
            <a:off x="-71120" y="3164840"/>
            <a:ext cx="9144000" cy="37239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141973"/>
            <a:ext cx="8229600" cy="1143000"/>
          </a:xfrm>
        </p:spPr>
        <p:txBody>
          <a:bodyPr/>
          <a:lstStyle/>
          <a:p>
            <a:pPr algn="ctr" rtl="1"/>
            <a:r>
              <a:rPr dirty="0" err="1"/>
              <a:t>אימות</a:t>
            </a:r>
            <a:r>
              <a:rPr lang="he-IL" dirty="0"/>
              <a:t> </a:t>
            </a:r>
            <a:r>
              <a:rPr dirty="0" err="1"/>
              <a:t>שורה</a:t>
            </a:r>
            <a:r>
              <a:rPr dirty="0"/>
              <a:t> Ts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2463DDB5-46E6-4FA1-B256-428A6B7066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832"/>
          <a:stretch/>
        </p:blipFill>
        <p:spPr>
          <a:xfrm>
            <a:off x="1" y="2833679"/>
            <a:ext cx="9144000" cy="3594794"/>
          </a:xfrm>
          <a:prstGeom prst="rect">
            <a:avLst/>
          </a:prstGeom>
        </p:spPr>
      </p:pic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CA7F9E92-FBE0-4D47-93E2-083EBC9DB985}"/>
              </a:ext>
            </a:extLst>
          </p:cNvPr>
          <p:cNvSpPr txBox="1"/>
          <p:nvPr/>
        </p:nvSpPr>
        <p:spPr>
          <a:xfrm>
            <a:off x="736600" y="1001027"/>
            <a:ext cx="7670800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אימות עמידות הלוגיקה </a:t>
            </a:r>
          </a:p>
          <a:p>
            <a:pPr algn="r"/>
            <a:r>
              <a:rPr lang="he-IL" dirty="0"/>
              <a:t>640פיקסלים</a:t>
            </a:r>
            <a:r>
              <a:rPr lang="en-US" dirty="0"/>
              <a:t>x480</a:t>
            </a:r>
            <a:r>
              <a:rPr lang="he-IL" dirty="0"/>
              <a:t>בגודל </a:t>
            </a:r>
            <a:r>
              <a:rPr lang="en-US" dirty="0"/>
              <a:t> 60Hz </a:t>
            </a:r>
            <a:r>
              <a:rPr lang="he-IL" dirty="0"/>
              <a:t>עבור תדר</a:t>
            </a:r>
            <a:endParaRPr lang="en-US" dirty="0"/>
          </a:p>
          <a:p>
            <a:pPr algn="r"/>
            <a:r>
              <a:rPr lang="he-IL" dirty="0"/>
              <a:t>25</a:t>
            </a:r>
            <a:r>
              <a:rPr lang="en-US" dirty="0"/>
              <a:t>MHz</a:t>
            </a:r>
            <a:r>
              <a:rPr lang="he-IL" dirty="0"/>
              <a:t>שעון </a:t>
            </a:r>
            <a:endParaRPr lang="en-US" dirty="0"/>
          </a:p>
        </p:txBody>
      </p:sp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E065CB7F-BC96-4526-B2C9-F3ED780C2AC0}"/>
              </a:ext>
            </a:extLst>
          </p:cNvPr>
          <p:cNvSpPr txBox="1"/>
          <p:nvPr/>
        </p:nvSpPr>
        <p:spPr>
          <a:xfrm>
            <a:off x="1955800" y="2100871"/>
            <a:ext cx="63246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כאן רואים מבט על של המניה המלאה,מ0 עד 799 </a:t>
            </a:r>
          </a:p>
        </p:txBody>
      </p:sp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C1EE0865-6F43-4B10-A643-CBD0CB45A289}"/>
              </a:ext>
            </a:extLst>
          </p:cNvPr>
          <p:cNvSpPr txBox="1"/>
          <p:nvPr/>
        </p:nvSpPr>
        <p:spPr>
          <a:xfrm>
            <a:off x="1312332" y="2379133"/>
            <a:ext cx="6129868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ובשקפים הבאים נתמקד בכל אחד ואחד מהמאפיינים של הפרוטוקול</a:t>
            </a:r>
          </a:p>
        </p:txBody>
      </p:sp>
      <p:sp>
        <p:nvSpPr>
          <p:cNvPr id="3" name="חץ: ימינה 2">
            <a:extLst>
              <a:ext uri="{FF2B5EF4-FFF2-40B4-BE49-F238E27FC236}">
                <a16:creationId xmlns:a16="http://schemas.microsoft.com/office/drawing/2014/main" id="{0EAC7BD6-1A70-4013-A323-57E8CC145715}"/>
              </a:ext>
            </a:extLst>
          </p:cNvPr>
          <p:cNvSpPr/>
          <p:nvPr/>
        </p:nvSpPr>
        <p:spPr>
          <a:xfrm rot="10800000">
            <a:off x="2416915" y="3010194"/>
            <a:ext cx="978408" cy="32059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4" name="חץ: ימינה 3">
            <a:extLst>
              <a:ext uri="{FF2B5EF4-FFF2-40B4-BE49-F238E27FC236}">
                <a16:creationId xmlns:a16="http://schemas.microsoft.com/office/drawing/2014/main" id="{29C79C78-D323-4C45-A09B-BB40E6B18ABA}"/>
              </a:ext>
            </a:extLst>
          </p:cNvPr>
          <p:cNvSpPr/>
          <p:nvPr/>
        </p:nvSpPr>
        <p:spPr>
          <a:xfrm rot="9906466">
            <a:off x="6243318" y="5979204"/>
            <a:ext cx="978408" cy="20805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354CE5CE-105A-4338-BE3B-953AA543E6D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302" r="17020" b="64601"/>
          <a:stretch/>
        </p:blipFill>
        <p:spPr>
          <a:xfrm>
            <a:off x="1024292" y="632299"/>
            <a:ext cx="2785243" cy="14433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080" y="-281179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Tpw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5617" y="519650"/>
            <a:ext cx="905991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e-IL" dirty="0"/>
              <a:t>זהו תחילת מחזור השורה</a:t>
            </a:r>
          </a:p>
          <a:p>
            <a:pPr algn="ctr"/>
            <a:r>
              <a:rPr lang="he-IL" dirty="0"/>
              <a:t>הוא המונה האופקי </a:t>
            </a:r>
            <a:r>
              <a:rPr lang="en-US" dirty="0"/>
              <a:t> </a:t>
            </a:r>
            <a:r>
              <a:rPr lang="en-US" dirty="0" err="1"/>
              <a:t>hsync_reg</a:t>
            </a:r>
            <a:endParaRPr lang="en-US" dirty="0"/>
          </a:p>
          <a:p>
            <a:pPr algn="ctr"/>
            <a:r>
              <a:rPr lang="he-IL" dirty="0"/>
              <a:t>עד 799</a:t>
            </a:r>
            <a:r>
              <a:rPr lang="en-US" dirty="0"/>
              <a:t> </a:t>
            </a:r>
            <a:r>
              <a:rPr lang="he-IL" dirty="0"/>
              <a:t>מתחיל לספור מ0</a:t>
            </a:r>
          </a:p>
          <a:p>
            <a:pPr algn="ctr"/>
            <a:r>
              <a:rPr lang="he-IL" dirty="0"/>
              <a:t>כאשר המונה נמצא בין 0 ל95 ,האות הפיזי</a:t>
            </a:r>
          </a:p>
          <a:p>
            <a:pPr algn="ctr"/>
            <a:r>
              <a:rPr lang="he-IL" dirty="0"/>
              <a:t> </a:t>
            </a:r>
            <a:r>
              <a:rPr lang="en-US" dirty="0"/>
              <a:t> </a:t>
            </a:r>
            <a:r>
              <a:rPr lang="en-US" dirty="0" err="1"/>
              <a:t>hsync</a:t>
            </a:r>
            <a:r>
              <a:rPr lang="en-US" dirty="0"/>
              <a:t> </a:t>
            </a:r>
            <a:endParaRPr lang="he-IL" dirty="0"/>
          </a:p>
          <a:p>
            <a:pPr algn="ctr"/>
            <a:r>
              <a:rPr lang="he-IL" dirty="0"/>
              <a:t>עולה ל1 </a:t>
            </a:r>
            <a:r>
              <a:rPr lang="he-IL" dirty="0" err="1"/>
              <a:t>לוגי,זה</a:t>
            </a:r>
            <a:r>
              <a:rPr lang="he-IL" dirty="0"/>
              <a:t> מייצר את פולס הסנכרון הפיזי אל המסך (לפי </a:t>
            </a:r>
            <a:r>
              <a:rPr lang="he-IL" dirty="0" err="1"/>
              <a:t>הפרוטוקול,זהו</a:t>
            </a:r>
            <a:r>
              <a:rPr lang="he-IL" dirty="0"/>
              <a:t> התזמון של תחילת שורה)</a:t>
            </a:r>
            <a:r>
              <a:rPr lang="en-US" dirty="0"/>
              <a:t>   </a:t>
            </a:r>
            <a:endParaRPr lang="he-IL" dirty="0"/>
          </a:p>
          <a:p>
            <a:pPr algn="ctr"/>
            <a:r>
              <a:rPr lang="he-IL" dirty="0"/>
              <a:t>באותו הזמן המערכת מושתקת לצבע שחור (0000).ניתן לראות שבזמן </a:t>
            </a:r>
            <a:r>
              <a:rPr lang="he-IL" dirty="0" err="1"/>
              <a:t>אחר,יש</a:t>
            </a:r>
            <a:r>
              <a:rPr lang="he-IL" dirty="0"/>
              <a:t> מידע</a:t>
            </a:r>
            <a:r>
              <a:rPr lang="en-US" dirty="0"/>
              <a:t> </a:t>
            </a:r>
            <a:endParaRPr lang="he-IL" dirty="0"/>
          </a:p>
          <a:p>
            <a:pPr algn="ctr"/>
            <a:r>
              <a:rPr dirty="0"/>
              <a:t>.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57835301-BCA5-4626-BBB7-E951CA7CC40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498" b="16130"/>
          <a:stretch/>
        </p:blipFill>
        <p:spPr>
          <a:xfrm>
            <a:off x="0" y="2973989"/>
            <a:ext cx="9144000" cy="3722112"/>
          </a:xfrm>
          <a:prstGeom prst="rect">
            <a:avLst/>
          </a:prstGeom>
        </p:spPr>
      </p:pic>
      <p:sp>
        <p:nvSpPr>
          <p:cNvPr id="10" name="חץ: ימינה 9">
            <a:extLst>
              <a:ext uri="{FF2B5EF4-FFF2-40B4-BE49-F238E27FC236}">
                <a16:creationId xmlns:a16="http://schemas.microsoft.com/office/drawing/2014/main" id="{3B7F1FEF-5744-4AA2-A951-9948CD2D0625}"/>
              </a:ext>
            </a:extLst>
          </p:cNvPr>
          <p:cNvSpPr/>
          <p:nvPr/>
        </p:nvSpPr>
        <p:spPr>
          <a:xfrm rot="10800000">
            <a:off x="2354786" y="3203170"/>
            <a:ext cx="598620" cy="2494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45837202-5424-47A8-AE54-81BA35E9DA45}"/>
              </a:ext>
            </a:extLst>
          </p:cNvPr>
          <p:cNvSpPr/>
          <p:nvPr/>
        </p:nvSpPr>
        <p:spPr>
          <a:xfrm>
            <a:off x="3994166" y="3281997"/>
            <a:ext cx="1239751" cy="199109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 dirty="0"/>
          </a:p>
        </p:txBody>
      </p:sp>
      <p:sp>
        <p:nvSpPr>
          <p:cNvPr id="12" name="חץ: ימינה 11">
            <a:extLst>
              <a:ext uri="{FF2B5EF4-FFF2-40B4-BE49-F238E27FC236}">
                <a16:creationId xmlns:a16="http://schemas.microsoft.com/office/drawing/2014/main" id="{279D2AB3-268B-4F80-AF3F-0903607D016E}"/>
              </a:ext>
            </a:extLst>
          </p:cNvPr>
          <p:cNvSpPr/>
          <p:nvPr/>
        </p:nvSpPr>
        <p:spPr>
          <a:xfrm rot="1551998">
            <a:off x="4462607" y="6059903"/>
            <a:ext cx="1286678" cy="18791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-45720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/>
              <a:t>Back Porch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84083" y="912614"/>
            <a:ext cx="922808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e-IL" dirty="0"/>
              <a:t>כרונולוגית </a:t>
            </a:r>
            <a:r>
              <a:rPr lang="he-IL" dirty="0" err="1"/>
              <a:t>ופיזית,מיד</a:t>
            </a:r>
            <a:r>
              <a:rPr lang="he-IL" dirty="0"/>
              <a:t> לאחר ה</a:t>
            </a:r>
          </a:p>
          <a:p>
            <a:pPr algn="ctr"/>
            <a:r>
              <a:rPr lang="en-US" dirty="0" err="1"/>
              <a:t>Tpw</a:t>
            </a:r>
            <a:endParaRPr lang="en-US" dirty="0"/>
          </a:p>
          <a:p>
            <a:pPr algn="r"/>
            <a:r>
              <a:rPr lang="he-IL" dirty="0"/>
              <a:t>אלו בעצם 48 מחזורי שעון </a:t>
            </a:r>
            <a:r>
              <a:rPr lang="he-IL" dirty="0" err="1"/>
              <a:t>נוספים,שבהם</a:t>
            </a:r>
            <a:r>
              <a:rPr lang="he-IL" dirty="0"/>
              <a:t> לא משדרים עדיין </a:t>
            </a:r>
            <a:r>
              <a:rPr lang="he-IL" dirty="0" err="1"/>
              <a:t>מידע,זהו</a:t>
            </a:r>
            <a:r>
              <a:rPr lang="he-IL" dirty="0"/>
              <a:t> "זמן התייצבות" מיד אחר הסנכרון</a:t>
            </a:r>
          </a:p>
          <a:p>
            <a:pPr algn="ctr"/>
            <a:endParaRPr lang="he-IL" dirty="0"/>
          </a:p>
          <a:p>
            <a:pPr algn="r"/>
            <a:r>
              <a:rPr lang="he-IL" dirty="0"/>
              <a:t>בעצם אנחנו כרגע מושתקים על 96 של הסנכרון של </a:t>
            </a:r>
            <a:r>
              <a:rPr lang="he-IL" dirty="0" err="1"/>
              <a:t>התחילת</a:t>
            </a:r>
            <a:r>
              <a:rPr lang="he-IL" dirty="0"/>
              <a:t> </a:t>
            </a:r>
            <a:r>
              <a:rPr lang="he-IL" dirty="0" err="1"/>
              <a:t>שורה,פלוס</a:t>
            </a:r>
            <a:r>
              <a:rPr lang="he-IL" dirty="0"/>
              <a:t> ה48 של </a:t>
            </a:r>
            <a:r>
              <a:rPr lang="he-IL" dirty="0" err="1"/>
              <a:t>ההתייצבות,סך</a:t>
            </a:r>
            <a:r>
              <a:rPr lang="he-IL" dirty="0"/>
              <a:t> </a:t>
            </a:r>
            <a:r>
              <a:rPr lang="he-IL" dirty="0" err="1"/>
              <a:t>הכל</a:t>
            </a:r>
            <a:r>
              <a:rPr lang="he-IL" dirty="0"/>
              <a:t> 144 מחזורי שעון</a:t>
            </a:r>
          </a:p>
          <a:p>
            <a:pPr algn="r"/>
            <a:endParaRPr lang="he-IL" dirty="0"/>
          </a:p>
          <a:p>
            <a:pPr algn="r"/>
            <a:r>
              <a:rPr lang="he-IL" dirty="0"/>
              <a:t>ניתן לראות שהחל מהמחזור שעון הבא ,המידע נפתח</a:t>
            </a:r>
          </a:p>
          <a:p>
            <a:pPr algn="r"/>
            <a:endParaRPr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C855A071-C517-4AA1-B0DE-7F47C62E21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36" b="13065"/>
          <a:stretch/>
        </p:blipFill>
        <p:spPr>
          <a:xfrm>
            <a:off x="0" y="3360461"/>
            <a:ext cx="9144000" cy="3497539"/>
          </a:xfrm>
          <a:prstGeom prst="rect">
            <a:avLst/>
          </a:prstGeom>
        </p:spPr>
      </p:pic>
      <p:sp>
        <p:nvSpPr>
          <p:cNvPr id="7" name="חץ: ימינה 6">
            <a:extLst>
              <a:ext uri="{FF2B5EF4-FFF2-40B4-BE49-F238E27FC236}">
                <a16:creationId xmlns:a16="http://schemas.microsoft.com/office/drawing/2014/main" id="{0A2A4ABA-FE27-41B3-B916-A6E375786A44}"/>
              </a:ext>
            </a:extLst>
          </p:cNvPr>
          <p:cNvSpPr/>
          <p:nvPr/>
        </p:nvSpPr>
        <p:spPr>
          <a:xfrm>
            <a:off x="3421748" y="4017886"/>
            <a:ext cx="978408" cy="23122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0" name="חץ: ימינה 9">
            <a:extLst>
              <a:ext uri="{FF2B5EF4-FFF2-40B4-BE49-F238E27FC236}">
                <a16:creationId xmlns:a16="http://schemas.microsoft.com/office/drawing/2014/main" id="{B3BB8985-27F5-4704-BD5E-E60A61B5B4C3}"/>
              </a:ext>
            </a:extLst>
          </p:cNvPr>
          <p:cNvSpPr/>
          <p:nvPr/>
        </p:nvSpPr>
        <p:spPr>
          <a:xfrm rot="10800000">
            <a:off x="7426032" y="3902273"/>
            <a:ext cx="978408" cy="23122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2C2977ED-9E3A-48EF-8E4A-A48EEEBF838B}"/>
              </a:ext>
            </a:extLst>
          </p:cNvPr>
          <p:cNvSpPr/>
          <p:nvPr/>
        </p:nvSpPr>
        <p:spPr>
          <a:xfrm rot="527216">
            <a:off x="4536900" y="6404508"/>
            <a:ext cx="978408" cy="21421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22642"/>
          </a:xfrm>
        </p:spPr>
        <p:txBody>
          <a:bodyPr/>
          <a:lstStyle/>
          <a:p>
            <a:pPr algn="ctr" rtl="1"/>
            <a:r>
              <a:rPr dirty="0" err="1"/>
              <a:t>האזור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 (</a:t>
            </a:r>
            <a:r>
              <a:rPr dirty="0" err="1"/>
              <a:t>Tdisp</a:t>
            </a:r>
            <a:r>
              <a:rPr dirty="0"/>
              <a:t>)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78B4CC5C-4E5D-43D3-AAF3-85064569D4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759"/>
          <a:stretch/>
        </p:blipFill>
        <p:spPr>
          <a:xfrm>
            <a:off x="0" y="3069021"/>
            <a:ext cx="9144000" cy="3788979"/>
          </a:xfrm>
          <a:prstGeom prst="rect">
            <a:avLst/>
          </a:prstGeom>
        </p:spPr>
      </p:pic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45A9546E-63E0-4E62-A7AB-04B90D519163}"/>
              </a:ext>
            </a:extLst>
          </p:cNvPr>
          <p:cNvSpPr txBox="1"/>
          <p:nvPr/>
        </p:nvSpPr>
        <p:spPr>
          <a:xfrm>
            <a:off x="584791" y="1162493"/>
            <a:ext cx="7974418" cy="175432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dirty="0"/>
              <a:t>פה אנחנו רואים את 640 (783 -144 ) מחזורי השעון </a:t>
            </a:r>
            <a:r>
              <a:rPr lang="he-IL" dirty="0" err="1"/>
              <a:t>הפעילים,ניתן</a:t>
            </a:r>
            <a:r>
              <a:rPr lang="he-IL" dirty="0"/>
              <a:t> לראות כי </a:t>
            </a:r>
          </a:p>
          <a:p>
            <a:pPr algn="ctr"/>
            <a:r>
              <a:rPr lang="en-US" dirty="0" err="1"/>
              <a:t>addrb</a:t>
            </a:r>
            <a:r>
              <a:rPr lang="en-US" dirty="0"/>
              <a:t> </a:t>
            </a:r>
            <a:r>
              <a:rPr lang="he-IL" dirty="0"/>
              <a:t>פעיל</a:t>
            </a:r>
          </a:p>
          <a:p>
            <a:pPr algn="r"/>
            <a:endParaRPr lang="he-IL" dirty="0"/>
          </a:p>
          <a:p>
            <a:pPr algn="r"/>
            <a:r>
              <a:rPr lang="he-IL" dirty="0"/>
              <a:t>הערה </a:t>
            </a:r>
          </a:p>
          <a:p>
            <a:pPr algn="r"/>
            <a:r>
              <a:rPr lang="he-IL" dirty="0"/>
              <a:t>הצבעים </a:t>
            </a:r>
            <a:r>
              <a:rPr lang="en-US" dirty="0"/>
              <a:t>R G B</a:t>
            </a:r>
            <a:r>
              <a:rPr lang="he-IL" dirty="0"/>
              <a:t> </a:t>
            </a:r>
            <a:r>
              <a:rPr lang="he-IL" dirty="0" err="1"/>
              <a:t>וה</a:t>
            </a:r>
            <a:r>
              <a:rPr lang="en-US" dirty="0"/>
              <a:t>DTUB </a:t>
            </a:r>
          </a:p>
          <a:p>
            <a:pPr algn="r"/>
            <a:r>
              <a:rPr lang="he-IL" dirty="0"/>
              <a:t>אינם </a:t>
            </a:r>
            <a:r>
              <a:rPr lang="he-IL" dirty="0" err="1"/>
              <a:t>פעילים,טכנית</a:t>
            </a:r>
            <a:r>
              <a:rPr lang="he-IL" dirty="0"/>
              <a:t> ,על פי מה שנשלח בזמן זה מהטסט </a:t>
            </a:r>
            <a:r>
              <a:rPr lang="he-IL" dirty="0" err="1"/>
              <a:t>בנצ</a:t>
            </a:r>
            <a:endParaRPr lang="he-IL" dirty="0"/>
          </a:p>
        </p:txBody>
      </p:sp>
      <p:sp>
        <p:nvSpPr>
          <p:cNvPr id="9" name="חץ: ימינה 8">
            <a:extLst>
              <a:ext uri="{FF2B5EF4-FFF2-40B4-BE49-F238E27FC236}">
                <a16:creationId xmlns:a16="http://schemas.microsoft.com/office/drawing/2014/main" id="{5564EB7C-B5BD-46CE-ACAA-AEECA653AC1E}"/>
              </a:ext>
            </a:extLst>
          </p:cNvPr>
          <p:cNvSpPr/>
          <p:nvPr/>
        </p:nvSpPr>
        <p:spPr>
          <a:xfrm>
            <a:off x="2679404" y="4417537"/>
            <a:ext cx="701961" cy="14028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0" name="חץ: ימינה 9">
            <a:extLst>
              <a:ext uri="{FF2B5EF4-FFF2-40B4-BE49-F238E27FC236}">
                <a16:creationId xmlns:a16="http://schemas.microsoft.com/office/drawing/2014/main" id="{39077EEF-E53C-4B66-80FB-73DF67647838}"/>
              </a:ext>
            </a:extLst>
          </p:cNvPr>
          <p:cNvSpPr/>
          <p:nvPr/>
        </p:nvSpPr>
        <p:spPr>
          <a:xfrm rot="10800000">
            <a:off x="8410353" y="4458015"/>
            <a:ext cx="552893" cy="9980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193DB722-913C-4AAC-8BD7-D18E6CC1B105}"/>
              </a:ext>
            </a:extLst>
          </p:cNvPr>
          <p:cNvSpPr/>
          <p:nvPr/>
        </p:nvSpPr>
        <p:spPr>
          <a:xfrm rot="1448323">
            <a:off x="4485472" y="6316410"/>
            <a:ext cx="807209" cy="19732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373" y="-194595"/>
            <a:ext cx="8229600" cy="1143000"/>
          </a:xfrm>
        </p:spPr>
        <p:txBody>
          <a:bodyPr/>
          <a:lstStyle/>
          <a:p>
            <a:pPr algn="ctr" rtl="1"/>
            <a:r>
              <a:rPr lang="en-US" dirty="0"/>
              <a:t>Front </a:t>
            </a:r>
            <a:r>
              <a:rPr dirty="0"/>
              <a:t>Porch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136927" y="1265510"/>
            <a:ext cx="9262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e-IL" dirty="0"/>
              <a:t>16 (799-784)מחזורי שעון של </a:t>
            </a:r>
            <a:r>
              <a:rPr lang="he-IL" dirty="0" err="1"/>
              <a:t>השתקה,שהם</a:t>
            </a:r>
            <a:r>
              <a:rPr lang="he-IL" dirty="0"/>
              <a:t> בעצם שולי הביטחון של סוף סריקת השורה,</a:t>
            </a:r>
          </a:p>
          <a:p>
            <a:pPr algn="ctr"/>
            <a:r>
              <a:rPr lang="he-IL" dirty="0"/>
              <a:t>והכנה לקראת קבלת פולס סנכרון חדש (האות האדומה של ה96)</a:t>
            </a:r>
            <a:endParaRPr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BAB4B761-1459-485A-BBEF-F80C8A8745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70" t="21440" r="-789" b="-1"/>
          <a:stretch/>
        </p:blipFill>
        <p:spPr>
          <a:xfrm>
            <a:off x="0" y="3002928"/>
            <a:ext cx="9216190" cy="3855071"/>
          </a:xfrm>
          <a:prstGeom prst="rect">
            <a:avLst/>
          </a:prstGeom>
        </p:spPr>
      </p:pic>
      <p:sp>
        <p:nvSpPr>
          <p:cNvPr id="7" name="חץ: ימינה 6">
            <a:extLst>
              <a:ext uri="{FF2B5EF4-FFF2-40B4-BE49-F238E27FC236}">
                <a16:creationId xmlns:a16="http://schemas.microsoft.com/office/drawing/2014/main" id="{19EE7F93-8A62-4441-A6E7-F59AA871B546}"/>
              </a:ext>
            </a:extLst>
          </p:cNvPr>
          <p:cNvSpPr/>
          <p:nvPr/>
        </p:nvSpPr>
        <p:spPr>
          <a:xfrm rot="9272466">
            <a:off x="4936532" y="6242077"/>
            <a:ext cx="978408" cy="23969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8" name="חץ: ימינה 7">
            <a:extLst>
              <a:ext uri="{FF2B5EF4-FFF2-40B4-BE49-F238E27FC236}">
                <a16:creationId xmlns:a16="http://schemas.microsoft.com/office/drawing/2014/main" id="{8D97C8BA-5FEC-4465-BEE8-21942673C426}"/>
              </a:ext>
            </a:extLst>
          </p:cNvPr>
          <p:cNvSpPr/>
          <p:nvPr/>
        </p:nvSpPr>
        <p:spPr>
          <a:xfrm rot="578915">
            <a:off x="3140093" y="3400825"/>
            <a:ext cx="978408" cy="16979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8996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lang="he-IL" dirty="0"/>
              <a:t>מתאוריה לסיליקון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0" y="993813"/>
            <a:ext cx="90236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העולם</a:t>
            </a:r>
            <a:r>
              <a:rPr dirty="0"/>
              <a:t> </a:t>
            </a:r>
            <a:r>
              <a:rPr dirty="0" err="1"/>
              <a:t>האידיאלי</a:t>
            </a:r>
            <a:r>
              <a:rPr dirty="0"/>
              <a:t> (</a:t>
            </a:r>
            <a:r>
              <a:rPr dirty="0" err="1"/>
              <a:t>ModelSim</a:t>
            </a:r>
            <a:r>
              <a:rPr dirty="0"/>
              <a:t>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עד</a:t>
            </a:r>
            <a:r>
              <a:rPr dirty="0"/>
              <a:t> </a:t>
            </a:r>
            <a:r>
              <a:rPr dirty="0" err="1"/>
              <a:t>כה</a:t>
            </a:r>
            <a:r>
              <a:rPr dirty="0"/>
              <a:t> </a:t>
            </a:r>
            <a:r>
              <a:rPr dirty="0" err="1"/>
              <a:t>בדקנו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בסביבה</a:t>
            </a:r>
            <a:r>
              <a:rPr dirty="0"/>
              <a:t> </a:t>
            </a:r>
            <a:r>
              <a:rPr dirty="0" err="1"/>
              <a:t>וירטואלית</a:t>
            </a:r>
            <a:r>
              <a:rPr dirty="0"/>
              <a:t>. </a:t>
            </a:r>
            <a:r>
              <a:rPr dirty="0" err="1"/>
              <a:t>ראינו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אות</a:t>
            </a:r>
            <a:r>
              <a:rPr dirty="0"/>
              <a:t> </a:t>
            </a:r>
            <a:r>
              <a:rPr dirty="0" err="1"/>
              <a:t>ומונה</a:t>
            </a:r>
            <a:r>
              <a:rPr dirty="0"/>
              <a:t>,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ללא</a:t>
            </a:r>
            <a:r>
              <a:rPr dirty="0"/>
              <a:t> </a:t>
            </a:r>
            <a:r>
              <a:rPr dirty="0" err="1"/>
              <a:t>עיכובים</a:t>
            </a:r>
            <a:r>
              <a:rPr dirty="0"/>
              <a:t> </a:t>
            </a:r>
            <a:r>
              <a:rPr dirty="0" err="1"/>
              <a:t>פיזיים</a:t>
            </a:r>
            <a:r>
              <a:rPr dirty="0"/>
              <a:t> (Zero Latency).</a:t>
            </a:r>
            <a:endParaRPr lang="he-IL" dirty="0"/>
          </a:p>
          <a:p>
            <a:pPr algn="r" rtl="1">
              <a:defRPr sz="1600"/>
            </a:pP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המציאות</a:t>
            </a:r>
            <a:r>
              <a:rPr dirty="0"/>
              <a:t> </a:t>
            </a:r>
            <a:r>
              <a:rPr dirty="0" err="1"/>
              <a:t>הפיזית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לאחר</a:t>
            </a:r>
            <a:r>
              <a:rPr dirty="0"/>
              <a:t> </a:t>
            </a:r>
            <a:r>
              <a:rPr dirty="0" err="1"/>
              <a:t>סינתזה</a:t>
            </a:r>
            <a:r>
              <a:rPr dirty="0"/>
              <a:t> </a:t>
            </a:r>
            <a:r>
              <a:rPr dirty="0" err="1"/>
              <a:t>וצריבה</a:t>
            </a:r>
            <a:r>
              <a:rPr dirty="0"/>
              <a:t>. </a:t>
            </a:r>
            <a:r>
              <a:rPr dirty="0" err="1"/>
              <a:t>ישנם</a:t>
            </a:r>
            <a:r>
              <a:rPr dirty="0"/>
              <a:t> </a:t>
            </a:r>
            <a:r>
              <a:rPr dirty="0" err="1"/>
              <a:t>זמני</a:t>
            </a:r>
            <a:r>
              <a:rPr dirty="0"/>
              <a:t> </a:t>
            </a:r>
            <a:r>
              <a:rPr dirty="0" err="1"/>
              <a:t>התפשטות</a:t>
            </a:r>
            <a:r>
              <a:rPr dirty="0"/>
              <a:t> (Propagation delays)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האותות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הסיליקון</a:t>
            </a:r>
            <a:r>
              <a:rPr dirty="0"/>
              <a:t>.</a:t>
            </a:r>
            <a:endParaRPr lang="he-IL" dirty="0"/>
          </a:p>
          <a:p>
            <a:pPr algn="r" rtl="1">
              <a:defRPr sz="1600"/>
            </a:pP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מגבלת</a:t>
            </a:r>
            <a:r>
              <a:rPr dirty="0"/>
              <a:t> </a:t>
            </a:r>
            <a:r>
              <a:rPr dirty="0" err="1"/>
              <a:t>הדיבוג</a:t>
            </a:r>
            <a:r>
              <a:rPr dirty="0"/>
              <a:t> </a:t>
            </a:r>
            <a:r>
              <a:rPr dirty="0" err="1"/>
              <a:t>החיצוני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מבחוץ</a:t>
            </a:r>
            <a:r>
              <a:rPr dirty="0"/>
              <a:t> </a:t>
            </a:r>
            <a:r>
              <a:rPr dirty="0" err="1"/>
              <a:t>ניתן</a:t>
            </a:r>
            <a:r>
              <a:rPr dirty="0"/>
              <a:t> </a:t>
            </a:r>
            <a:r>
              <a:rPr dirty="0" err="1"/>
              <a:t>למדוד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הפינים</a:t>
            </a:r>
            <a:r>
              <a:rPr dirty="0"/>
              <a:t> </a:t>
            </a:r>
            <a:r>
              <a:rPr dirty="0" err="1"/>
              <a:t>הפיזיים</a:t>
            </a:r>
            <a:r>
              <a:rPr dirty="0"/>
              <a:t> (VGA_R/G/B, Sync).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אין</a:t>
            </a:r>
            <a:r>
              <a:rPr dirty="0"/>
              <a:t> </a:t>
            </a:r>
            <a:r>
              <a:rPr dirty="0" err="1"/>
              <a:t>לנו</a:t>
            </a:r>
            <a:r>
              <a:rPr dirty="0"/>
              <a:t> </a:t>
            </a:r>
            <a:r>
              <a:rPr dirty="0" err="1"/>
              <a:t>שום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לראות</a:t>
            </a:r>
            <a:r>
              <a:rPr dirty="0"/>
              <a:t> </a:t>
            </a:r>
            <a:r>
              <a:rPr dirty="0" err="1"/>
              <a:t>מתי</a:t>
            </a:r>
            <a:r>
              <a:rPr dirty="0"/>
              <a:t> </a:t>
            </a:r>
            <a:r>
              <a:rPr dirty="0" err="1"/>
              <a:t>המונה</a:t>
            </a:r>
            <a:r>
              <a:rPr dirty="0"/>
              <a:t> </a:t>
            </a:r>
            <a:r>
              <a:rPr dirty="0" err="1"/>
              <a:t>מתאפס</a:t>
            </a:r>
            <a:r>
              <a:rPr dirty="0"/>
              <a:t>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איזו</a:t>
            </a:r>
            <a:r>
              <a:rPr dirty="0"/>
              <a:t> </a:t>
            </a:r>
            <a:r>
              <a:rPr dirty="0" err="1"/>
              <a:t>כתובת</a:t>
            </a:r>
            <a:r>
              <a:rPr dirty="0"/>
              <a:t> </a:t>
            </a:r>
            <a:r>
              <a:rPr dirty="0" err="1"/>
              <a:t>נשלחת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4506" y="4122530"/>
            <a:ext cx="3657600" cy="2466474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rPr dirty="0" err="1"/>
              <a:t>קופסה</a:t>
            </a:r>
            <a:r>
              <a:rPr dirty="0"/>
              <a:t> </a:t>
            </a:r>
            <a:r>
              <a:rPr dirty="0" err="1"/>
              <a:t>שחורה</a:t>
            </a:r>
            <a:endParaRPr dirty="0"/>
          </a:p>
          <a:p>
            <a:r>
              <a:rPr dirty="0" err="1"/>
              <a:t>אין</a:t>
            </a:r>
            <a:r>
              <a:rPr dirty="0"/>
              <a:t> </a:t>
            </a:r>
            <a:r>
              <a:rPr dirty="0" err="1"/>
              <a:t>גישה</a:t>
            </a:r>
            <a:r>
              <a:rPr dirty="0"/>
              <a:t> </a:t>
            </a:r>
            <a:r>
              <a:rPr dirty="0" err="1"/>
              <a:t>לאותות</a:t>
            </a:r>
            <a:r>
              <a:rPr dirty="0"/>
              <a:t> </a:t>
            </a:r>
            <a:r>
              <a:rPr dirty="0" err="1"/>
              <a:t>פנימיים</a:t>
            </a:r>
            <a:r>
              <a:rPr lang="he-IL" dirty="0"/>
              <a:t>       </a:t>
            </a:r>
            <a:endParaRPr dirty="0"/>
          </a:p>
        </p:txBody>
      </p:sp>
      <p:sp>
        <p:nvSpPr>
          <p:cNvPr id="5" name="Right Arrow 4"/>
          <p:cNvSpPr/>
          <p:nvPr/>
        </p:nvSpPr>
        <p:spPr>
          <a:xfrm>
            <a:off x="6571649" y="4758675"/>
            <a:ext cx="731520" cy="327259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 flipV="1">
            <a:off x="1840831" y="4777927"/>
            <a:ext cx="731520" cy="274319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86876" y="4137846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 err="1"/>
              <a:t>פינים</a:t>
            </a:r>
            <a:r>
              <a:rPr dirty="0"/>
              <a:t> </a:t>
            </a:r>
            <a:r>
              <a:rPr dirty="0" err="1"/>
              <a:t>בלבד</a:t>
            </a:r>
            <a:endParaRPr dirty="0"/>
          </a:p>
          <a:p>
            <a:r>
              <a:rPr dirty="0"/>
              <a:t>(RGB, Sync)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דיבוג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הסיליקון</a:t>
            </a:r>
            <a:r>
              <a:rPr dirty="0"/>
              <a:t>: </a:t>
            </a:r>
            <a:br>
              <a:rPr lang="he-IL" dirty="0"/>
            </a:br>
            <a:r>
              <a:rPr lang="he-IL" dirty="0"/>
              <a:t>  </a:t>
            </a:r>
            <a:r>
              <a:rPr dirty="0" err="1"/>
              <a:t>Vivado</a:t>
            </a:r>
            <a:r>
              <a:rPr dirty="0"/>
              <a:t> ILA </a:t>
            </a:r>
            <a:r>
              <a:rPr lang="he-IL" dirty="0"/>
              <a:t> </a:t>
            </a:r>
            <a:r>
              <a:rPr dirty="0" err="1"/>
              <a:t>קופסה</a:t>
            </a:r>
            <a:r>
              <a:rPr dirty="0"/>
              <a:t> </a:t>
            </a:r>
            <a:r>
              <a:rPr dirty="0" err="1"/>
              <a:t>לבנה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-1804225" y="1097280"/>
            <a:ext cx="10491025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הפתרון</a:t>
            </a:r>
            <a:r>
              <a:rPr dirty="0"/>
              <a:t> </a:t>
            </a:r>
            <a:r>
              <a:rPr dirty="0" err="1"/>
              <a:t>ההנדסי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הוספת</a:t>
            </a:r>
            <a:r>
              <a:rPr dirty="0"/>
              <a:t> Integrated Logic Analyzer (ILA) –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רכיב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</a:t>
            </a:r>
            <a:r>
              <a:rPr dirty="0" err="1"/>
              <a:t>פנימי</a:t>
            </a:r>
            <a:r>
              <a:rPr dirty="0"/>
              <a:t> </a:t>
            </a:r>
            <a:r>
              <a:rPr dirty="0" err="1"/>
              <a:t>שדוגם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האותות</a:t>
            </a:r>
            <a:r>
              <a:rPr dirty="0"/>
              <a:t> </a:t>
            </a:r>
            <a:r>
              <a:rPr dirty="0" err="1"/>
              <a:t>ומשדר</a:t>
            </a:r>
            <a:r>
              <a:rPr dirty="0"/>
              <a:t> </a:t>
            </a:r>
            <a:r>
              <a:rPr dirty="0" err="1"/>
              <a:t>אותם</a:t>
            </a:r>
            <a:r>
              <a:rPr dirty="0"/>
              <a:t> </a:t>
            </a:r>
            <a:r>
              <a:rPr dirty="0" err="1"/>
              <a:t>למחשב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היתרון</a:t>
            </a:r>
            <a:r>
              <a:rPr dirty="0"/>
              <a:t> </a:t>
            </a:r>
            <a:r>
              <a:rPr lang="he-IL" dirty="0"/>
              <a:t> :</a:t>
            </a:r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מאפשר</a:t>
            </a:r>
            <a:r>
              <a:rPr dirty="0"/>
              <a:t> </a:t>
            </a:r>
            <a:r>
              <a:rPr lang="he-IL" dirty="0"/>
              <a:t>לדוגמא </a:t>
            </a:r>
            <a:r>
              <a:rPr dirty="0" err="1"/>
              <a:t>לראות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זמני</a:t>
            </a:r>
            <a:r>
              <a:rPr dirty="0"/>
              <a:t> </a:t>
            </a:r>
            <a:r>
              <a:rPr dirty="0" err="1"/>
              <a:t>ההשהיה</a:t>
            </a:r>
            <a:r>
              <a:rPr dirty="0"/>
              <a:t> </a:t>
            </a:r>
            <a:r>
              <a:rPr dirty="0" err="1"/>
              <a:t>האמיתיים</a:t>
            </a:r>
            <a:r>
              <a:rPr dirty="0"/>
              <a:t> </a:t>
            </a:r>
            <a:r>
              <a:rPr dirty="0" err="1"/>
              <a:t>שבין</a:t>
            </a:r>
            <a:r>
              <a:rPr dirty="0"/>
              <a:t> </a:t>
            </a:r>
            <a:r>
              <a:rPr dirty="0" err="1"/>
              <a:t>שליחת</a:t>
            </a:r>
            <a:r>
              <a:rPr dirty="0"/>
              <a:t> </a:t>
            </a:r>
            <a:r>
              <a:rPr dirty="0" err="1"/>
              <a:t>בקשה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 (</a:t>
            </a:r>
            <a:r>
              <a:rPr dirty="0" err="1"/>
              <a:t>addrb</a:t>
            </a:r>
            <a:r>
              <a:rPr dirty="0"/>
              <a:t>) </a:t>
            </a:r>
            <a:r>
              <a:rPr dirty="0" err="1"/>
              <a:t>לקבלת</a:t>
            </a:r>
            <a:r>
              <a:rPr dirty="0"/>
              <a:t> </a:t>
            </a:r>
            <a:r>
              <a:rPr dirty="0" err="1"/>
              <a:t>הנתון</a:t>
            </a:r>
            <a:r>
              <a:rPr dirty="0"/>
              <a:t> (</a:t>
            </a:r>
            <a:r>
              <a:rPr dirty="0" err="1"/>
              <a:t>doutb</a:t>
            </a:r>
            <a:r>
              <a:rPr dirty="0"/>
              <a:t>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החיסרון</a:t>
            </a:r>
            <a:r>
              <a:rPr dirty="0"/>
              <a:t> (Trade-off):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/>
              <a:t>ה-ILA </a:t>
            </a:r>
            <a:r>
              <a:rPr dirty="0" err="1"/>
              <a:t>אינו</a:t>
            </a:r>
            <a:r>
              <a:rPr dirty="0"/>
              <a:t> </a:t>
            </a:r>
            <a:r>
              <a:rPr dirty="0" err="1"/>
              <a:t>חינמי</a:t>
            </a:r>
            <a:r>
              <a:rPr dirty="0"/>
              <a:t>. </a:t>
            </a:r>
            <a:r>
              <a:rPr dirty="0" err="1"/>
              <a:t>הוא</a:t>
            </a:r>
            <a:r>
              <a:rPr dirty="0"/>
              <a:t> </a:t>
            </a:r>
            <a:r>
              <a:rPr lang="he-IL" dirty="0"/>
              <a:t>לוקח</a:t>
            </a:r>
            <a:r>
              <a:rPr dirty="0"/>
              <a:t> </a:t>
            </a:r>
            <a:r>
              <a:rPr dirty="0" err="1"/>
              <a:t>משאבי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 </a:t>
            </a:r>
            <a:r>
              <a:rPr dirty="0" err="1"/>
              <a:t>מהכרטיס</a:t>
            </a:r>
            <a:r>
              <a:rPr dirty="0"/>
              <a:t> (LUTs ו-BRAM) </a:t>
            </a:r>
            <a:r>
              <a:rPr dirty="0" err="1"/>
              <a:t>לצורך</a:t>
            </a:r>
            <a:r>
              <a:rPr dirty="0"/>
              <a:t> </a:t>
            </a:r>
            <a:r>
              <a:rPr dirty="0" err="1"/>
              <a:t>לוגיקת</a:t>
            </a:r>
            <a:r>
              <a:rPr dirty="0"/>
              <a:t> </a:t>
            </a:r>
            <a:r>
              <a:rPr dirty="0" err="1"/>
              <a:t>הדגימה</a:t>
            </a:r>
            <a:r>
              <a:rPr dirty="0"/>
              <a:t> </a:t>
            </a:r>
            <a:r>
              <a:rPr dirty="0" err="1"/>
              <a:t>ואגירת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056374"/>
              </p:ext>
            </p:extLst>
          </p:nvPr>
        </p:nvGraphicFramePr>
        <p:xfrm>
          <a:off x="565485" y="4263356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sz="1500" b="1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500" b="1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500" b="1"/>
                      </a:pPr>
                      <a:r>
                        <a:t>האות שנדגום ב-ILA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addrb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doutb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pxl_data_reg</a:t>
                      </a:r>
                      <a:r>
                        <a:rPr dirty="0"/>
                        <a:t> (</a:t>
                      </a:r>
                      <a:r>
                        <a:rPr dirty="0" err="1"/>
                        <a:t>בדיקת</a:t>
                      </a:r>
                      <a:r>
                        <a:rPr lang="he-IL" dirty="0"/>
                        <a:t> הבאס </a:t>
                      </a:r>
                      <a:r>
                        <a:rPr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hsync_debug (מייצג את hsync_reg)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rPr dirty="0" err="1"/>
                        <a:t>אכיפת</a:t>
                      </a:r>
                      <a:r>
                        <a:rPr dirty="0"/>
                        <a:t> </a:t>
                      </a:r>
                      <a:r>
                        <a:rPr lang="he-IL" dirty="0"/>
                        <a:t>0</a:t>
                      </a:r>
                      <a:r>
                        <a:rPr dirty="0"/>
                        <a:t>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רואים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מסך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חשוך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ללא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הקשר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תזמוני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in_display_area_delayed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724" y="0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עלות</a:t>
            </a:r>
            <a:r>
              <a:rPr dirty="0"/>
              <a:t> </a:t>
            </a:r>
            <a:r>
              <a:rPr dirty="0" err="1"/>
              <a:t>הדיבוג</a:t>
            </a:r>
            <a:r>
              <a:rPr dirty="0"/>
              <a:t>: </a:t>
            </a:r>
            <a:r>
              <a:rPr dirty="0" err="1"/>
              <a:t>ניתוח</a:t>
            </a:r>
            <a:r>
              <a:rPr dirty="0"/>
              <a:t>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277268" y="770021"/>
            <a:ext cx="9300951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ה-ILA </a:t>
            </a:r>
            <a:r>
              <a:rPr dirty="0" err="1"/>
              <a:t>איננו</a:t>
            </a:r>
            <a:r>
              <a:rPr dirty="0"/>
              <a:t> </a:t>
            </a:r>
            <a:r>
              <a:rPr dirty="0" err="1"/>
              <a:t>תוכנה</a:t>
            </a:r>
            <a:r>
              <a:rPr lang="he-IL" dirty="0"/>
              <a:t>,</a:t>
            </a:r>
            <a:r>
              <a:rPr dirty="0"/>
              <a:t> </a:t>
            </a:r>
            <a:r>
              <a:rPr dirty="0" err="1"/>
              <a:t>זוהי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</a:t>
            </a:r>
            <a:r>
              <a:rPr dirty="0" err="1"/>
              <a:t>פיזית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המסונתזת</a:t>
            </a:r>
            <a:r>
              <a:rPr dirty="0"/>
              <a:t> </a:t>
            </a:r>
            <a:r>
              <a:rPr dirty="0" err="1"/>
              <a:t>ונצרבת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הסיליקון</a:t>
            </a:r>
            <a:r>
              <a:rPr dirty="0"/>
              <a:t> </a:t>
            </a:r>
            <a:r>
              <a:rPr dirty="0" err="1"/>
              <a:t>לצד</a:t>
            </a:r>
            <a:r>
              <a:rPr dirty="0"/>
              <a:t> </a:t>
            </a:r>
            <a:r>
              <a:rPr dirty="0" err="1"/>
              <a:t>לוגיקת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שלנו</a:t>
            </a:r>
            <a:r>
              <a:rPr dirty="0"/>
              <a:t> </a:t>
            </a:r>
            <a:r>
              <a:rPr dirty="0" err="1"/>
              <a:t>יעיל</a:t>
            </a:r>
            <a:r>
              <a:rPr dirty="0"/>
              <a:t> </a:t>
            </a:r>
            <a:r>
              <a:rPr dirty="0" err="1"/>
              <a:t>מאוד</a:t>
            </a:r>
            <a:r>
              <a:rPr dirty="0"/>
              <a:t> </a:t>
            </a:r>
            <a:r>
              <a:rPr dirty="0" err="1"/>
              <a:t>וצורך</a:t>
            </a:r>
            <a:r>
              <a:rPr dirty="0"/>
              <a:t> </a:t>
            </a:r>
            <a:r>
              <a:rPr dirty="0" err="1"/>
              <a:t>משאבים</a:t>
            </a:r>
            <a:r>
              <a:rPr dirty="0"/>
              <a:t> </a:t>
            </a:r>
            <a:r>
              <a:rPr dirty="0" err="1"/>
              <a:t>אפסיים</a:t>
            </a:r>
            <a:r>
              <a:rPr dirty="0"/>
              <a:t>, </a:t>
            </a:r>
            <a:r>
              <a:rPr dirty="0" err="1"/>
              <a:t>בעוד</a:t>
            </a:r>
            <a:r>
              <a:rPr dirty="0"/>
              <a:t> </a:t>
            </a:r>
            <a:r>
              <a:rPr dirty="0" err="1"/>
              <a:t>שמערכת</a:t>
            </a:r>
            <a:r>
              <a:rPr dirty="0"/>
              <a:t> </a:t>
            </a:r>
            <a:r>
              <a:rPr dirty="0" err="1"/>
              <a:t>הדיבוג</a:t>
            </a:r>
            <a:r>
              <a:rPr dirty="0"/>
              <a:t> (ILA + Debug Hub) </a:t>
            </a:r>
            <a:r>
              <a:rPr lang="he-IL" dirty="0"/>
              <a:t> </a:t>
            </a:r>
            <a:r>
              <a:rPr dirty="0" err="1"/>
              <a:t>דורשת</a:t>
            </a:r>
            <a:r>
              <a:rPr dirty="0"/>
              <a:t> </a:t>
            </a:r>
            <a:r>
              <a:rPr dirty="0" err="1"/>
              <a:t>אלפי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רכיבים</a:t>
            </a:r>
            <a:r>
              <a:rPr dirty="0"/>
              <a:t> </a:t>
            </a:r>
            <a:r>
              <a:rPr dirty="0" err="1"/>
              <a:t>לוגיים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lang="he-IL" dirty="0"/>
              <a:t>לסיכום</a:t>
            </a:r>
            <a:r>
              <a:rPr dirty="0"/>
              <a:t>: ה-ILA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כלי</a:t>
            </a:r>
            <a:r>
              <a:rPr dirty="0"/>
              <a:t> </a:t>
            </a:r>
            <a:r>
              <a:rPr lang="he-IL" dirty="0"/>
              <a:t>יעיל </a:t>
            </a:r>
            <a:r>
              <a:rPr dirty="0" err="1"/>
              <a:t>לפיתוח</a:t>
            </a:r>
            <a:r>
              <a:rPr dirty="0"/>
              <a:t> </a:t>
            </a:r>
            <a:r>
              <a:rPr lang="he-IL" dirty="0" err="1"/>
              <a:t>ולבדיקות,אך</a:t>
            </a:r>
            <a:r>
              <a:rPr lang="he-IL" dirty="0"/>
              <a:t> כמובן שהוא לא </a:t>
            </a:r>
            <a:r>
              <a:rPr lang="he-IL" dirty="0" err="1"/>
              <a:t>ישאר</a:t>
            </a:r>
            <a:r>
              <a:rPr lang="he-IL" dirty="0"/>
              <a:t> ברכיב סתם,</a:t>
            </a:r>
          </a:p>
          <a:p>
            <a:pPr algn="r" rtl="1">
              <a:defRPr sz="1600"/>
            </a:pPr>
            <a:r>
              <a:rPr lang="he-IL" dirty="0"/>
              <a:t>מה </a:t>
            </a:r>
            <a:r>
              <a:rPr lang="he-IL" dirty="0" err="1"/>
              <a:t>גם,ייתכן</a:t>
            </a:r>
            <a:r>
              <a:rPr lang="he-IL" dirty="0"/>
              <a:t> שאם המערכת שלנו גדולה ותופסת הרבה </a:t>
            </a:r>
            <a:r>
              <a:rPr lang="he-IL" dirty="0" err="1"/>
              <a:t>זיכרון,לא</a:t>
            </a:r>
            <a:r>
              <a:rPr lang="he-IL" dirty="0"/>
              <a:t> נוכל ליישם טכנולוגיה זו</a:t>
            </a:r>
          </a:p>
          <a:p>
            <a:pPr marL="285750" indent="-285750" algn="r" rtl="1">
              <a:buFont typeface="Arial" panose="020B0604020202020204" pitchFamily="34" charset="0"/>
              <a:buChar char="•"/>
              <a:defRPr sz="1600"/>
            </a:pPr>
            <a:endParaRPr lang="he-IL" dirty="0"/>
          </a:p>
          <a:p>
            <a:pPr marL="285750" indent="-285750" algn="r" rtl="1">
              <a:buFont typeface="Arial" panose="020B0604020202020204" pitchFamily="34" charset="0"/>
              <a:buChar char="•"/>
              <a:defRPr sz="1600"/>
            </a:pPr>
            <a:r>
              <a:rPr lang="he-IL" dirty="0"/>
              <a:t>מצד ימין ניתן לראות את ה</a:t>
            </a:r>
            <a:r>
              <a:rPr lang="en-US" dirty="0"/>
              <a:t>device</a:t>
            </a:r>
            <a:r>
              <a:rPr lang="he-IL" dirty="0"/>
              <a:t> ללא ה</a:t>
            </a:r>
            <a:r>
              <a:rPr lang="en-US" dirty="0"/>
              <a:t>ILA </a:t>
            </a:r>
            <a:r>
              <a:rPr lang="he-IL" dirty="0"/>
              <a:t>, ולעומתו מצד </a:t>
            </a:r>
            <a:r>
              <a:rPr lang="he-IL" dirty="0" err="1"/>
              <a:t>שמאל,כולל</a:t>
            </a:r>
            <a:endParaRPr dirty="0"/>
          </a:p>
        </p:txBody>
      </p:sp>
      <p:pic>
        <p:nvPicPr>
          <p:cNvPr id="5" name="Picture 4" descr="device_view_with_ila.png"/>
          <p:cNvPicPr>
            <a:picLocks noChangeAspect="1"/>
          </p:cNvPicPr>
          <p:nvPr/>
        </p:nvPicPr>
        <p:blipFill rotWithShape="1">
          <a:blip r:embed="rId2"/>
          <a:srcRect l="64583" t="14011" r="348" b="-14011"/>
          <a:stretch/>
        </p:blipFill>
        <p:spPr>
          <a:xfrm>
            <a:off x="1431198" y="3106554"/>
            <a:ext cx="2111685" cy="3751446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5B54D1FC-2E1A-47C3-8F8B-02D6698098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356" t="18731" r="19550" b="28375"/>
          <a:stretch/>
        </p:blipFill>
        <p:spPr>
          <a:xfrm>
            <a:off x="5675586" y="3106554"/>
            <a:ext cx="2111685" cy="322095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3FB3069-12FC-477A-A79F-F06AF3642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utilization</a:t>
            </a:r>
            <a:endParaRPr lang="he-IL" dirty="0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2C39A77-6DAC-4DC9-97EB-FB313760161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8161" t="10926" r="7127" b="65780"/>
          <a:stretch/>
        </p:blipFill>
        <p:spPr>
          <a:xfrm>
            <a:off x="557743" y="2393645"/>
            <a:ext cx="7861738" cy="2070710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5E5477C7-3471-444B-961F-2C5712A5EC2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690" t="11481" b="59051"/>
          <a:stretch/>
        </p:blipFill>
        <p:spPr>
          <a:xfrm>
            <a:off x="557743" y="4592608"/>
            <a:ext cx="7861738" cy="1834881"/>
          </a:xfrm>
          <a:prstGeom prst="rect">
            <a:avLst/>
          </a:prstGeom>
        </p:spPr>
      </p:pic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AC961AAB-218D-4BCF-BC0A-7828B6287CDC}"/>
              </a:ext>
            </a:extLst>
          </p:cNvPr>
          <p:cNvSpPr txBox="1"/>
          <p:nvPr/>
        </p:nvSpPr>
        <p:spPr>
          <a:xfrm>
            <a:off x="767950" y="1305477"/>
            <a:ext cx="7441324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להלן השווה בין השטחים עם וללא היחידות </a:t>
            </a:r>
            <a:r>
              <a:rPr lang="he-IL" dirty="0" err="1"/>
              <a:t>דיבוג,ניתן</a:t>
            </a:r>
            <a:r>
              <a:rPr lang="he-IL" dirty="0"/>
              <a:t> לראות שאנו משלמים מחיר של עוד 1283 + 449 יחידות לוגיות </a:t>
            </a:r>
          </a:p>
          <a:p>
            <a:pPr algn="r"/>
            <a:r>
              <a:rPr lang="he-IL" dirty="0"/>
              <a:t>שזה מחיר </a:t>
            </a:r>
            <a:r>
              <a:rPr lang="he-IL" dirty="0" err="1"/>
              <a:t>כבד,הוא</a:t>
            </a:r>
            <a:r>
              <a:rPr lang="he-IL" dirty="0"/>
              <a:t> יותר מ100 אחוז מהמחיר שלוקחת המערכת עצמה</a:t>
            </a:r>
          </a:p>
          <a:p>
            <a:pPr algn="r"/>
            <a:r>
              <a:rPr lang="en-US" dirty="0"/>
              <a:t>   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6A947FD-04ED-4E45-8018-BBB390DA3921}"/>
              </a:ext>
            </a:extLst>
          </p:cNvPr>
          <p:cNvSpPr/>
          <p:nvPr/>
        </p:nvSpPr>
        <p:spPr>
          <a:xfrm>
            <a:off x="2291253" y="2505806"/>
            <a:ext cx="730469" cy="4243910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3310042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105" y="-283011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/>
              <a:t>Post-Silicon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433137" y="471638"/>
            <a:ext cx="9565713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בניגוד</a:t>
            </a:r>
            <a:r>
              <a:rPr dirty="0"/>
              <a:t> </a:t>
            </a:r>
            <a:r>
              <a:rPr dirty="0" err="1"/>
              <a:t>לסימולציה</a:t>
            </a:r>
            <a:r>
              <a:rPr dirty="0"/>
              <a:t> </a:t>
            </a:r>
            <a:r>
              <a:rPr dirty="0" err="1"/>
              <a:t>האידיאלית</a:t>
            </a:r>
            <a:r>
              <a:rPr dirty="0"/>
              <a:t> </a:t>
            </a:r>
            <a:r>
              <a:rPr dirty="0" err="1"/>
              <a:t>בשקף</a:t>
            </a:r>
            <a:r>
              <a:rPr lang="he-IL" dirty="0"/>
              <a:t> 15, </a:t>
            </a:r>
            <a:r>
              <a:rPr dirty="0"/>
              <a:t> </a:t>
            </a:r>
            <a:r>
              <a:rPr dirty="0" err="1"/>
              <a:t>כאן</a:t>
            </a:r>
            <a:r>
              <a:rPr dirty="0"/>
              <a:t> </a:t>
            </a:r>
            <a:r>
              <a:rPr dirty="0" err="1"/>
              <a:t>אנו</a:t>
            </a:r>
            <a:r>
              <a:rPr dirty="0"/>
              <a:t> </a:t>
            </a:r>
            <a:r>
              <a:rPr dirty="0" err="1"/>
              <a:t>דוגמים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החומרה</a:t>
            </a:r>
            <a:r>
              <a:rPr dirty="0"/>
              <a:t> </a:t>
            </a:r>
            <a:r>
              <a:rPr dirty="0" err="1"/>
              <a:t>הפיזית</a:t>
            </a:r>
            <a:r>
              <a:rPr dirty="0"/>
              <a:t> </a:t>
            </a:r>
            <a:r>
              <a:rPr dirty="0" err="1"/>
              <a:t>פועלת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באמצעות</a:t>
            </a:r>
            <a:r>
              <a:rPr dirty="0"/>
              <a:t> ה-ILA.</a:t>
            </a:r>
            <a:endParaRPr lang="he-IL" dirty="0"/>
          </a:p>
          <a:p>
            <a:pPr algn="r" rtl="1">
              <a:defRPr sz="1600"/>
            </a:pPr>
            <a:endParaRPr lang="he-IL" dirty="0"/>
          </a:p>
          <a:p>
            <a:pPr algn="r" rtl="1">
              <a:defRPr sz="1600"/>
            </a:pPr>
            <a:r>
              <a:rPr lang="he-IL" dirty="0"/>
              <a:t>   ניתן לראות שהפיזיקה במקרה שלנו תואמת 1:1 לסימולציה של הלוגיקה </a:t>
            </a:r>
            <a:r>
              <a:rPr lang="he-IL" dirty="0" err="1"/>
              <a:t>במודלסים</a:t>
            </a:r>
            <a:r>
              <a:rPr lang="he-IL" dirty="0"/>
              <a:t> </a:t>
            </a:r>
            <a:r>
              <a:rPr lang="he-IL" dirty="0" err="1"/>
              <a:t>למעלה,כאשר</a:t>
            </a:r>
            <a:r>
              <a:rPr lang="he-IL" dirty="0"/>
              <a:t> הדגל נפתח</a:t>
            </a:r>
          </a:p>
          <a:p>
            <a:pPr algn="r" rtl="1">
              <a:defRPr sz="1600"/>
            </a:pPr>
            <a:r>
              <a:rPr lang="he-IL" dirty="0"/>
              <a:t>   (במקרה </a:t>
            </a:r>
            <a:r>
              <a:rPr lang="he-IL" dirty="0" err="1"/>
              <a:t>הנל</a:t>
            </a:r>
            <a:r>
              <a:rPr lang="he-IL" dirty="0"/>
              <a:t> דגמתי את </a:t>
            </a:r>
            <a:r>
              <a:rPr lang="en-US" dirty="0" err="1"/>
              <a:t>in_display_area_delayed</a:t>
            </a:r>
            <a:r>
              <a:rPr lang="he-IL" dirty="0"/>
              <a:t>) ,אזי המידע שמגיע מה</a:t>
            </a:r>
            <a:r>
              <a:rPr lang="en-US" dirty="0" err="1"/>
              <a:t>doutb</a:t>
            </a:r>
            <a:r>
              <a:rPr lang="en-US" dirty="0"/>
              <a:t> </a:t>
            </a:r>
            <a:r>
              <a:rPr lang="he-IL" dirty="0"/>
              <a:t>, מוזן לאחר ההתייצבות ב</a:t>
            </a:r>
          </a:p>
          <a:p>
            <a:pPr algn="r" rtl="1">
              <a:defRPr sz="1600"/>
            </a:pPr>
            <a:r>
              <a:rPr lang="en-US" dirty="0" err="1"/>
              <a:t>Pxl_data_reg</a:t>
            </a:r>
            <a:r>
              <a:rPr lang="en-US" dirty="0"/>
              <a:t>       </a:t>
            </a:r>
            <a:r>
              <a:rPr lang="he-IL" dirty="0"/>
              <a:t> ,ישירות אל קווי ה </a:t>
            </a:r>
            <a:r>
              <a:rPr lang="en-US" dirty="0"/>
              <a:t>R G B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 (הערה: בצילום זה לא רואים ברור </a:t>
            </a:r>
            <a:r>
              <a:rPr lang="he-IL" dirty="0" err="1"/>
              <a:t>מספיק,אבל</a:t>
            </a:r>
            <a:r>
              <a:rPr lang="he-IL" dirty="0"/>
              <a:t> כמובן שמצד </a:t>
            </a:r>
            <a:r>
              <a:rPr lang="he-IL" dirty="0" err="1"/>
              <a:t>שמאל,כל</a:t>
            </a:r>
            <a:r>
              <a:rPr lang="he-IL" dirty="0"/>
              <a:t> עוד אנחנו באזור לא פעיל,</a:t>
            </a:r>
          </a:p>
          <a:p>
            <a:pPr algn="r" rtl="1">
              <a:defRPr sz="1600"/>
            </a:pPr>
            <a:r>
              <a:rPr lang="he-IL" dirty="0"/>
              <a:t>     אין עדכונים של כתובות)</a:t>
            </a:r>
            <a:endParaRPr dirty="0"/>
          </a:p>
        </p:txBody>
      </p:sp>
      <p:pic>
        <p:nvPicPr>
          <p:cNvPr id="4" name="Picture 3" descr="ila_hardware_data_path_transition.png"/>
          <p:cNvPicPr>
            <a:picLocks noChangeAspect="1"/>
          </p:cNvPicPr>
          <p:nvPr/>
        </p:nvPicPr>
        <p:blipFill rotWithShape="1">
          <a:blip r:embed="rId2"/>
          <a:srcRect l="1024" t="12018" r="2924"/>
          <a:stretch/>
        </p:blipFill>
        <p:spPr>
          <a:xfrm>
            <a:off x="0" y="2469822"/>
            <a:ext cx="9143999" cy="46410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159" y="545058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lang="he-IL" dirty="0"/>
              <a:t>כאן יכנס החלק של העיבוד תמונה </a:t>
            </a:r>
            <a:endParaRPr dirty="0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F1C63A57-3DB7-4F5B-9E36-98E3FDDBEFAB}"/>
              </a:ext>
            </a:extLst>
          </p:cNvPr>
          <p:cNvSpPr txBox="1"/>
          <p:nvPr/>
        </p:nvSpPr>
        <p:spPr>
          <a:xfrm rot="10800000" flipV="1">
            <a:off x="2879835" y="5507420"/>
            <a:ext cx="553895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של השותף שלי אלעד </a:t>
            </a:r>
            <a:r>
              <a:rPr lang="he-IL" dirty="0" err="1"/>
              <a:t>אסבג</a:t>
            </a:r>
            <a:r>
              <a:rPr lang="he-IL" dirty="0"/>
              <a:t> היקר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פיתוח</a:t>
            </a:r>
            <a:r>
              <a:rPr dirty="0"/>
              <a:t> </a:t>
            </a:r>
            <a:r>
              <a:rPr dirty="0" err="1"/>
              <a:t>עתידי</a:t>
            </a:r>
            <a:r>
              <a:rPr dirty="0"/>
              <a:t>: </a:t>
            </a:r>
            <a:br>
              <a:rPr lang="he-IL" dirty="0"/>
            </a:br>
            <a:r>
              <a:rPr dirty="0" err="1"/>
              <a:t>מעבר</a:t>
            </a:r>
            <a:r>
              <a:rPr dirty="0"/>
              <a:t> </a:t>
            </a:r>
            <a:r>
              <a:rPr dirty="0" err="1"/>
              <a:t>מזיהוי</a:t>
            </a:r>
            <a:r>
              <a:rPr dirty="0"/>
              <a:t> </a:t>
            </a:r>
            <a:r>
              <a:rPr dirty="0" err="1"/>
              <a:t>תנועה</a:t>
            </a:r>
            <a:r>
              <a:rPr dirty="0"/>
              <a:t> </a:t>
            </a:r>
            <a:r>
              <a:rPr dirty="0" err="1"/>
              <a:t>גולמי</a:t>
            </a:r>
            <a:r>
              <a:rPr dirty="0"/>
              <a:t> ל-Edge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1466798" y="1179644"/>
            <a:ext cx="10333150" cy="18466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האתגר</a:t>
            </a:r>
            <a:r>
              <a:rPr dirty="0"/>
              <a:t> </a:t>
            </a:r>
            <a:r>
              <a:rPr dirty="0" err="1"/>
              <a:t>במערכת</a:t>
            </a:r>
            <a:r>
              <a:rPr dirty="0"/>
              <a:t> </a:t>
            </a:r>
            <a:r>
              <a:rPr dirty="0" err="1"/>
              <a:t>הנוכחית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אלגוריתמי</a:t>
            </a:r>
            <a:r>
              <a:rPr dirty="0"/>
              <a:t> </a:t>
            </a:r>
            <a:r>
              <a:rPr dirty="0" err="1"/>
              <a:t>השוואת</a:t>
            </a:r>
            <a:r>
              <a:rPr dirty="0"/>
              <a:t> </a:t>
            </a:r>
            <a:r>
              <a:rPr dirty="0" err="1"/>
              <a:t>פריימים</a:t>
            </a:r>
            <a:r>
              <a:rPr dirty="0"/>
              <a:t> </a:t>
            </a:r>
            <a:r>
              <a:rPr dirty="0" err="1"/>
              <a:t>מזהים</a:t>
            </a:r>
            <a:r>
              <a:rPr dirty="0"/>
              <a:t> </a:t>
            </a:r>
            <a:r>
              <a:rPr dirty="0" err="1"/>
              <a:t>שינוי</a:t>
            </a:r>
            <a:r>
              <a:rPr dirty="0"/>
              <a:t> </a:t>
            </a:r>
            <a:r>
              <a:rPr dirty="0" err="1"/>
              <a:t>פיקסליירי</a:t>
            </a:r>
            <a:r>
              <a:rPr dirty="0"/>
              <a:t>,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אינם</a:t>
            </a:r>
            <a:r>
              <a:rPr dirty="0"/>
              <a:t> </a:t>
            </a:r>
            <a:r>
              <a:rPr dirty="0" err="1"/>
              <a:t>יודעים</a:t>
            </a:r>
            <a:r>
              <a:rPr dirty="0"/>
              <a:t> </a:t>
            </a:r>
            <a:r>
              <a:rPr dirty="0" err="1"/>
              <a:t>להבדיל</a:t>
            </a:r>
            <a:r>
              <a:rPr dirty="0"/>
              <a:t> </a:t>
            </a:r>
            <a:r>
              <a:rPr dirty="0" err="1"/>
              <a:t>בין</a:t>
            </a:r>
            <a:r>
              <a:rPr dirty="0"/>
              <a:t> </a:t>
            </a:r>
            <a:r>
              <a:rPr dirty="0" err="1"/>
              <a:t>נפילת</a:t>
            </a:r>
            <a:r>
              <a:rPr dirty="0"/>
              <a:t> </a:t>
            </a:r>
            <a:r>
              <a:rPr dirty="0" err="1"/>
              <a:t>אדם</a:t>
            </a:r>
            <a:r>
              <a:rPr dirty="0"/>
              <a:t> </a:t>
            </a:r>
            <a:r>
              <a:rPr dirty="0" err="1"/>
              <a:t>לנפילת</a:t>
            </a:r>
            <a:r>
              <a:rPr dirty="0"/>
              <a:t> </a:t>
            </a:r>
            <a:r>
              <a:rPr dirty="0" err="1"/>
              <a:t>חפץ</a:t>
            </a:r>
            <a:r>
              <a:rPr dirty="0"/>
              <a:t> </a:t>
            </a:r>
            <a:r>
              <a:rPr dirty="0" err="1"/>
              <a:t>דומם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פתרון</a:t>
            </a:r>
            <a:r>
              <a:rPr dirty="0"/>
              <a:t> PoC </a:t>
            </a:r>
            <a:r>
              <a:rPr dirty="0" err="1"/>
              <a:t>ברסברי</a:t>
            </a:r>
            <a:r>
              <a:rPr dirty="0"/>
              <a:t> </a:t>
            </a:r>
            <a:r>
              <a:rPr dirty="0" err="1"/>
              <a:t>פאי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הרצת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AI </a:t>
            </a:r>
            <a:r>
              <a:rPr dirty="0" err="1"/>
              <a:t>קליל</a:t>
            </a:r>
            <a:r>
              <a:rPr dirty="0"/>
              <a:t> (Lightweight Deep Learning) </a:t>
            </a:r>
            <a:r>
              <a:rPr lang="he-IL" dirty="0"/>
              <a:t> </a:t>
            </a:r>
            <a:r>
              <a:rPr dirty="0" err="1"/>
              <a:t>לזיהוי</a:t>
            </a:r>
            <a:r>
              <a:rPr dirty="0"/>
              <a:t> </a:t>
            </a:r>
            <a:r>
              <a:rPr dirty="0" err="1"/>
              <a:t>מדויק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בני</a:t>
            </a:r>
            <a:r>
              <a:rPr dirty="0"/>
              <a:t> </a:t>
            </a:r>
            <a:r>
              <a:rPr dirty="0" err="1"/>
              <a:t>אדם</a:t>
            </a:r>
            <a:r>
              <a:rPr dirty="0"/>
              <a:t> </a:t>
            </a:r>
            <a:r>
              <a:rPr dirty="0" err="1"/>
              <a:t>מקומית</a:t>
            </a:r>
            <a:r>
              <a:rPr dirty="0"/>
              <a:t> (Edge)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המטרה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לשלב</a:t>
            </a:r>
            <a:r>
              <a:rPr dirty="0"/>
              <a:t> </a:t>
            </a:r>
            <a:r>
              <a:rPr dirty="0" err="1"/>
              <a:t>בעתיד</a:t>
            </a:r>
            <a:r>
              <a:rPr dirty="0"/>
              <a:t> </a:t>
            </a:r>
            <a:r>
              <a:rPr dirty="0" err="1"/>
              <a:t>מוד</a:t>
            </a:r>
            <a:r>
              <a:rPr lang="he-IL" dirty="0"/>
              <a:t>לי</a:t>
            </a:r>
            <a:r>
              <a:rPr dirty="0"/>
              <a:t> </a:t>
            </a:r>
            <a:r>
              <a:rPr dirty="0" err="1"/>
              <a:t>זיהוי</a:t>
            </a:r>
            <a:r>
              <a:rPr dirty="0"/>
              <a:t> </a:t>
            </a:r>
            <a:r>
              <a:rPr dirty="0" err="1"/>
              <a:t>דומים</a:t>
            </a:r>
            <a:r>
              <a:rPr dirty="0"/>
              <a:t> </a:t>
            </a:r>
            <a:r>
              <a:rPr dirty="0" err="1"/>
              <a:t>ישירות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ארכיטקטורת</a:t>
            </a:r>
            <a:r>
              <a:rPr dirty="0"/>
              <a:t> </a:t>
            </a:r>
            <a:r>
              <a:rPr dirty="0" err="1"/>
              <a:t>החומרה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ה-FPGA.</a:t>
            </a: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E8606C8B-D526-4542-B6F8-75434A253E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478" b="39358"/>
          <a:stretch/>
        </p:blipFill>
        <p:spPr>
          <a:xfrm>
            <a:off x="1208539" y="3151563"/>
            <a:ext cx="6726921" cy="355705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ארכיטקטורה</a:t>
            </a:r>
            <a:r>
              <a:rPr dirty="0"/>
              <a:t> </a:t>
            </a:r>
            <a:r>
              <a:rPr dirty="0" err="1"/>
              <a:t>עתידית</a:t>
            </a:r>
            <a:r>
              <a:rPr dirty="0"/>
              <a:t>: </a:t>
            </a:r>
            <a:r>
              <a:rPr dirty="0" err="1"/>
              <a:t>חלוקת</a:t>
            </a:r>
            <a:r>
              <a:rPr dirty="0"/>
              <a:t> </a:t>
            </a:r>
            <a:r>
              <a:rPr dirty="0" err="1"/>
              <a:t>עבודה</a:t>
            </a:r>
            <a:r>
              <a:rPr dirty="0"/>
              <a:t> Hardware/Software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187890" y="1071109"/>
            <a:ext cx="9169051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שילוב</a:t>
            </a:r>
            <a:r>
              <a:rPr dirty="0"/>
              <a:t> </a:t>
            </a:r>
            <a:r>
              <a:rPr dirty="0" err="1"/>
              <a:t>מעבד</a:t>
            </a:r>
            <a:r>
              <a:rPr dirty="0"/>
              <a:t> </a:t>
            </a:r>
            <a:r>
              <a:rPr dirty="0" err="1"/>
              <a:t>רך</a:t>
            </a:r>
            <a:r>
              <a:rPr dirty="0"/>
              <a:t> (Soft-Core Processor):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הטמעת</a:t>
            </a:r>
            <a:r>
              <a:rPr dirty="0"/>
              <a:t> </a:t>
            </a:r>
            <a:r>
              <a:rPr dirty="0" err="1"/>
              <a:t>מעב</a:t>
            </a:r>
            <a:r>
              <a:rPr lang="he-IL" dirty="0"/>
              <a:t>ד</a:t>
            </a:r>
            <a:r>
              <a:rPr dirty="0"/>
              <a:t> </a:t>
            </a:r>
            <a:r>
              <a:rPr dirty="0" err="1"/>
              <a:t>MicroBlaze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ה-Artix-7 FPGA.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חלוקת</a:t>
            </a:r>
            <a:r>
              <a:rPr dirty="0"/>
              <a:t> </a:t>
            </a:r>
            <a:r>
              <a:rPr dirty="0" err="1"/>
              <a:t>תפקידים</a:t>
            </a:r>
            <a:r>
              <a:rPr dirty="0"/>
              <a:t> </a:t>
            </a:r>
            <a:r>
              <a:rPr dirty="0" err="1"/>
              <a:t>חכמה</a:t>
            </a:r>
            <a:r>
              <a:rPr dirty="0"/>
              <a:t>:</a:t>
            </a:r>
          </a:p>
          <a:p>
            <a:pPr algn="r" rtl="1">
              <a:defRPr sz="1600"/>
            </a:pPr>
            <a:r>
              <a:rPr dirty="0"/>
              <a:t>   - **</a:t>
            </a:r>
            <a:r>
              <a:rPr dirty="0" err="1"/>
              <a:t>חומרה</a:t>
            </a:r>
            <a:r>
              <a:rPr dirty="0"/>
              <a:t>:**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ניהול</a:t>
            </a:r>
            <a:r>
              <a:rPr dirty="0"/>
              <a:t> </a:t>
            </a: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המצלמה</a:t>
            </a:r>
            <a:r>
              <a:rPr dirty="0"/>
              <a:t> (OV7670), </a:t>
            </a:r>
            <a:r>
              <a:rPr dirty="0" err="1"/>
              <a:t>זיכרון</a:t>
            </a:r>
            <a:r>
              <a:rPr dirty="0"/>
              <a:t> ה-BRAM, </a:t>
            </a:r>
            <a:r>
              <a:rPr dirty="0" err="1"/>
              <a:t>ובקר</a:t>
            </a:r>
            <a:r>
              <a:rPr dirty="0"/>
              <a:t> ה-VGA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ובמקביליות</a:t>
            </a:r>
            <a:r>
              <a:rPr dirty="0"/>
              <a:t> </a:t>
            </a:r>
            <a:r>
              <a:rPr dirty="0" err="1"/>
              <a:t>מלאה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   - **</a:t>
            </a:r>
            <a:r>
              <a:rPr dirty="0" err="1"/>
              <a:t>תוכנה</a:t>
            </a:r>
            <a:r>
              <a:rPr dirty="0"/>
              <a:t> (</a:t>
            </a:r>
            <a:r>
              <a:rPr dirty="0" err="1"/>
              <a:t>MicroBlaze</a:t>
            </a:r>
            <a:r>
              <a:rPr dirty="0"/>
              <a:t>)</a:t>
            </a:r>
            <a:endParaRPr lang="he-IL" dirty="0"/>
          </a:p>
          <a:p>
            <a:pPr algn="r" rtl="1">
              <a:defRPr sz="1600"/>
            </a:pPr>
            <a:r>
              <a:rPr dirty="0"/>
              <a:t>:** </a:t>
            </a:r>
            <a:r>
              <a:rPr dirty="0" err="1"/>
              <a:t>הרצת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</a:t>
            </a:r>
            <a:r>
              <a:rPr dirty="0" err="1"/>
              <a:t>הסקת</a:t>
            </a:r>
            <a:r>
              <a:rPr dirty="0"/>
              <a:t> ה-AI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הפריימים</a:t>
            </a:r>
            <a:r>
              <a:rPr dirty="0"/>
              <a:t> </a:t>
            </a:r>
            <a:r>
              <a:rPr dirty="0" err="1"/>
              <a:t>שנדגמו</a:t>
            </a:r>
            <a:r>
              <a:rPr dirty="0"/>
              <a:t> </a:t>
            </a:r>
            <a:r>
              <a:rPr dirty="0" err="1"/>
              <a:t>וקבלת</a:t>
            </a:r>
            <a:r>
              <a:rPr dirty="0"/>
              <a:t> </a:t>
            </a:r>
            <a:r>
              <a:rPr dirty="0" err="1"/>
              <a:t>ההחלטה</a:t>
            </a:r>
            <a:r>
              <a:rPr dirty="0"/>
              <a:t> </a:t>
            </a:r>
            <a:r>
              <a:rPr dirty="0" err="1"/>
              <a:t>הקריטית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יתרון</a:t>
            </a:r>
            <a:r>
              <a:rPr dirty="0"/>
              <a:t> </a:t>
            </a:r>
            <a:r>
              <a:rPr dirty="0" err="1"/>
              <a:t>מרכזי</a:t>
            </a:r>
            <a:r>
              <a:rPr dirty="0"/>
              <a:t>: </a:t>
            </a:r>
            <a:r>
              <a:rPr dirty="0" err="1"/>
              <a:t>שמירה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ביצועי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</a:t>
            </a:r>
            <a:r>
              <a:rPr dirty="0" err="1"/>
              <a:t>קשיחים</a:t>
            </a:r>
            <a:r>
              <a:rPr dirty="0"/>
              <a:t> (Real-Time) </a:t>
            </a:r>
            <a:r>
              <a:rPr dirty="0" err="1"/>
              <a:t>לצד</a:t>
            </a:r>
            <a:r>
              <a:rPr dirty="0"/>
              <a:t> </a:t>
            </a:r>
            <a:r>
              <a:rPr dirty="0" err="1"/>
              <a:t>גמישות</a:t>
            </a:r>
            <a:r>
              <a:rPr dirty="0"/>
              <a:t> </a:t>
            </a:r>
            <a:r>
              <a:rPr dirty="0" err="1"/>
              <a:t>אלגוריתמית</a:t>
            </a:r>
            <a:r>
              <a:rPr dirty="0"/>
              <a:t> </a:t>
            </a:r>
            <a:r>
              <a:rPr dirty="0" err="1"/>
              <a:t>גבוהה</a:t>
            </a:r>
            <a:r>
              <a:rPr dirty="0"/>
              <a:t>.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645BB0E1-7D7E-4FC6-9E99-3544F364F7C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3253" b="13721"/>
          <a:stretch/>
        </p:blipFill>
        <p:spPr>
          <a:xfrm>
            <a:off x="682631" y="3757807"/>
            <a:ext cx="8204622" cy="27378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932</TotalTime>
  <Words>2494</Words>
  <Application>Microsoft Office PowerPoint</Application>
  <PresentationFormat>‫הצגה על המסך (4:3)</PresentationFormat>
  <Paragraphs>267</Paragraphs>
  <Slides>28</Slides>
  <Notes>2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פיתוח מערכת מבוססת FPGA  להתראת נפילה לחולי דמנציה</vt:lpstr>
      <vt:lpstr>ארכיטקטורת המערכת</vt:lpstr>
      <vt:lpstr>מבוא ל-VGA קונספט תותח האלקטרונים (CRT)</vt:lpstr>
      <vt:lpstr>מבוא ל-VGA סריקה קווית (Raster Scan)</vt:lpstr>
      <vt:lpstr>תזמוני VGA: הפיזיקה מאחורי המספרים</vt:lpstr>
      <vt:lpstr>תזמונים בחומרה  (VGA Controller)</vt:lpstr>
      <vt:lpstr>מילון אותות מרכזיים</vt:lpstr>
      <vt:lpstr>עיבוד הפיקסל:  ניתוב לRGB</vt:lpstr>
      <vt:lpstr>המרת DAC  ומחבר ה-VGA</vt:lpstr>
      <vt:lpstr>המרת D TO A משקלי הביטים:</vt:lpstr>
      <vt:lpstr>מבט-על: זרימת נתונים ותחומי שעון</vt:lpstr>
      <vt:lpstr>ניהול שעונים במערכת  (Clock Generator)</vt:lpstr>
      <vt:lpstr>זיכרון הBRAM (Frame Buffer)</vt:lpstr>
      <vt:lpstr>ממשק הזיכרון (BRAM) וסנכרון נתונים למסך</vt:lpstr>
      <vt:lpstr>אימות מסלול הנתונים  VGA Controller ↔ BRAM</vt:lpstr>
      <vt:lpstr>אימות שורה Ts</vt:lpstr>
      <vt:lpstr>Tpw</vt:lpstr>
      <vt:lpstr>Back Porch</vt:lpstr>
      <vt:lpstr>האזור הפעיל (Tdisp)</vt:lpstr>
      <vt:lpstr>Front Porch</vt:lpstr>
      <vt:lpstr>מתאוריה לסיליקון</vt:lpstr>
      <vt:lpstr>דיבוג בתוך הסיליקון:    Vivado ILA  קופסה לבנה</vt:lpstr>
      <vt:lpstr>עלות הדיבוג: ניתוח Trade-offs</vt:lpstr>
      <vt:lpstr>utilization</vt:lpstr>
      <vt:lpstr>Post-Silicon Validation</vt:lpstr>
      <vt:lpstr>כאן יכנס החלק של העיבוד תמונה </vt:lpstr>
      <vt:lpstr>פיתוח עתידי:  מעבר מזיהוי תנועה גולמי ל-Edge AI</vt:lpstr>
      <vt:lpstr>ארכיטקטורה עתידית: חלוקת עבודה Hardware/Software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פיתוח מערכת מבוססת FPGA להתראת נפילה לחולי דמנציה</dc:title>
  <dc:subject/>
  <dc:creator>USER</dc:creator>
  <cp:keywords/>
  <dc:description>generated using python-pptx</dc:description>
  <cp:lastModifiedBy>yosi brim</cp:lastModifiedBy>
  <cp:revision>163</cp:revision>
  <dcterms:created xsi:type="dcterms:W3CDTF">2013-01-27T09:14:16Z</dcterms:created>
  <dcterms:modified xsi:type="dcterms:W3CDTF">2026-08-19T13:17:25Z</dcterms:modified>
  <cp:category/>
</cp:coreProperties>
</file>