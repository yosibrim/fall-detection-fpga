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7" r:id="rId25"/>
    <p:sldId id="281" r:id="rId26"/>
    <p:sldId id="282" r:id="rId27"/>
    <p:sldId id="284" r:id="rId28"/>
    <p:sldId id="28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07002FAE-C8C6-47A9-917F-069B340A5C16}" type="datetimeFigureOut">
              <a:rPr lang="he-IL" smtClean="0"/>
              <a:t>ד'/אלול/תשפ"ו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BB60923-6C8D-45DF-8473-B9DD050EE40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068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60923-6C8D-45DF-8473-B9DD050EE40B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5742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rtl="1"/>
            <a:r>
              <a:rPr dirty="0" err="1"/>
              <a:t>פיתוח</a:t>
            </a:r>
            <a:r>
              <a:rPr dirty="0"/>
              <a:t> </a:t>
            </a:r>
            <a:r>
              <a:rPr dirty="0" err="1"/>
              <a:t>מערכת</a:t>
            </a:r>
            <a:r>
              <a:rPr dirty="0"/>
              <a:t> </a:t>
            </a:r>
            <a:r>
              <a:rPr dirty="0" err="1"/>
              <a:t>מבוססת</a:t>
            </a:r>
            <a:r>
              <a:rPr dirty="0"/>
              <a:t> FPGA </a:t>
            </a:r>
            <a:r>
              <a:rPr dirty="0" err="1"/>
              <a:t>להתראת</a:t>
            </a:r>
            <a:r>
              <a:rPr dirty="0"/>
              <a:t> </a:t>
            </a:r>
            <a:r>
              <a:rPr dirty="0" err="1"/>
              <a:t>נפילה</a:t>
            </a:r>
            <a:r>
              <a:rPr dirty="0"/>
              <a:t> </a:t>
            </a:r>
            <a:r>
              <a:rPr dirty="0" err="1"/>
              <a:t>לחולי</a:t>
            </a:r>
            <a:r>
              <a:rPr dirty="0"/>
              <a:t> </a:t>
            </a:r>
            <a:r>
              <a:rPr dirty="0" err="1"/>
              <a:t>דמנציה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631675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2000"/>
            </a:pPr>
            <a:r>
              <a:rPr dirty="0" err="1"/>
              <a:t>קליטת</a:t>
            </a:r>
            <a:r>
              <a:rPr dirty="0"/>
              <a:t> </a:t>
            </a:r>
            <a:r>
              <a:rPr dirty="0" err="1"/>
              <a:t>תמונה</a:t>
            </a:r>
            <a:r>
              <a:rPr dirty="0"/>
              <a:t> </a:t>
            </a:r>
            <a:r>
              <a:rPr dirty="0" err="1"/>
              <a:t>בזמן</a:t>
            </a:r>
            <a:r>
              <a:rPr dirty="0"/>
              <a:t> </a:t>
            </a:r>
            <a:r>
              <a:rPr dirty="0" err="1"/>
              <a:t>אמת</a:t>
            </a:r>
            <a:r>
              <a:rPr dirty="0"/>
              <a:t> </a:t>
            </a:r>
            <a:r>
              <a:rPr dirty="0" err="1"/>
              <a:t>ממצלמת</a:t>
            </a:r>
            <a:r>
              <a:rPr dirty="0"/>
              <a:t> OV7670 </a:t>
            </a:r>
            <a:r>
              <a:rPr dirty="0" err="1"/>
              <a:t>והצגתה</a:t>
            </a:r>
            <a:r>
              <a:rPr dirty="0"/>
              <a:t> </a:t>
            </a:r>
            <a:r>
              <a:rPr dirty="0" err="1"/>
              <a:t>דרך</a:t>
            </a:r>
            <a:r>
              <a:rPr dirty="0"/>
              <a:t> </a:t>
            </a:r>
            <a:r>
              <a:rPr dirty="0" err="1"/>
              <a:t>כרטיס</a:t>
            </a:r>
            <a:r>
              <a:rPr dirty="0"/>
              <a:t> Artix-7.</a:t>
            </a:r>
          </a:p>
          <a:p>
            <a:pPr algn="ctr" rtl="1">
              <a:defRPr sz="1700"/>
            </a:pP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מנת</a:t>
            </a:r>
            <a:r>
              <a:rPr dirty="0"/>
              <a:t> </a:t>
            </a:r>
            <a:r>
              <a:rPr dirty="0" err="1"/>
              <a:t>לאפשר</a:t>
            </a:r>
            <a:r>
              <a:rPr dirty="0"/>
              <a:t> </a:t>
            </a:r>
            <a:r>
              <a:rPr dirty="0" err="1"/>
              <a:t>עיבוד</a:t>
            </a:r>
            <a:r>
              <a:rPr dirty="0"/>
              <a:t> </a:t>
            </a:r>
            <a:r>
              <a:rPr dirty="0" err="1"/>
              <a:t>תמונה</a:t>
            </a:r>
            <a:r>
              <a:rPr dirty="0"/>
              <a:t> </a:t>
            </a:r>
            <a:r>
              <a:rPr dirty="0" err="1"/>
              <a:t>לזיהויי</a:t>
            </a:r>
            <a:r>
              <a:rPr dirty="0"/>
              <a:t> </a:t>
            </a:r>
            <a:r>
              <a:rPr dirty="0" err="1"/>
              <a:t>עמידה</a:t>
            </a:r>
            <a:r>
              <a:rPr dirty="0"/>
              <a:t> </a:t>
            </a:r>
            <a:r>
              <a:rPr dirty="0" err="1"/>
              <a:t>ממושכת</a:t>
            </a:r>
            <a:r>
              <a:rPr dirty="0"/>
              <a:t> </a:t>
            </a:r>
            <a:r>
              <a:rPr dirty="0" err="1"/>
              <a:t>לחולי</a:t>
            </a:r>
            <a:r>
              <a:rPr dirty="0"/>
              <a:t> </a:t>
            </a:r>
            <a:r>
              <a:rPr dirty="0" err="1"/>
              <a:t>דמנציה</a:t>
            </a:r>
            <a:r>
              <a:rPr dirty="0"/>
              <a:t>.</a:t>
            </a:r>
          </a:p>
        </p:txBody>
      </p:sp>
      <p:pic>
        <p:nvPicPr>
          <p:cNvPr id="4" name="Picture 3" descr="artix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302912"/>
            <a:ext cx="4572000" cy="34005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8236" y="5760720"/>
            <a:ext cx="854753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2200" b="1"/>
            </a:pPr>
            <a:r>
              <a:rPr dirty="0" err="1"/>
              <a:t>מגיש</a:t>
            </a:r>
            <a:r>
              <a:rPr lang="he-IL" dirty="0"/>
              <a:t>ים</a:t>
            </a:r>
            <a:r>
              <a:rPr dirty="0"/>
              <a:t>: יוסי ברים</a:t>
            </a:r>
            <a:r>
              <a:rPr lang="he-IL" dirty="0"/>
              <a:t> ואלעד </a:t>
            </a:r>
            <a:r>
              <a:rPr lang="he-IL" dirty="0" err="1"/>
              <a:t>אסבג</a:t>
            </a:r>
            <a:r>
              <a:rPr dirty="0"/>
              <a:t> | </a:t>
            </a:r>
            <a:r>
              <a:rPr dirty="0" err="1"/>
              <a:t>הנדסת</a:t>
            </a:r>
            <a:r>
              <a:rPr dirty="0"/>
              <a:t> </a:t>
            </a:r>
            <a:r>
              <a:rPr dirty="0" err="1"/>
              <a:t>חשמל</a:t>
            </a:r>
            <a:r>
              <a:rPr dirty="0"/>
              <a:t> </a:t>
            </a:r>
            <a:r>
              <a:rPr dirty="0" err="1"/>
              <a:t>שנה</a:t>
            </a:r>
            <a:r>
              <a:rPr dirty="0"/>
              <a:t> ד| </a:t>
            </a:r>
            <a:r>
              <a:rPr dirty="0" err="1"/>
              <a:t>המרכז</a:t>
            </a:r>
            <a:r>
              <a:rPr dirty="0"/>
              <a:t> </a:t>
            </a:r>
            <a:r>
              <a:rPr dirty="0" err="1"/>
              <a:t>האקדמי</a:t>
            </a:r>
            <a:r>
              <a:rPr dirty="0"/>
              <a:t> </a:t>
            </a:r>
            <a:r>
              <a:rPr dirty="0" err="1"/>
              <a:t>לב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t>ארכיטקטורת המערכת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r" rtl="1">
              <a:defRPr sz="1800"/>
            </a:pPr>
            <a:r>
              <a:rPr dirty="0" err="1"/>
              <a:t>נתוני</a:t>
            </a:r>
            <a:r>
              <a:rPr dirty="0"/>
              <a:t> </a:t>
            </a:r>
            <a:r>
              <a:rPr dirty="0" err="1"/>
              <a:t>התמונה</a:t>
            </a:r>
            <a:r>
              <a:rPr dirty="0"/>
              <a:t> </a:t>
            </a:r>
            <a:r>
              <a:rPr dirty="0" err="1"/>
              <a:t>הגולמיים</a:t>
            </a:r>
            <a:r>
              <a:rPr dirty="0"/>
              <a:t> </a:t>
            </a:r>
            <a:r>
              <a:rPr dirty="0" err="1"/>
              <a:t>נקלטים</a:t>
            </a:r>
            <a:r>
              <a:rPr dirty="0"/>
              <a:t> </a:t>
            </a:r>
            <a:r>
              <a:rPr dirty="0" err="1"/>
              <a:t>מהמצלמה</a:t>
            </a:r>
            <a:r>
              <a:rPr dirty="0"/>
              <a:t> </a:t>
            </a:r>
            <a:r>
              <a:rPr dirty="0" err="1"/>
              <a:t>ונאגרים</a:t>
            </a:r>
            <a:r>
              <a:rPr dirty="0"/>
              <a:t> </a:t>
            </a:r>
            <a:r>
              <a:rPr dirty="0" err="1"/>
              <a:t>בזיכרון</a:t>
            </a:r>
            <a:r>
              <a:rPr dirty="0"/>
              <a:t> ה-BRAM.</a:t>
            </a:r>
          </a:p>
          <a:p>
            <a:pPr algn="r" rtl="1">
              <a:defRPr sz="1800"/>
            </a:pPr>
            <a:r>
              <a:rPr dirty="0" err="1"/>
              <a:t>בקר</a:t>
            </a:r>
            <a:r>
              <a:rPr dirty="0"/>
              <a:t> ה-VGA </a:t>
            </a:r>
            <a:r>
              <a:rPr dirty="0" err="1"/>
              <a:t>שולף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הנתונים</a:t>
            </a:r>
            <a:r>
              <a:rPr dirty="0"/>
              <a:t> </a:t>
            </a:r>
            <a:r>
              <a:rPr dirty="0" err="1"/>
              <a:t>ומעביר</a:t>
            </a:r>
            <a:r>
              <a:rPr dirty="0"/>
              <a:t> </a:t>
            </a:r>
            <a:r>
              <a:rPr dirty="0" err="1"/>
              <a:t>לממירD</a:t>
            </a:r>
            <a:r>
              <a:rPr dirty="0"/>
              <a:t> to A </a:t>
            </a:r>
            <a:r>
              <a:rPr lang="he-IL" dirty="0"/>
              <a:t> </a:t>
            </a:r>
            <a:r>
              <a:rPr dirty="0" err="1"/>
              <a:t>לקבלת</a:t>
            </a:r>
            <a:r>
              <a:rPr dirty="0"/>
              <a:t> </a:t>
            </a:r>
            <a:r>
              <a:rPr dirty="0" err="1"/>
              <a:t>אות</a:t>
            </a:r>
            <a:r>
              <a:rPr dirty="0"/>
              <a:t> </a:t>
            </a:r>
            <a:r>
              <a:rPr dirty="0" err="1"/>
              <a:t>אנלוגי</a:t>
            </a:r>
            <a:r>
              <a:rPr dirty="0"/>
              <a:t> </a:t>
            </a:r>
            <a:r>
              <a:rPr dirty="0" err="1"/>
              <a:t>פיזי</a:t>
            </a:r>
            <a:r>
              <a:rPr dirty="0"/>
              <a:t> </a:t>
            </a:r>
            <a:r>
              <a:rPr dirty="0" err="1"/>
              <a:t>למסך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194560"/>
            <a:ext cx="2011680" cy="164592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>
                <a:solidFill>
                  <a:srgbClr val="FFFFFF"/>
                </a:solidFill>
              </a:defRPr>
            </a:pPr>
            <a:r>
              <a:t>מערכת התראת נפילה</a:t>
            </a:r>
            <a:br/>
            <a:r>
              <a:t>מבוסס FPGA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/>
            </a:pPr>
            <a:r>
              <a:t>Inputs:</a:t>
            </a:r>
            <a:br/>
            <a:r>
              <a:t>clk, reset</a:t>
            </a:r>
            <a:br/>
            <a:r>
              <a:t>ov7670_vsync, href, pclk</a:t>
            </a:r>
            <a:br/>
            <a:r>
              <a:t>ov7670_data[7:0]</a:t>
            </a:r>
            <a:br/>
            <a:r>
              <a:t>btn[1:0], sw[1:0]</a:t>
            </a:r>
            <a:br/>
            <a:r>
              <a:t>scl, sda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88920" y="3324422"/>
            <a:ext cx="54864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Outputs:</a:t>
            </a:r>
            <a:br/>
            <a:r>
              <a:t>VGA_HS_O, VGA_VS_O</a:t>
            </a:r>
            <a:br/>
            <a:r>
              <a:t>VGA_R[3:0], G[3:0], B[3:0]</a:t>
            </a:r>
            <a:br/>
            <a:r>
              <a:t>ov7670_xclk, pwdn, reset</a:t>
            </a:r>
            <a:br/>
            <a:r>
              <a:t>led[3:0]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69280" y="3291840"/>
            <a:ext cx="54864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1554480" cy="73152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ov7670_capture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0" y="502920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60320" y="4754880"/>
            <a:ext cx="1554480" cy="73152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frame_buffer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14800" y="502920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0" y="4754880"/>
            <a:ext cx="1554480" cy="73152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vga_controller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26480" y="502920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0" y="4754880"/>
            <a:ext cx="1554480" cy="73152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 to A Converter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rtl="1"/>
            <a:r>
              <a:rPr dirty="0" err="1"/>
              <a:t>מבוא</a:t>
            </a:r>
            <a:r>
              <a:rPr dirty="0"/>
              <a:t> ל-VGA</a:t>
            </a:r>
            <a:br>
              <a:rPr lang="he-IL" dirty="0"/>
            </a:br>
            <a:r>
              <a:rPr dirty="0" err="1"/>
              <a:t>קונספט</a:t>
            </a:r>
            <a:r>
              <a:rPr dirty="0"/>
              <a:t> </a:t>
            </a:r>
            <a:r>
              <a:rPr dirty="0" err="1"/>
              <a:t>תותח</a:t>
            </a:r>
            <a:r>
              <a:rPr dirty="0"/>
              <a:t> </a:t>
            </a:r>
            <a:r>
              <a:rPr dirty="0" err="1"/>
              <a:t>האלקטרונים</a:t>
            </a:r>
            <a:r>
              <a:rPr dirty="0"/>
              <a:t> (CRT)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5310" y="1417638"/>
            <a:ext cx="853690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מקור</a:t>
            </a:r>
            <a:r>
              <a:rPr dirty="0"/>
              <a:t> </a:t>
            </a:r>
            <a:r>
              <a:rPr dirty="0" err="1"/>
              <a:t>הפרוטוקול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dirty="0" err="1"/>
              <a:t>טכנולוגיית</a:t>
            </a:r>
            <a:r>
              <a:rPr dirty="0"/>
              <a:t> ה-VGA </a:t>
            </a:r>
            <a:r>
              <a:rPr dirty="0" err="1"/>
              <a:t>פותחה</a:t>
            </a:r>
            <a:r>
              <a:rPr dirty="0"/>
              <a:t> </a:t>
            </a:r>
            <a:r>
              <a:rPr dirty="0" err="1"/>
              <a:t>במקור</a:t>
            </a:r>
            <a:r>
              <a:rPr dirty="0"/>
              <a:t> </a:t>
            </a:r>
            <a:r>
              <a:rPr dirty="0" err="1"/>
              <a:t>עבור</a:t>
            </a:r>
            <a:r>
              <a:rPr dirty="0"/>
              <a:t> </a:t>
            </a:r>
            <a:r>
              <a:rPr dirty="0" err="1"/>
              <a:t>מסכי</a:t>
            </a:r>
            <a:r>
              <a:rPr dirty="0"/>
              <a:t> </a:t>
            </a:r>
            <a:r>
              <a:rPr dirty="0" err="1"/>
              <a:t>שפופרת</a:t>
            </a:r>
            <a:r>
              <a:rPr dirty="0"/>
              <a:t> </a:t>
            </a:r>
            <a:r>
              <a:rPr dirty="0" err="1"/>
              <a:t>קרן</a:t>
            </a:r>
            <a:r>
              <a:rPr dirty="0"/>
              <a:t> </a:t>
            </a:r>
            <a:r>
              <a:rPr dirty="0" err="1"/>
              <a:t>קתודית</a:t>
            </a:r>
            <a:r>
              <a:rPr dirty="0"/>
              <a:t> (CRT) </a:t>
            </a:r>
            <a:r>
              <a:rPr dirty="0" err="1"/>
              <a:t>המבוססים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פיזיקה</a:t>
            </a:r>
            <a:r>
              <a:rPr dirty="0"/>
              <a:t> </a:t>
            </a:r>
            <a:r>
              <a:rPr dirty="0" err="1"/>
              <a:t>אנלוגית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תותח</a:t>
            </a:r>
            <a:r>
              <a:rPr dirty="0"/>
              <a:t> </a:t>
            </a:r>
            <a:r>
              <a:rPr dirty="0" err="1"/>
              <a:t>אלקטרונים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dirty="0" err="1"/>
              <a:t>המסך</a:t>
            </a:r>
            <a:r>
              <a:rPr dirty="0"/>
              <a:t> </a:t>
            </a:r>
            <a:r>
              <a:rPr dirty="0" err="1"/>
              <a:t>פועל</a:t>
            </a:r>
            <a:r>
              <a:rPr dirty="0"/>
              <a:t> </a:t>
            </a:r>
            <a:r>
              <a:rPr dirty="0" err="1"/>
              <a:t>באמצעות</a:t>
            </a:r>
            <a:r>
              <a:rPr dirty="0"/>
              <a:t> </a:t>
            </a:r>
            <a:r>
              <a:rPr dirty="0" err="1"/>
              <a:t>קרן</a:t>
            </a:r>
            <a:r>
              <a:rPr dirty="0"/>
              <a:t> </a:t>
            </a:r>
            <a:r>
              <a:rPr dirty="0" err="1"/>
              <a:t>פיזית</a:t>
            </a:r>
            <a:r>
              <a:rPr dirty="0"/>
              <a:t> </a:t>
            </a:r>
            <a:r>
              <a:rPr dirty="0" err="1"/>
              <a:t>הנורית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גבי</a:t>
            </a:r>
            <a:r>
              <a:rPr dirty="0"/>
              <a:t> </a:t>
            </a:r>
            <a:r>
              <a:rPr dirty="0" err="1"/>
              <a:t>מסך</a:t>
            </a:r>
            <a:r>
              <a:rPr dirty="0"/>
              <a:t> </a:t>
            </a:r>
            <a:r>
              <a:rPr dirty="0" err="1"/>
              <a:t>מצופה</a:t>
            </a:r>
            <a:r>
              <a:rPr dirty="0"/>
              <a:t> </a:t>
            </a:r>
            <a:r>
              <a:rPr dirty="0" err="1"/>
              <a:t>זרחן</a:t>
            </a:r>
            <a:r>
              <a:rPr dirty="0"/>
              <a:t>. </a:t>
            </a:r>
            <a:r>
              <a:rPr dirty="0" err="1"/>
              <a:t>עוצמת</a:t>
            </a:r>
            <a:r>
              <a:rPr dirty="0"/>
              <a:t> </a:t>
            </a:r>
            <a:r>
              <a:rPr dirty="0" err="1"/>
              <a:t>הזרם</a:t>
            </a:r>
            <a:r>
              <a:rPr dirty="0"/>
              <a:t> </a:t>
            </a:r>
            <a:r>
              <a:rPr dirty="0" err="1"/>
              <a:t>קובעת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עוצמת</a:t>
            </a:r>
            <a:r>
              <a:rPr dirty="0"/>
              <a:t> </a:t>
            </a:r>
            <a:r>
              <a:rPr dirty="0" err="1"/>
              <a:t>ההארה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פיקסל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למרות</a:t>
            </a:r>
            <a:r>
              <a:rPr dirty="0"/>
              <a:t> </a:t>
            </a:r>
            <a:r>
              <a:rPr dirty="0" err="1"/>
              <a:t>שכיום</a:t>
            </a:r>
            <a:r>
              <a:rPr dirty="0"/>
              <a:t> </a:t>
            </a:r>
            <a:r>
              <a:rPr dirty="0" err="1"/>
              <a:t>המסכים</a:t>
            </a:r>
            <a:r>
              <a:rPr dirty="0"/>
              <a:t> </a:t>
            </a:r>
            <a:r>
              <a:rPr dirty="0" err="1"/>
              <a:t>מודרניים</a:t>
            </a:r>
            <a:r>
              <a:rPr dirty="0"/>
              <a:t>, </a:t>
            </a:r>
            <a:r>
              <a:rPr dirty="0" err="1"/>
              <a:t>הפרוטוקול</a:t>
            </a:r>
            <a:r>
              <a:rPr dirty="0"/>
              <a:t> </a:t>
            </a:r>
            <a:r>
              <a:rPr dirty="0" err="1"/>
              <a:t>מחייב</a:t>
            </a:r>
            <a:r>
              <a:rPr dirty="0"/>
              <a:t> </a:t>
            </a:r>
            <a:r>
              <a:rPr dirty="0" err="1"/>
              <a:t>שידור</a:t>
            </a:r>
            <a:r>
              <a:rPr dirty="0"/>
              <a:t> </a:t>
            </a:r>
            <a:r>
              <a:rPr dirty="0" err="1"/>
              <a:t>אותות</a:t>
            </a:r>
            <a:r>
              <a:rPr dirty="0"/>
              <a:t> </a:t>
            </a:r>
            <a:r>
              <a:rPr dirty="0" err="1"/>
              <a:t>השהייה</a:t>
            </a:r>
            <a:r>
              <a:rPr dirty="0"/>
              <a:t> </a:t>
            </a:r>
            <a:r>
              <a:rPr dirty="0" err="1"/>
              <a:t>שיאפשרו</a:t>
            </a:r>
            <a:r>
              <a:rPr dirty="0"/>
              <a:t> </a:t>
            </a:r>
            <a:r>
              <a:rPr dirty="0" err="1"/>
              <a:t>לקרן</a:t>
            </a:r>
            <a:r>
              <a:rPr dirty="0"/>
              <a:t> </a:t>
            </a:r>
            <a:r>
              <a:rPr dirty="0" err="1"/>
              <a:t>הפיזית</a:t>
            </a:r>
            <a:r>
              <a:rPr dirty="0"/>
              <a:t> </a:t>
            </a:r>
            <a:r>
              <a:rPr dirty="0" err="1"/>
              <a:t>זמן</a:t>
            </a:r>
            <a:r>
              <a:rPr dirty="0"/>
              <a:t> </a:t>
            </a:r>
            <a:r>
              <a:rPr dirty="0" err="1"/>
              <a:t>תנועה</a:t>
            </a:r>
            <a:r>
              <a:rPr dirty="0"/>
              <a:t> </a:t>
            </a:r>
            <a:r>
              <a:rPr dirty="0" err="1"/>
              <a:t>וחזרה</a:t>
            </a:r>
            <a:r>
              <a:rPr dirty="0"/>
              <a:t>.</a:t>
            </a:r>
          </a:p>
        </p:txBody>
      </p:sp>
      <p:pic>
        <p:nvPicPr>
          <p:cNvPr id="4" name="Picture 3" descr="vga_analog_cathode_ray_concept.png"/>
          <p:cNvPicPr>
            <a:picLocks noChangeAspect="1"/>
          </p:cNvPicPr>
          <p:nvPr/>
        </p:nvPicPr>
        <p:blipFill rotWithShape="1">
          <a:blip r:embed="rId2"/>
          <a:srcRect t="4554"/>
          <a:stretch/>
        </p:blipFill>
        <p:spPr>
          <a:xfrm>
            <a:off x="2974428" y="3636579"/>
            <a:ext cx="3368564" cy="25568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39429" y="154895"/>
            <a:ext cx="10040066" cy="1143000"/>
          </a:xfrm>
        </p:spPr>
        <p:txBody>
          <a:bodyPr>
            <a:normAutofit fontScale="90000"/>
          </a:bodyPr>
          <a:lstStyle/>
          <a:p>
            <a:pPr algn="ctr" rtl="1"/>
            <a:r>
              <a:rPr dirty="0" err="1"/>
              <a:t>מבוא</a:t>
            </a:r>
            <a:r>
              <a:rPr dirty="0"/>
              <a:t> ל-VGA</a:t>
            </a:r>
            <a:br>
              <a:rPr lang="he-IL" dirty="0"/>
            </a:br>
            <a:r>
              <a:rPr dirty="0" err="1"/>
              <a:t>סריקה</a:t>
            </a:r>
            <a:r>
              <a:rPr dirty="0"/>
              <a:t> </a:t>
            </a:r>
            <a:r>
              <a:rPr dirty="0" err="1"/>
              <a:t>קווית</a:t>
            </a:r>
            <a:r>
              <a:rPr dirty="0"/>
              <a:t> (Raster Scan)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457" y="1395476"/>
            <a:ext cx="868629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הציור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המסך</a:t>
            </a:r>
            <a:r>
              <a:rPr dirty="0"/>
              <a:t> </a:t>
            </a:r>
            <a:r>
              <a:rPr dirty="0" err="1"/>
              <a:t>מבוסס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קרן</a:t>
            </a:r>
            <a:r>
              <a:rPr dirty="0"/>
              <a:t> </a:t>
            </a:r>
            <a:r>
              <a:rPr dirty="0" err="1"/>
              <a:t>שסורקת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הפיקסלים</a:t>
            </a:r>
            <a:r>
              <a:rPr dirty="0"/>
              <a:t> </a:t>
            </a:r>
            <a:r>
              <a:rPr dirty="0" err="1"/>
              <a:t>משמאל</a:t>
            </a:r>
            <a:r>
              <a:rPr dirty="0"/>
              <a:t> </a:t>
            </a:r>
            <a:r>
              <a:rPr dirty="0" err="1"/>
              <a:t>לימין</a:t>
            </a:r>
            <a:r>
              <a:rPr lang="he-IL" dirty="0"/>
              <a:t> (שורה) </a:t>
            </a:r>
            <a:r>
              <a:rPr dirty="0" err="1"/>
              <a:t>ומלמעלה</a:t>
            </a:r>
            <a:r>
              <a:rPr dirty="0"/>
              <a:t> </a:t>
            </a:r>
            <a:r>
              <a:rPr dirty="0" err="1"/>
              <a:t>למטה</a:t>
            </a:r>
            <a:r>
              <a:rPr dirty="0"/>
              <a:t> </a:t>
            </a:r>
            <a:r>
              <a:rPr lang="he-IL" dirty="0"/>
              <a:t>(פריים)</a:t>
            </a:r>
          </a:p>
          <a:p>
            <a:pPr algn="r" rtl="1">
              <a:defRPr sz="1600"/>
            </a:pPr>
            <a:endParaRPr lang="he-IL"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תנועת</a:t>
            </a:r>
            <a:r>
              <a:rPr dirty="0"/>
              <a:t> </a:t>
            </a:r>
            <a:r>
              <a:rPr dirty="0" err="1"/>
              <a:t>הקרן</a:t>
            </a:r>
            <a:r>
              <a:rPr dirty="0"/>
              <a:t> </a:t>
            </a:r>
            <a:r>
              <a:rPr dirty="0" err="1"/>
              <a:t>חייבת</a:t>
            </a:r>
            <a:r>
              <a:rPr dirty="0"/>
              <a:t> </a:t>
            </a:r>
            <a:r>
              <a:rPr dirty="0" err="1"/>
              <a:t>להיות</a:t>
            </a:r>
            <a:r>
              <a:rPr dirty="0"/>
              <a:t> </a:t>
            </a:r>
            <a:r>
              <a:rPr dirty="0" err="1"/>
              <a:t>רציפה</a:t>
            </a:r>
            <a:r>
              <a:rPr dirty="0"/>
              <a:t>, </a:t>
            </a:r>
            <a:r>
              <a:rPr dirty="0" err="1"/>
              <a:t>מה</a:t>
            </a:r>
            <a:r>
              <a:rPr dirty="0"/>
              <a:t> </a:t>
            </a:r>
            <a:r>
              <a:rPr dirty="0" err="1"/>
              <a:t>שיוצר</a:t>
            </a:r>
            <a:r>
              <a:rPr dirty="0"/>
              <a:t> </a:t>
            </a:r>
            <a:r>
              <a:rPr dirty="0" err="1"/>
              <a:t>מסלול</a:t>
            </a:r>
            <a:r>
              <a:rPr dirty="0"/>
              <a:t> </a:t>
            </a:r>
            <a:r>
              <a:rPr dirty="0" err="1"/>
              <a:t>בצורת</a:t>
            </a:r>
            <a:r>
              <a:rPr dirty="0"/>
              <a:t> '</a:t>
            </a:r>
            <a:r>
              <a:rPr dirty="0" err="1"/>
              <a:t>זיגזג</a:t>
            </a:r>
            <a:r>
              <a:rPr dirty="0"/>
              <a:t>'.</a:t>
            </a:r>
            <a:endParaRPr lang="he-IL" dirty="0"/>
          </a:p>
          <a:p>
            <a:pPr algn="r" rtl="1">
              <a:defRPr sz="1600"/>
            </a:pPr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בכל</a:t>
            </a:r>
            <a:r>
              <a:rPr dirty="0"/>
              <a:t> </a:t>
            </a:r>
            <a:r>
              <a:rPr dirty="0" err="1"/>
              <a:t>פעם</a:t>
            </a:r>
            <a:r>
              <a:rPr dirty="0"/>
              <a:t> </a:t>
            </a:r>
            <a:r>
              <a:rPr dirty="0" err="1"/>
              <a:t>שהקרן</a:t>
            </a:r>
            <a:r>
              <a:rPr dirty="0"/>
              <a:t> </a:t>
            </a:r>
            <a:r>
              <a:rPr dirty="0" err="1"/>
              <a:t>מגיעה</a:t>
            </a:r>
            <a:r>
              <a:rPr dirty="0"/>
              <a:t> </a:t>
            </a:r>
            <a:r>
              <a:rPr dirty="0" err="1"/>
              <a:t>לקצה</a:t>
            </a:r>
            <a:r>
              <a:rPr dirty="0"/>
              <a:t> (</a:t>
            </a:r>
            <a:r>
              <a:rPr dirty="0" err="1"/>
              <a:t>אופקי</a:t>
            </a:r>
            <a:r>
              <a:rPr dirty="0"/>
              <a:t> </a:t>
            </a:r>
            <a:r>
              <a:rPr dirty="0" err="1"/>
              <a:t>או</a:t>
            </a:r>
            <a:r>
              <a:rPr dirty="0"/>
              <a:t> </a:t>
            </a:r>
            <a:r>
              <a:rPr dirty="0" err="1"/>
              <a:t>אנכי</a:t>
            </a:r>
            <a:r>
              <a:rPr dirty="0"/>
              <a:t>), </a:t>
            </a:r>
            <a:r>
              <a:rPr dirty="0" err="1"/>
              <a:t>נדרש</a:t>
            </a:r>
            <a:r>
              <a:rPr dirty="0"/>
              <a:t> </a:t>
            </a:r>
            <a:r>
              <a:rPr dirty="0" err="1"/>
              <a:t>זמן</a:t>
            </a:r>
            <a:r>
              <a:rPr dirty="0"/>
              <a:t> </a:t>
            </a:r>
            <a:r>
              <a:rPr dirty="0" err="1"/>
              <a:t>כדי</a:t>
            </a:r>
            <a:r>
              <a:rPr dirty="0"/>
              <a:t> </a:t>
            </a:r>
            <a:r>
              <a:rPr dirty="0" err="1"/>
              <a:t>להחזיר</a:t>
            </a:r>
            <a:r>
              <a:rPr dirty="0"/>
              <a:t> </a:t>
            </a:r>
            <a:r>
              <a:rPr dirty="0" err="1"/>
              <a:t>אותה</a:t>
            </a:r>
            <a:r>
              <a:rPr dirty="0"/>
              <a:t> </a:t>
            </a:r>
            <a:r>
              <a:rPr dirty="0" err="1"/>
              <a:t>לנקודת</a:t>
            </a:r>
            <a:r>
              <a:rPr dirty="0"/>
              <a:t> </a:t>
            </a:r>
            <a:r>
              <a:rPr dirty="0" err="1"/>
              <a:t>ההתחלה</a:t>
            </a:r>
            <a:r>
              <a:rPr dirty="0"/>
              <a:t> (Retrace).</a:t>
            </a:r>
          </a:p>
        </p:txBody>
      </p:sp>
      <p:pic>
        <p:nvPicPr>
          <p:cNvPr id="4" name="Picture 3" descr="vga_raster_scan_retrace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773" y="2995914"/>
            <a:ext cx="5990896" cy="38611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4752"/>
            <a:ext cx="8360229" cy="1143000"/>
          </a:xfrm>
        </p:spPr>
        <p:txBody>
          <a:bodyPr>
            <a:normAutofit fontScale="90000"/>
          </a:bodyPr>
          <a:lstStyle/>
          <a:p>
            <a:pPr algn="ctr" rtl="1"/>
            <a:r>
              <a:rPr dirty="0" err="1"/>
              <a:t>תזמוני</a:t>
            </a:r>
            <a:r>
              <a:rPr dirty="0"/>
              <a:t> VGA</a:t>
            </a:r>
            <a:r>
              <a:rPr lang="he-IL" dirty="0"/>
              <a:t>:</a:t>
            </a:r>
            <a:br>
              <a:rPr lang="he-IL" dirty="0"/>
            </a:br>
            <a:r>
              <a:rPr dirty="0" err="1"/>
              <a:t>הפיזיקה</a:t>
            </a:r>
            <a:r>
              <a:rPr dirty="0"/>
              <a:t> </a:t>
            </a:r>
            <a:r>
              <a:rPr dirty="0" err="1"/>
              <a:t>מאחורי</a:t>
            </a:r>
            <a:r>
              <a:rPr dirty="0"/>
              <a:t> </a:t>
            </a:r>
            <a:r>
              <a:rPr dirty="0" err="1"/>
              <a:t>המספרים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125639"/>
              </p:ext>
            </p:extLst>
          </p:nvPr>
        </p:nvGraphicFramePr>
        <p:xfrm>
          <a:off x="457200" y="2326105"/>
          <a:ext cx="8229600" cy="3705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6155">
                <a:tc>
                  <a:txBody>
                    <a:bodyPr/>
                    <a:lstStyle/>
                    <a:p>
                      <a:pPr algn="ctr" rtl="1">
                        <a:defRPr sz="1600" b="1"/>
                      </a:pPr>
                      <a:r>
                        <a:t>פרמטר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defRPr sz="1600" b="1"/>
                      </a:pPr>
                      <a:r>
                        <a:t>מחזורי שעון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defRPr sz="1600" b="1"/>
                      </a:pPr>
                      <a:r>
                        <a:t>הצורך הפיזיקלי המקורי (CRT)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defRPr sz="1600" b="1"/>
                      </a:pPr>
                      <a:r>
                        <a:t>המימוש שלנו (RTL)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393">
                <a:tc>
                  <a:txBody>
                    <a:bodyPr/>
                    <a:lstStyle/>
                    <a:p>
                      <a:pPr algn="ctr" rtl="1">
                        <a:defRPr sz="1400"/>
                      </a:pPr>
                      <a:r>
                        <a:t>Active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defRPr sz="1400"/>
                      </a:pPr>
                      <a:r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t>הקרן מציירת את הפיקסלים הפיזיים על המסך משמאל לימין.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t>שליפת נתונים מה-BRAM ושידור צבע (RGB) פעיל.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393">
                <a:tc>
                  <a:txBody>
                    <a:bodyPr/>
                    <a:lstStyle/>
                    <a:p>
                      <a:pPr algn="ctr" rtl="1">
                        <a:defRPr sz="1400"/>
                      </a:pPr>
                      <a:r>
                        <a:t>Front Porch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defRPr sz="14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t>מרווח זמן לקרן 'להירגע' בסוף השורה לפני שחוזרת אחורה.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t>כיבוי מיידי של ה-RGB ל-'0000' למניעת מריחות.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393">
                <a:tc>
                  <a:txBody>
                    <a:bodyPr/>
                    <a:lstStyle/>
                    <a:p>
                      <a:pPr algn="ctr" rtl="1">
                        <a:defRPr sz="1400"/>
                      </a:pPr>
                      <a:r>
                        <a:t>Sync Pulse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defRPr sz="1400"/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t>מכת מתח (טריגר) שמאלצת את הקרן לקפוץ חזרה שמאלה.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t>הורדת האות הפיזי HSYNC ל-'0' למשך 96 שעונים.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393">
                <a:tc>
                  <a:txBody>
                    <a:bodyPr/>
                    <a:lstStyle/>
                    <a:p>
                      <a:pPr algn="ctr" rtl="1">
                        <a:defRPr sz="1400"/>
                      </a:pPr>
                      <a:r>
                        <a:t>Back Porch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defRPr sz="1400"/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t>המתנה לייצוב הקרן בתחילת השורה החדשה בצד שמאל.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rPr dirty="0" err="1"/>
                        <a:t>המשך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השהיית</a:t>
                      </a:r>
                      <a:r>
                        <a:rPr dirty="0"/>
                        <a:t> ה-RGB </a:t>
                      </a:r>
                      <a:r>
                        <a:rPr dirty="0" err="1"/>
                        <a:t>על</a:t>
                      </a:r>
                      <a:r>
                        <a:rPr dirty="0"/>
                        <a:t> '0000' </a:t>
                      </a:r>
                      <a:r>
                        <a:rPr dirty="0" err="1"/>
                        <a:t>עד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הגעה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לפיקסל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הראשון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rtl="1"/>
            <a:r>
              <a:rPr lang="he-IL" dirty="0"/>
              <a:t>תזמונים בחומרה </a:t>
            </a:r>
            <a:br>
              <a:rPr lang="he-IL" dirty="0"/>
            </a:br>
            <a:r>
              <a:rPr lang="he-IL" dirty="0"/>
              <a:t>(</a:t>
            </a:r>
            <a:r>
              <a:rPr lang="en-US" dirty="0"/>
              <a:t>VGA Controller</a:t>
            </a:r>
            <a:r>
              <a:rPr lang="he-IL" dirty="0"/>
              <a:t>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88427" y="1275956"/>
            <a:ext cx="804429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מחזור</a:t>
            </a:r>
            <a:r>
              <a:rPr dirty="0"/>
              <a:t> </a:t>
            </a:r>
            <a:r>
              <a:rPr dirty="0" err="1"/>
              <a:t>שלם</a:t>
            </a:r>
            <a:r>
              <a:rPr dirty="0"/>
              <a:t> </a:t>
            </a:r>
            <a:r>
              <a:rPr lang="he-IL" dirty="0"/>
              <a:t>(800 פיקסלים):</a:t>
            </a:r>
          </a:p>
          <a:p>
            <a:pPr algn="r" rtl="1">
              <a:defRPr sz="1600"/>
            </a:pPr>
            <a:r>
              <a:rPr dirty="0" err="1"/>
              <a:t>חיבור</a:t>
            </a:r>
            <a:r>
              <a:rPr dirty="0"/>
              <a:t> </a:t>
            </a:r>
            <a:r>
              <a:rPr dirty="0" err="1"/>
              <a:t>הערכים</a:t>
            </a:r>
            <a:r>
              <a:rPr dirty="0"/>
              <a:t> (640+16+96+48) </a:t>
            </a:r>
            <a:r>
              <a:rPr dirty="0" err="1"/>
              <a:t>דורש</a:t>
            </a:r>
            <a:r>
              <a:rPr dirty="0"/>
              <a:t> </a:t>
            </a:r>
            <a:r>
              <a:rPr dirty="0" err="1"/>
              <a:t>מהמונה</a:t>
            </a:r>
            <a:r>
              <a:rPr dirty="0"/>
              <a:t> </a:t>
            </a:r>
            <a:r>
              <a:rPr dirty="0" err="1"/>
              <a:t>האופקי</a:t>
            </a:r>
            <a:r>
              <a:rPr dirty="0"/>
              <a:t> (</a:t>
            </a:r>
            <a:r>
              <a:rPr dirty="0" err="1"/>
              <a:t>h_count</a:t>
            </a:r>
            <a:r>
              <a:rPr dirty="0"/>
              <a:t>) </a:t>
            </a:r>
            <a:r>
              <a:rPr dirty="0" err="1"/>
              <a:t>לספור</a:t>
            </a:r>
            <a:r>
              <a:rPr dirty="0"/>
              <a:t> מ-0 </a:t>
            </a:r>
            <a:r>
              <a:rPr dirty="0" err="1"/>
              <a:t>ועד</a:t>
            </a:r>
            <a:r>
              <a:rPr dirty="0"/>
              <a:t> 799.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שעון</a:t>
            </a:r>
            <a:r>
              <a:rPr dirty="0"/>
              <a:t> </a:t>
            </a:r>
            <a:r>
              <a:rPr dirty="0" err="1"/>
              <a:t>פיקסל</a:t>
            </a:r>
            <a:r>
              <a:rPr dirty="0"/>
              <a:t> 25MHz</a:t>
            </a:r>
            <a:r>
              <a:rPr lang="he-IL" dirty="0"/>
              <a:t> :</a:t>
            </a:r>
          </a:p>
          <a:p>
            <a:pPr algn="r" rtl="1">
              <a:defRPr sz="1600"/>
            </a:pPr>
            <a:r>
              <a:rPr dirty="0" err="1"/>
              <a:t>כל</a:t>
            </a:r>
            <a:r>
              <a:rPr dirty="0"/>
              <a:t> '</a:t>
            </a:r>
            <a:r>
              <a:rPr dirty="0" err="1"/>
              <a:t>פיקסל</a:t>
            </a:r>
            <a:r>
              <a:rPr dirty="0"/>
              <a:t>' </a:t>
            </a:r>
            <a:r>
              <a:rPr dirty="0" err="1"/>
              <a:t>שקול</a:t>
            </a:r>
            <a:r>
              <a:rPr dirty="0"/>
              <a:t> </a:t>
            </a:r>
            <a:r>
              <a:rPr dirty="0" err="1"/>
              <a:t>למחזור</a:t>
            </a:r>
            <a:r>
              <a:rPr dirty="0"/>
              <a:t> </a:t>
            </a:r>
            <a:r>
              <a:rPr dirty="0" err="1"/>
              <a:t>שעון</a:t>
            </a:r>
            <a:r>
              <a:rPr dirty="0"/>
              <a:t> </a:t>
            </a:r>
            <a:r>
              <a:rPr dirty="0" err="1"/>
              <a:t>אחד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40ns. </a:t>
            </a:r>
            <a:r>
              <a:rPr lang="he-IL" dirty="0"/>
              <a:t>,</a:t>
            </a:r>
            <a:r>
              <a:rPr dirty="0" err="1"/>
              <a:t>סנכרון</a:t>
            </a:r>
            <a:r>
              <a:rPr dirty="0"/>
              <a:t> </a:t>
            </a:r>
            <a:r>
              <a:rPr dirty="0" err="1"/>
              <a:t>זה</a:t>
            </a:r>
            <a:r>
              <a:rPr dirty="0"/>
              <a:t> </a:t>
            </a:r>
            <a:r>
              <a:rPr dirty="0" err="1"/>
              <a:t>מבטיח</a:t>
            </a:r>
            <a:r>
              <a:rPr dirty="0"/>
              <a:t> </a:t>
            </a:r>
            <a:r>
              <a:rPr dirty="0" err="1"/>
              <a:t>קצב</a:t>
            </a:r>
            <a:r>
              <a:rPr dirty="0"/>
              <a:t> </a:t>
            </a:r>
            <a:r>
              <a:rPr dirty="0" err="1"/>
              <a:t>ריענון</a:t>
            </a:r>
            <a:r>
              <a:rPr dirty="0"/>
              <a:t> </a:t>
            </a:r>
            <a:r>
              <a:rPr dirty="0" err="1"/>
              <a:t>תקני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60Hz.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אכיפת</a:t>
            </a:r>
            <a:r>
              <a:rPr dirty="0"/>
              <a:t> </a:t>
            </a:r>
            <a:r>
              <a:rPr dirty="0" err="1"/>
              <a:t>שחור</a:t>
            </a:r>
            <a:r>
              <a:rPr dirty="0"/>
              <a:t> (Blanking) 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dirty="0" err="1"/>
              <a:t>מחוץ</a:t>
            </a:r>
            <a:r>
              <a:rPr dirty="0"/>
              <a:t> </a:t>
            </a:r>
            <a:r>
              <a:rPr dirty="0" err="1"/>
              <a:t>לתחום</a:t>
            </a:r>
            <a:r>
              <a:rPr dirty="0"/>
              <a:t> ה-640, </a:t>
            </a:r>
            <a:r>
              <a:rPr dirty="0" err="1"/>
              <a:t>הלוגיקה</a:t>
            </a:r>
            <a:r>
              <a:rPr dirty="0"/>
              <a:t> </a:t>
            </a:r>
            <a:r>
              <a:rPr dirty="0" err="1"/>
              <a:t>שלנו</a:t>
            </a:r>
            <a:r>
              <a:rPr dirty="0"/>
              <a:t> </a:t>
            </a:r>
            <a:r>
              <a:rPr dirty="0" err="1"/>
              <a:t>מאלצת</a:t>
            </a:r>
            <a:r>
              <a:rPr dirty="0"/>
              <a:t> "0000" ב-RGB </a:t>
            </a:r>
            <a:r>
              <a:rPr dirty="0" err="1"/>
              <a:t>כדי</a:t>
            </a:r>
            <a:r>
              <a:rPr dirty="0"/>
              <a:t> </a:t>
            </a:r>
            <a:r>
              <a:rPr dirty="0" err="1"/>
              <a:t>למנוע</a:t>
            </a:r>
            <a:r>
              <a:rPr dirty="0"/>
              <a:t> '</a:t>
            </a:r>
            <a:r>
              <a:rPr dirty="0" err="1"/>
              <a:t>מריחות</a:t>
            </a:r>
            <a:r>
              <a:rPr dirty="0"/>
              <a:t>' </a:t>
            </a:r>
            <a:r>
              <a:rPr dirty="0" err="1"/>
              <a:t>צבע</a:t>
            </a:r>
            <a:r>
              <a:rPr dirty="0"/>
              <a:t> </a:t>
            </a:r>
            <a:r>
              <a:rPr dirty="0" err="1"/>
              <a:t>בעת</a:t>
            </a:r>
            <a:r>
              <a:rPr dirty="0"/>
              <a:t> </a:t>
            </a:r>
            <a:r>
              <a:rPr dirty="0" err="1"/>
              <a:t>תנועת</a:t>
            </a:r>
            <a:r>
              <a:rPr dirty="0"/>
              <a:t> </a:t>
            </a:r>
            <a:r>
              <a:rPr dirty="0" err="1"/>
              <a:t>הקרן</a:t>
            </a:r>
            <a:r>
              <a:rPr dirty="0"/>
              <a:t>.</a:t>
            </a:r>
          </a:p>
        </p:txBody>
      </p:sp>
      <p:pic>
        <p:nvPicPr>
          <p:cNvPr id="4" name="Picture 3" descr="vga_counters_rtl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36178"/>
            <a:ext cx="4114800" cy="2047875"/>
          </a:xfrm>
          <a:prstGeom prst="rect">
            <a:avLst/>
          </a:prstGeom>
        </p:spPr>
      </p:pic>
      <p:pic>
        <p:nvPicPr>
          <p:cNvPr id="5" name="Picture 4" descr="vga_timing_waveform_and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046" y="3234267"/>
            <a:ext cx="3657600" cy="36237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rtl="1"/>
            <a:r>
              <a:rPr dirty="0" err="1"/>
              <a:t>עיבוד</a:t>
            </a:r>
            <a:r>
              <a:rPr dirty="0"/>
              <a:t> </a:t>
            </a:r>
            <a:r>
              <a:rPr dirty="0" err="1"/>
              <a:t>הפיקסל</a:t>
            </a:r>
            <a:r>
              <a:rPr dirty="0"/>
              <a:t>: </a:t>
            </a:r>
            <a:br>
              <a:rPr lang="he-IL" dirty="0"/>
            </a:br>
            <a:r>
              <a:rPr dirty="0" err="1"/>
              <a:t>ניתוב</a:t>
            </a:r>
            <a:r>
              <a:rPr dirty="0"/>
              <a:t> ל-RGB </a:t>
            </a:r>
            <a:r>
              <a:rPr dirty="0" err="1"/>
              <a:t>ומנגנון</a:t>
            </a:r>
            <a:r>
              <a:rPr dirty="0"/>
              <a:t> ה-Blanking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420" y="1164334"/>
            <a:ext cx="8628993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רישום</a:t>
            </a:r>
            <a:r>
              <a:rPr dirty="0"/>
              <a:t> </a:t>
            </a:r>
            <a:r>
              <a:rPr dirty="0" err="1"/>
              <a:t>ופיצול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 </a:t>
            </a:r>
            <a:r>
              <a:rPr dirty="0" err="1"/>
              <a:t>הנתונים</a:t>
            </a:r>
            <a:r>
              <a:rPr dirty="0"/>
              <a:t> מ-</a:t>
            </a:r>
            <a:r>
              <a:rPr dirty="0" err="1"/>
              <a:t>doutb</a:t>
            </a:r>
            <a:r>
              <a:rPr dirty="0"/>
              <a:t> </a:t>
            </a:r>
            <a:r>
              <a:rPr dirty="0" err="1"/>
              <a:t>ננעלים</a:t>
            </a:r>
            <a:r>
              <a:rPr dirty="0"/>
              <a:t> </a:t>
            </a:r>
            <a:r>
              <a:rPr dirty="0" err="1"/>
              <a:t>באוגר</a:t>
            </a:r>
            <a:r>
              <a:rPr dirty="0"/>
              <a:t> </a:t>
            </a:r>
            <a:r>
              <a:rPr dirty="0" err="1"/>
              <a:t>pxl_data_reg</a:t>
            </a:r>
            <a:r>
              <a:rPr dirty="0"/>
              <a:t>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 </a:t>
            </a:r>
            <a:r>
              <a:rPr dirty="0" err="1"/>
              <a:t>ומפוצלים</a:t>
            </a:r>
            <a:r>
              <a:rPr dirty="0"/>
              <a:t> ל</a:t>
            </a:r>
            <a:r>
              <a:rPr lang="he-IL" dirty="0"/>
              <a:t>מסלולים</a:t>
            </a:r>
            <a:r>
              <a:rPr dirty="0"/>
              <a:t>: </a:t>
            </a:r>
            <a:r>
              <a:rPr dirty="0" err="1"/>
              <a:t>vga_r_int</a:t>
            </a:r>
            <a:r>
              <a:rPr dirty="0"/>
              <a:t> (11:8), </a:t>
            </a:r>
            <a:r>
              <a:rPr dirty="0" err="1"/>
              <a:t>vga_g_int</a:t>
            </a:r>
            <a:r>
              <a:rPr dirty="0"/>
              <a:t> (7:4) ו-</a:t>
            </a:r>
            <a:r>
              <a:rPr dirty="0" err="1"/>
              <a:t>vga_b_int</a:t>
            </a:r>
            <a:r>
              <a:rPr dirty="0"/>
              <a:t> (3:0).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האות</a:t>
            </a:r>
            <a:r>
              <a:rPr dirty="0"/>
              <a:t> </a:t>
            </a:r>
            <a:r>
              <a:rPr dirty="0" err="1"/>
              <a:t>in_display_area_delayed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 err="1"/>
              <a:t>משמש</a:t>
            </a:r>
            <a:r>
              <a:rPr dirty="0"/>
              <a:t> </a:t>
            </a:r>
            <a:r>
              <a:rPr dirty="0" err="1"/>
              <a:t>כדגל</a:t>
            </a:r>
            <a:r>
              <a:rPr dirty="0"/>
              <a:t> </a:t>
            </a:r>
            <a:r>
              <a:rPr dirty="0" err="1"/>
              <a:t>המזהה</a:t>
            </a:r>
            <a:r>
              <a:rPr dirty="0"/>
              <a:t> </a:t>
            </a:r>
            <a:r>
              <a:rPr dirty="0" err="1"/>
              <a:t>האם</a:t>
            </a:r>
            <a:r>
              <a:rPr dirty="0"/>
              <a:t> </a:t>
            </a:r>
            <a:r>
              <a:rPr dirty="0" err="1"/>
              <a:t>הקרן</a:t>
            </a:r>
            <a:r>
              <a:rPr dirty="0"/>
              <a:t> </a:t>
            </a:r>
            <a:r>
              <a:rPr dirty="0" err="1"/>
              <a:t>מצוירת</a:t>
            </a:r>
            <a:r>
              <a:rPr dirty="0"/>
              <a:t> </a:t>
            </a:r>
            <a:r>
              <a:rPr dirty="0" err="1"/>
              <a:t>כעת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המסך</a:t>
            </a:r>
            <a:r>
              <a:rPr dirty="0"/>
              <a:t>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 </a:t>
            </a:r>
            <a:r>
              <a:rPr dirty="0" err="1"/>
              <a:t>או</a:t>
            </a:r>
            <a:r>
              <a:rPr dirty="0"/>
              <a:t> </a:t>
            </a:r>
            <a:r>
              <a:rPr dirty="0" err="1"/>
              <a:t>נמצאת</a:t>
            </a:r>
            <a:r>
              <a:rPr dirty="0"/>
              <a:t> </a:t>
            </a:r>
            <a:r>
              <a:rPr dirty="0" err="1"/>
              <a:t>מחוץ</a:t>
            </a:r>
            <a:r>
              <a:rPr dirty="0"/>
              <a:t> </a:t>
            </a:r>
            <a:r>
              <a:rPr dirty="0" err="1"/>
              <a:t>לתצוגה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סינון</a:t>
            </a:r>
            <a:r>
              <a:rPr dirty="0"/>
              <a:t> </a:t>
            </a:r>
            <a:r>
              <a:rPr dirty="0" err="1"/>
              <a:t>דיגיטלי</a:t>
            </a:r>
            <a:r>
              <a:rPr dirty="0"/>
              <a:t> (Mux) 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כאשר</a:t>
            </a:r>
            <a:r>
              <a:rPr dirty="0"/>
              <a:t> </a:t>
            </a:r>
            <a:r>
              <a:rPr dirty="0" err="1"/>
              <a:t>הדגל</a:t>
            </a:r>
            <a:r>
              <a:rPr dirty="0"/>
              <a:t> ב-'1', </a:t>
            </a:r>
            <a:r>
              <a:rPr dirty="0" err="1"/>
              <a:t>ערכי</a:t>
            </a:r>
            <a:r>
              <a:rPr dirty="0"/>
              <a:t> ה-RGB </a:t>
            </a:r>
            <a:r>
              <a:rPr dirty="0" err="1"/>
              <a:t>מועברים</a:t>
            </a:r>
            <a:r>
              <a:rPr dirty="0"/>
              <a:t> </a:t>
            </a:r>
            <a:r>
              <a:rPr dirty="0" err="1"/>
              <a:t>ליציאות</a:t>
            </a:r>
            <a:r>
              <a:rPr dirty="0"/>
              <a:t> VGA_R/G/B. </a:t>
            </a:r>
            <a:r>
              <a:rPr dirty="0" err="1"/>
              <a:t>בזמני</a:t>
            </a:r>
            <a:r>
              <a:rPr dirty="0"/>
              <a:t> ה-Porch </a:t>
            </a:r>
            <a:r>
              <a:rPr dirty="0" err="1"/>
              <a:t>וה</a:t>
            </a:r>
            <a:r>
              <a:rPr dirty="0"/>
              <a:t>-Sync, </a:t>
            </a:r>
            <a:r>
              <a:rPr dirty="0" err="1"/>
              <a:t>היציאות</a:t>
            </a:r>
            <a:r>
              <a:rPr dirty="0"/>
              <a:t> </a:t>
            </a:r>
            <a:r>
              <a:rPr dirty="0" err="1"/>
              <a:t>נאלצות</a:t>
            </a:r>
            <a:r>
              <a:rPr dirty="0"/>
              <a:t> ל-"0000" </a:t>
            </a:r>
            <a:r>
              <a:rPr lang="he-IL" dirty="0"/>
              <a:t>,</a:t>
            </a:r>
            <a:r>
              <a:rPr dirty="0" err="1"/>
              <a:t>שחור</a:t>
            </a:r>
            <a:r>
              <a:rPr dirty="0"/>
              <a:t> </a:t>
            </a:r>
            <a:r>
              <a:rPr dirty="0" err="1"/>
              <a:t>מוחלט</a:t>
            </a:r>
            <a:endParaRPr dirty="0"/>
          </a:p>
        </p:txBody>
      </p:sp>
      <p:pic>
        <p:nvPicPr>
          <p:cNvPr id="4" name="Picture 3" descr="vga_rgb_video_on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79" y="3646401"/>
            <a:ext cx="6290441" cy="29822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210" y="-112620"/>
            <a:ext cx="8229600" cy="1143000"/>
          </a:xfrm>
        </p:spPr>
        <p:txBody>
          <a:bodyPr/>
          <a:lstStyle/>
          <a:p>
            <a:pPr algn="ctr" rtl="1"/>
            <a:r>
              <a:rPr dirty="0" err="1"/>
              <a:t>המרת</a:t>
            </a:r>
            <a:r>
              <a:rPr dirty="0"/>
              <a:t> DAC </a:t>
            </a:r>
            <a:r>
              <a:rPr lang="he-IL" dirty="0"/>
              <a:t> </a:t>
            </a:r>
            <a:r>
              <a:rPr dirty="0" err="1"/>
              <a:t>ומחבר</a:t>
            </a:r>
            <a:r>
              <a:rPr dirty="0"/>
              <a:t> ה-VGA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0435" y="1591879"/>
            <a:ext cx="724162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סולם</a:t>
            </a:r>
            <a:r>
              <a:rPr dirty="0"/>
              <a:t> </a:t>
            </a:r>
            <a:r>
              <a:rPr dirty="0" err="1"/>
              <a:t>נגדים</a:t>
            </a:r>
            <a:r>
              <a:rPr dirty="0"/>
              <a:t> (Resistor Network)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dirty="0" err="1"/>
              <a:t>המרת</a:t>
            </a:r>
            <a:r>
              <a:rPr dirty="0"/>
              <a:t> 12 </a:t>
            </a:r>
            <a:r>
              <a:rPr lang="he-IL" dirty="0"/>
              <a:t> </a:t>
            </a:r>
            <a:r>
              <a:rPr dirty="0" err="1"/>
              <a:t>ביטי</a:t>
            </a:r>
            <a:r>
              <a:rPr dirty="0"/>
              <a:t> ה-RGB </a:t>
            </a:r>
            <a:r>
              <a:rPr dirty="0" err="1"/>
              <a:t>למתח</a:t>
            </a:r>
            <a:r>
              <a:rPr dirty="0"/>
              <a:t> </a:t>
            </a:r>
            <a:r>
              <a:rPr dirty="0" err="1"/>
              <a:t>אנלוגי</a:t>
            </a:r>
            <a:r>
              <a:rPr dirty="0"/>
              <a:t> </a:t>
            </a:r>
            <a:r>
              <a:rPr dirty="0" err="1"/>
              <a:t>רציף</a:t>
            </a:r>
            <a:r>
              <a:rPr dirty="0"/>
              <a:t> </a:t>
            </a:r>
            <a:r>
              <a:rPr lang="he-IL" dirty="0"/>
              <a:t>, </a:t>
            </a:r>
            <a:r>
              <a:rPr dirty="0" err="1"/>
              <a:t>באמצעות</a:t>
            </a:r>
            <a:r>
              <a:rPr dirty="0"/>
              <a:t> </a:t>
            </a:r>
            <a:r>
              <a:rPr lang="he-IL" dirty="0"/>
              <a:t>רשת </a:t>
            </a:r>
            <a:r>
              <a:rPr dirty="0" err="1"/>
              <a:t>נגדים</a:t>
            </a:r>
            <a:r>
              <a:rPr lang="he-IL" dirty="0"/>
              <a:t> מ</a:t>
            </a:r>
            <a:r>
              <a:rPr dirty="0"/>
              <a:t> 510Ω </a:t>
            </a:r>
            <a:r>
              <a:rPr dirty="0" err="1"/>
              <a:t>עד</a:t>
            </a:r>
            <a:r>
              <a:rPr dirty="0"/>
              <a:t> 4KΩ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•</a:t>
            </a:r>
            <a:r>
              <a:rPr dirty="0"/>
              <a:t> </a:t>
            </a:r>
            <a:r>
              <a:rPr dirty="0" err="1"/>
              <a:t>אותות</a:t>
            </a:r>
            <a:r>
              <a:rPr dirty="0"/>
              <a:t> </a:t>
            </a:r>
            <a:r>
              <a:rPr dirty="0" err="1"/>
              <a:t>סנכרון</a:t>
            </a:r>
            <a:r>
              <a:rPr dirty="0"/>
              <a:t> (B11 / B12) 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dirty="0" err="1"/>
              <a:t>פיני</a:t>
            </a:r>
            <a:r>
              <a:rPr dirty="0"/>
              <a:t> </a:t>
            </a:r>
            <a:r>
              <a:rPr dirty="0" err="1"/>
              <a:t>היציאה</a:t>
            </a:r>
            <a:r>
              <a:rPr dirty="0"/>
              <a:t> </a:t>
            </a:r>
            <a:r>
              <a:rPr dirty="0" err="1"/>
              <a:t>מוגנים</a:t>
            </a:r>
            <a:r>
              <a:rPr dirty="0"/>
              <a:t> </a:t>
            </a:r>
            <a:r>
              <a:rPr dirty="0" err="1"/>
              <a:t>באמצעות</a:t>
            </a:r>
            <a:r>
              <a:rPr dirty="0"/>
              <a:t> </a:t>
            </a:r>
            <a:r>
              <a:rPr dirty="0" err="1"/>
              <a:t>נגדי</a:t>
            </a:r>
            <a:r>
              <a:rPr dirty="0"/>
              <a:t> 100Ω </a:t>
            </a:r>
            <a:r>
              <a:rPr lang="he-IL" dirty="0"/>
              <a:t> </a:t>
            </a:r>
            <a:r>
              <a:rPr dirty="0" err="1"/>
              <a:t>ומזינים</a:t>
            </a:r>
            <a:r>
              <a:rPr dirty="0"/>
              <a:t> </a:t>
            </a:r>
            <a:r>
              <a:rPr dirty="0" err="1"/>
              <a:t>ישירות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מחבר</a:t>
            </a:r>
            <a:r>
              <a:rPr dirty="0"/>
              <a:t> ה-DB15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המסך</a:t>
            </a:r>
            <a:r>
              <a:rPr dirty="0"/>
              <a:t>.</a:t>
            </a:r>
          </a:p>
        </p:txBody>
      </p:sp>
      <p:pic>
        <p:nvPicPr>
          <p:cNvPr id="4" name="Picture 3" descr="vga_dac_resistor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954" y="3429000"/>
            <a:ext cx="2785056" cy="3277456"/>
          </a:xfrm>
          <a:prstGeom prst="rect">
            <a:avLst/>
          </a:prstGeom>
        </p:spPr>
      </p:pic>
      <p:pic>
        <p:nvPicPr>
          <p:cNvPr id="5" name="Picture 4" descr="vga_db15_connector_p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397460" y="3847228"/>
            <a:ext cx="3045791" cy="2426480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5C6DADA-FBFD-40CE-80CE-D90CFB23A20F}"/>
              </a:ext>
            </a:extLst>
          </p:cNvPr>
          <p:cNvSpPr txBox="1"/>
          <p:nvPr/>
        </p:nvSpPr>
        <p:spPr>
          <a:xfrm>
            <a:off x="1524001" y="1000403"/>
            <a:ext cx="6609596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על מנת לשדר את האותות הצבעוניים הדיגיטליים החוצה למסך בעל הכניסה </a:t>
            </a:r>
            <a:r>
              <a:rPr lang="he-IL" dirty="0" err="1"/>
              <a:t>האנלוגית,נשתמש</a:t>
            </a:r>
            <a:r>
              <a:rPr lang="he-IL" dirty="0"/>
              <a:t> בממיר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D TO A</a:t>
            </a:r>
            <a:endParaRPr lang="he-IL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6723"/>
            <a:ext cx="8229599" cy="809297"/>
          </a:xfrm>
        </p:spPr>
        <p:txBody>
          <a:bodyPr>
            <a:normAutofit/>
          </a:bodyPr>
          <a:lstStyle/>
          <a:p>
            <a:pPr algn="ctr" rtl="1"/>
            <a:r>
              <a:rPr lang="he-IL" dirty="0"/>
              <a:t>משקלי הביטים: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694" y="231340"/>
            <a:ext cx="8229598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lang="he-IL" dirty="0"/>
              <a:t>• משקל פיזי לכל ביט</a:t>
            </a:r>
          </a:p>
          <a:p>
            <a:pPr algn="r" rtl="1">
              <a:defRPr sz="1600"/>
            </a:pPr>
            <a:r>
              <a:rPr lang="en-US" dirty="0"/>
              <a:t> MSB  </a:t>
            </a:r>
            <a:r>
              <a:rPr lang="he-IL" dirty="0"/>
              <a:t>לעומת </a:t>
            </a:r>
            <a:r>
              <a:rPr lang="en-US" dirty="0"/>
              <a:t>LSB</a:t>
            </a:r>
            <a:r>
              <a:rPr lang="he-IL" dirty="0"/>
              <a:t> :</a:t>
            </a:r>
            <a:endParaRPr lang="en-US" dirty="0"/>
          </a:p>
          <a:p>
            <a:pPr algn="r" rtl="1">
              <a:defRPr sz="1600"/>
            </a:pPr>
            <a:r>
              <a:rPr lang="en-US" dirty="0"/>
              <a:t>  </a:t>
            </a:r>
            <a:r>
              <a:rPr lang="he-IL" dirty="0"/>
              <a:t>הביט המשמעותי ביותר (</a:t>
            </a:r>
            <a:r>
              <a:rPr lang="en-US" dirty="0" err="1"/>
              <a:t>msb</a:t>
            </a:r>
            <a:r>
              <a:rPr lang="he-IL" dirty="0"/>
              <a:t>)מחובר לנגד הקטן ביותר, ולכן מזרים את הזרם הגדול ביותר למעגל        ומשפיע משמעותית על עוצמת הצבע,</a:t>
            </a:r>
          </a:p>
          <a:p>
            <a:pPr algn="r" rtl="1">
              <a:defRPr sz="1600"/>
            </a:pPr>
            <a:r>
              <a:rPr dirty="0"/>
              <a:t> </a:t>
            </a:r>
            <a:r>
              <a:rPr lang="he-IL" dirty="0"/>
              <a:t>  </a:t>
            </a:r>
            <a:r>
              <a:rPr dirty="0" err="1"/>
              <a:t>לעומתו</a:t>
            </a:r>
            <a:r>
              <a:rPr dirty="0"/>
              <a:t>, </a:t>
            </a:r>
            <a:r>
              <a:rPr dirty="0" err="1"/>
              <a:t>הביט</a:t>
            </a:r>
            <a:r>
              <a:rPr dirty="0"/>
              <a:t> </a:t>
            </a:r>
            <a:r>
              <a:rPr dirty="0" err="1"/>
              <a:t>הפחות</a:t>
            </a:r>
            <a:r>
              <a:rPr dirty="0"/>
              <a:t> </a:t>
            </a:r>
            <a:r>
              <a:rPr dirty="0" err="1"/>
              <a:t>משמעותי</a:t>
            </a:r>
            <a:r>
              <a:rPr dirty="0"/>
              <a:t> (LSB) </a:t>
            </a:r>
            <a:r>
              <a:rPr dirty="0" err="1"/>
              <a:t>מחובר</a:t>
            </a:r>
            <a:r>
              <a:rPr dirty="0"/>
              <a:t> </a:t>
            </a:r>
            <a:r>
              <a:rPr dirty="0" err="1"/>
              <a:t>לנגד</a:t>
            </a:r>
            <a:r>
              <a:rPr dirty="0"/>
              <a:t> </a:t>
            </a:r>
            <a:r>
              <a:rPr dirty="0" err="1"/>
              <a:t>הגדול</a:t>
            </a:r>
            <a:r>
              <a:rPr dirty="0"/>
              <a:t> </a:t>
            </a:r>
            <a:r>
              <a:rPr dirty="0" err="1"/>
              <a:t>ביותר</a:t>
            </a:r>
            <a:r>
              <a:rPr dirty="0"/>
              <a:t> </a:t>
            </a:r>
            <a:r>
              <a:rPr dirty="0" err="1"/>
              <a:t>בסולם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ו</a:t>
            </a:r>
            <a:r>
              <a:rPr dirty="0" err="1"/>
              <a:t>תרומתו</a:t>
            </a:r>
            <a:r>
              <a:rPr dirty="0"/>
              <a:t> </a:t>
            </a:r>
            <a:r>
              <a:rPr dirty="0" err="1"/>
              <a:t>לזרם</a:t>
            </a:r>
            <a:r>
              <a:rPr dirty="0"/>
              <a:t> </a:t>
            </a:r>
            <a:r>
              <a:rPr dirty="0" err="1"/>
              <a:t>הכולל</a:t>
            </a:r>
            <a:r>
              <a:rPr dirty="0"/>
              <a:t> </a:t>
            </a:r>
            <a:r>
              <a:rPr dirty="0" err="1"/>
              <a:t>היא</a:t>
            </a:r>
            <a:r>
              <a:rPr dirty="0"/>
              <a:t> </a:t>
            </a:r>
            <a:r>
              <a:rPr dirty="0" err="1"/>
              <a:t>מזערית</a:t>
            </a:r>
            <a:r>
              <a:rPr dirty="0"/>
              <a:t> </a:t>
            </a:r>
            <a:r>
              <a:rPr dirty="0" err="1"/>
              <a:t>ונועדה</a:t>
            </a:r>
            <a:r>
              <a:rPr dirty="0"/>
              <a:t> </a:t>
            </a:r>
            <a:r>
              <a:rPr dirty="0" err="1"/>
              <a:t>לכוונון</a:t>
            </a:r>
            <a:r>
              <a:rPr dirty="0"/>
              <a:t> </a:t>
            </a:r>
            <a:r>
              <a:rPr dirty="0" err="1"/>
              <a:t>עדין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הגוון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סכימה</a:t>
            </a:r>
            <a:r>
              <a:rPr dirty="0"/>
              <a:t> </a:t>
            </a:r>
            <a:r>
              <a:rPr dirty="0" err="1"/>
              <a:t>אנלוגית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המסך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הזרמים</a:t>
            </a:r>
            <a:r>
              <a:rPr dirty="0"/>
              <a:t> </a:t>
            </a:r>
            <a:r>
              <a:rPr dirty="0" err="1"/>
              <a:t>מהביטים</a:t>
            </a:r>
            <a:r>
              <a:rPr dirty="0"/>
              <a:t> </a:t>
            </a:r>
            <a:r>
              <a:rPr dirty="0" err="1"/>
              <a:t>הפעילים</a:t>
            </a:r>
            <a:r>
              <a:rPr dirty="0"/>
              <a:t> ('1') </a:t>
            </a:r>
            <a:r>
              <a:rPr dirty="0" err="1"/>
              <a:t>מתחברים</a:t>
            </a:r>
            <a:r>
              <a:rPr dirty="0"/>
              <a:t> </a:t>
            </a:r>
            <a:r>
              <a:rPr dirty="0" err="1"/>
              <a:t>וזורמים</a:t>
            </a:r>
            <a:r>
              <a:rPr dirty="0"/>
              <a:t> </a:t>
            </a:r>
            <a:r>
              <a:rPr dirty="0" err="1"/>
              <a:t>יחד</a:t>
            </a:r>
            <a:r>
              <a:rPr dirty="0"/>
              <a:t> </a:t>
            </a:r>
            <a:r>
              <a:rPr dirty="0" err="1"/>
              <a:t>דרך</a:t>
            </a:r>
            <a:r>
              <a:rPr dirty="0"/>
              <a:t> </a:t>
            </a:r>
            <a:r>
              <a:rPr dirty="0" err="1"/>
              <a:t>נגד</a:t>
            </a:r>
            <a:r>
              <a:rPr dirty="0"/>
              <a:t> </a:t>
            </a:r>
            <a:r>
              <a:rPr dirty="0" err="1"/>
              <a:t>הסיומת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המסך</a:t>
            </a:r>
            <a:r>
              <a:rPr dirty="0"/>
              <a:t> (75Ω) </a:t>
            </a:r>
            <a:r>
              <a:rPr dirty="0" err="1"/>
              <a:t>אל</a:t>
            </a:r>
            <a:r>
              <a:rPr dirty="0"/>
              <a:t> </a:t>
            </a:r>
            <a:r>
              <a:rPr dirty="0" err="1"/>
              <a:t>האדמה</a:t>
            </a:r>
            <a:r>
              <a:rPr dirty="0"/>
              <a:t>. </a:t>
            </a:r>
            <a:r>
              <a:rPr dirty="0" err="1"/>
              <a:t>כך</a:t>
            </a:r>
            <a:r>
              <a:rPr dirty="0"/>
              <a:t> </a:t>
            </a:r>
            <a:r>
              <a:rPr dirty="0" err="1"/>
              <a:t>נוצר</a:t>
            </a:r>
            <a:r>
              <a:rPr dirty="0"/>
              <a:t> </a:t>
            </a:r>
            <a:r>
              <a:rPr dirty="0" err="1"/>
              <a:t>מחלק</a:t>
            </a:r>
            <a:r>
              <a:rPr dirty="0"/>
              <a:t> </a:t>
            </a:r>
            <a:r>
              <a:rPr dirty="0" err="1"/>
              <a:t>מתח</a:t>
            </a:r>
            <a:r>
              <a:rPr dirty="0"/>
              <a:t> </a:t>
            </a:r>
            <a:r>
              <a:rPr dirty="0" err="1"/>
              <a:t>דינמי</a:t>
            </a:r>
            <a:r>
              <a:rPr dirty="0"/>
              <a:t> </a:t>
            </a:r>
            <a:r>
              <a:rPr dirty="0" err="1"/>
              <a:t>המפיק</a:t>
            </a:r>
            <a:r>
              <a:rPr dirty="0"/>
              <a:t> 0V </a:t>
            </a:r>
            <a:r>
              <a:rPr dirty="0" err="1"/>
              <a:t>עד</a:t>
            </a:r>
            <a:r>
              <a:rPr dirty="0"/>
              <a:t> </a:t>
            </a:r>
            <a:r>
              <a:rPr lang="en-US" dirty="0"/>
              <a:t>3.3</a:t>
            </a:r>
            <a:r>
              <a:rPr dirty="0"/>
              <a:t>V</a:t>
            </a:r>
            <a:r>
              <a:rPr lang="he-IL" dirty="0"/>
              <a:t>.</a:t>
            </a:r>
            <a:endParaRPr lang="en-US" dirty="0"/>
          </a:p>
          <a:p>
            <a:pPr algn="r" rtl="1">
              <a:defRPr sz="1600"/>
            </a:pPr>
            <a:endParaRPr lang="en-US" dirty="0"/>
          </a:p>
          <a:p>
            <a:pPr algn="r" rtl="1">
              <a:defRPr sz="1600"/>
            </a:pPr>
            <a:r>
              <a:rPr lang="he-IL" dirty="0"/>
              <a:t>מימין בצבע כחול מיוצג החיבור הפיזי במסך ,משמאל מיוצג החיבור בלוח ה</a:t>
            </a:r>
            <a:r>
              <a:rPr lang="en-US" dirty="0"/>
              <a:t>FPGA</a:t>
            </a:r>
            <a:endParaRPr dirty="0"/>
          </a:p>
        </p:txBody>
      </p:sp>
      <p:pic>
        <p:nvPicPr>
          <p:cNvPr id="4" name="Picture 3" descr="vga_voltage_divider_dac.png"/>
          <p:cNvPicPr>
            <a:picLocks noChangeAspect="1"/>
          </p:cNvPicPr>
          <p:nvPr/>
        </p:nvPicPr>
        <p:blipFill rotWithShape="1">
          <a:blip r:embed="rId2"/>
          <a:srcRect t="10239" b="6031"/>
          <a:stretch/>
        </p:blipFill>
        <p:spPr>
          <a:xfrm>
            <a:off x="2472121" y="3330901"/>
            <a:ext cx="4566744" cy="3043511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25C6F1A3-CEA7-43DA-BE32-B9A50E2F2E7C}"/>
              </a:ext>
            </a:extLst>
          </p:cNvPr>
          <p:cNvSpPr/>
          <p:nvPr/>
        </p:nvSpPr>
        <p:spPr>
          <a:xfrm>
            <a:off x="5559620" y="3244573"/>
            <a:ext cx="1886958" cy="3156116"/>
          </a:xfrm>
          <a:prstGeom prst="rect">
            <a:avLst/>
          </a:prstGeom>
          <a:noFill/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3D7872E-440C-47D3-9128-B0BE4AC00DBD}"/>
              </a:ext>
            </a:extLst>
          </p:cNvPr>
          <p:cNvSpPr/>
          <p:nvPr/>
        </p:nvSpPr>
        <p:spPr>
          <a:xfrm>
            <a:off x="2879834" y="3244573"/>
            <a:ext cx="2396007" cy="31561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083" y="128561"/>
            <a:ext cx="9109919" cy="776507"/>
          </a:xfrm>
        </p:spPr>
        <p:txBody>
          <a:bodyPr>
            <a:normAutofit/>
          </a:bodyPr>
          <a:lstStyle/>
          <a:p>
            <a:pPr algn="ctr" rtl="1"/>
            <a:r>
              <a:rPr dirty="0" err="1"/>
              <a:t>מבט-על</a:t>
            </a:r>
            <a:r>
              <a:rPr lang="he-IL" dirty="0"/>
              <a:t>:</a:t>
            </a:r>
            <a:r>
              <a:rPr dirty="0"/>
              <a:t> </a:t>
            </a:r>
            <a:r>
              <a:rPr dirty="0" err="1"/>
              <a:t>זרימת</a:t>
            </a:r>
            <a:r>
              <a:rPr dirty="0"/>
              <a:t> </a:t>
            </a:r>
            <a:r>
              <a:rPr dirty="0" err="1"/>
              <a:t>נתונים</a:t>
            </a:r>
            <a:r>
              <a:rPr dirty="0"/>
              <a:t> </a:t>
            </a:r>
            <a:r>
              <a:rPr dirty="0" err="1"/>
              <a:t>ותחומי</a:t>
            </a:r>
            <a:r>
              <a:rPr dirty="0"/>
              <a:t> </a:t>
            </a:r>
            <a:r>
              <a:rPr dirty="0" err="1"/>
              <a:t>שעון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0" y="737531"/>
            <a:ext cx="856863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מחולל</a:t>
            </a:r>
            <a:r>
              <a:rPr dirty="0"/>
              <a:t> </a:t>
            </a:r>
            <a:r>
              <a:rPr dirty="0" err="1"/>
              <a:t>שעונים</a:t>
            </a:r>
            <a:r>
              <a:rPr dirty="0"/>
              <a:t> (</a:t>
            </a:r>
            <a:r>
              <a:rPr dirty="0" err="1"/>
              <a:t>clk_generator</a:t>
            </a:r>
            <a:r>
              <a:rPr dirty="0"/>
              <a:t>) 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רכיב</a:t>
            </a:r>
            <a:r>
              <a:rPr dirty="0"/>
              <a:t> PLL </a:t>
            </a:r>
            <a:r>
              <a:rPr lang="he-IL" dirty="0"/>
              <a:t> </a:t>
            </a:r>
            <a:r>
              <a:rPr dirty="0" err="1"/>
              <a:t>המקבל</a:t>
            </a:r>
            <a:r>
              <a:rPr dirty="0"/>
              <a:t> </a:t>
            </a:r>
            <a:r>
              <a:rPr dirty="0" err="1"/>
              <a:t>שעון</a:t>
            </a:r>
            <a:r>
              <a:rPr dirty="0"/>
              <a:t> </a:t>
            </a:r>
            <a:r>
              <a:rPr dirty="0" err="1"/>
              <a:t>מערכת</a:t>
            </a:r>
            <a:r>
              <a:rPr dirty="0"/>
              <a:t> </a:t>
            </a:r>
            <a:r>
              <a:rPr dirty="0" err="1"/>
              <a:t>ומפיק</a:t>
            </a:r>
            <a:r>
              <a:rPr dirty="0"/>
              <a:t> </a:t>
            </a:r>
            <a:r>
              <a:rPr dirty="0" err="1"/>
              <a:t>שעון</a:t>
            </a:r>
            <a:r>
              <a:rPr dirty="0"/>
              <a:t> 25MHz </a:t>
            </a:r>
            <a:r>
              <a:rPr lang="he-IL" dirty="0"/>
              <a:t> </a:t>
            </a:r>
            <a:r>
              <a:rPr dirty="0" err="1"/>
              <a:t>נפרד</a:t>
            </a:r>
            <a:r>
              <a:rPr dirty="0"/>
              <a:t> ל-VGA </a:t>
            </a:r>
            <a:r>
              <a:rPr dirty="0" err="1"/>
              <a:t>ושעון</a:t>
            </a:r>
            <a:r>
              <a:rPr dirty="0"/>
              <a:t> </a:t>
            </a:r>
            <a:r>
              <a:rPr dirty="0" err="1"/>
              <a:t>ייעודי</a:t>
            </a:r>
            <a:r>
              <a:rPr dirty="0"/>
              <a:t> </a:t>
            </a:r>
            <a:r>
              <a:rPr dirty="0" err="1"/>
              <a:t>למצלמה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זיכרון</a:t>
            </a:r>
            <a:r>
              <a:rPr dirty="0"/>
              <a:t> ה-BRAM </a:t>
            </a:r>
            <a:r>
              <a:rPr dirty="0" err="1"/>
              <a:t>בתצורת</a:t>
            </a:r>
            <a:r>
              <a:rPr dirty="0"/>
              <a:t> Dual-Port </a:t>
            </a:r>
            <a:r>
              <a:rPr lang="he-IL" dirty="0"/>
              <a:t> </a:t>
            </a:r>
            <a:r>
              <a:rPr dirty="0" err="1"/>
              <a:t>פועל</a:t>
            </a:r>
            <a:r>
              <a:rPr dirty="0"/>
              <a:t> </a:t>
            </a:r>
            <a:r>
              <a:rPr dirty="0" err="1"/>
              <a:t>כחוצץ</a:t>
            </a:r>
            <a:r>
              <a:rPr dirty="0"/>
              <a:t> </a:t>
            </a:r>
            <a:r>
              <a:rPr dirty="0" err="1"/>
              <a:t>בטוח</a:t>
            </a:r>
            <a:r>
              <a:rPr dirty="0"/>
              <a:t> </a:t>
            </a:r>
            <a:r>
              <a:rPr dirty="0" err="1"/>
              <a:t>בין</a:t>
            </a:r>
            <a:r>
              <a:rPr dirty="0"/>
              <a:t> </a:t>
            </a:r>
            <a:r>
              <a:rPr dirty="0" err="1"/>
              <a:t>קצב</a:t>
            </a:r>
            <a:r>
              <a:rPr dirty="0"/>
              <a:t> </a:t>
            </a:r>
            <a:r>
              <a:rPr dirty="0" err="1"/>
              <a:t>הכתיבה</a:t>
            </a:r>
            <a:r>
              <a:rPr dirty="0"/>
              <a:t> </a:t>
            </a:r>
            <a:r>
              <a:rPr dirty="0" err="1"/>
              <a:t>לקצב</a:t>
            </a:r>
            <a:r>
              <a:rPr dirty="0"/>
              <a:t> </a:t>
            </a:r>
            <a:r>
              <a:rPr dirty="0" err="1"/>
              <a:t>הקריאה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תחום</a:t>
            </a:r>
            <a:r>
              <a:rPr dirty="0"/>
              <a:t> </a:t>
            </a:r>
            <a:r>
              <a:rPr dirty="0" err="1"/>
              <a:t>אדום</a:t>
            </a:r>
            <a:r>
              <a:rPr dirty="0"/>
              <a:t> </a:t>
            </a:r>
            <a:r>
              <a:rPr lang="he-IL" dirty="0"/>
              <a:t>,</a:t>
            </a:r>
            <a:r>
              <a:rPr dirty="0" err="1"/>
              <a:t>קליטת</a:t>
            </a:r>
            <a:r>
              <a:rPr dirty="0"/>
              <a:t> </a:t>
            </a:r>
            <a:r>
              <a:rPr dirty="0" err="1"/>
              <a:t>הפיקסלים</a:t>
            </a:r>
            <a:r>
              <a:rPr dirty="0"/>
              <a:t> </a:t>
            </a:r>
            <a:r>
              <a:rPr dirty="0" err="1"/>
              <a:t>מהמצלמה</a:t>
            </a:r>
            <a:r>
              <a:rPr dirty="0"/>
              <a:t> (ov7670_capture)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ודחיפתם</a:t>
            </a:r>
            <a:r>
              <a:rPr dirty="0"/>
              <a:t> </a:t>
            </a:r>
            <a:r>
              <a:rPr dirty="0" err="1"/>
              <a:t>לפורט</a:t>
            </a:r>
            <a:r>
              <a:rPr dirty="0"/>
              <a:t> A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הזיכרון</a:t>
            </a:r>
            <a:r>
              <a:rPr dirty="0"/>
              <a:t> (</a:t>
            </a:r>
            <a:r>
              <a:rPr dirty="0" err="1"/>
              <a:t>clka</a:t>
            </a:r>
            <a:r>
              <a:rPr dirty="0"/>
              <a:t>).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תחום</a:t>
            </a:r>
            <a:r>
              <a:rPr dirty="0"/>
              <a:t> </a:t>
            </a:r>
            <a:r>
              <a:rPr dirty="0" err="1"/>
              <a:t>כחול</a:t>
            </a:r>
            <a:r>
              <a:rPr dirty="0"/>
              <a:t> (VGA Domain): </a:t>
            </a:r>
            <a:r>
              <a:rPr lang="he-IL" dirty="0"/>
              <a:t> </a:t>
            </a:r>
          </a:p>
          <a:p>
            <a:pPr algn="r" rtl="1">
              <a:defRPr sz="1600"/>
            </a:pPr>
            <a:r>
              <a:rPr dirty="0" err="1"/>
              <a:t>המיקוד</a:t>
            </a:r>
            <a:r>
              <a:rPr dirty="0"/>
              <a:t> </a:t>
            </a:r>
            <a:r>
              <a:rPr dirty="0" err="1"/>
              <a:t>שלנו</a:t>
            </a:r>
            <a:r>
              <a:rPr dirty="0"/>
              <a:t> – </a:t>
            </a:r>
            <a:r>
              <a:rPr dirty="0" err="1"/>
              <a:t>שליפת</a:t>
            </a:r>
            <a:r>
              <a:rPr dirty="0"/>
              <a:t> </a:t>
            </a:r>
            <a:r>
              <a:rPr dirty="0" err="1"/>
              <a:t>הפיקסלים</a:t>
            </a:r>
            <a:r>
              <a:rPr dirty="0"/>
              <a:t> </a:t>
            </a:r>
            <a:r>
              <a:rPr dirty="0" err="1"/>
              <a:t>מפורט</a:t>
            </a:r>
            <a:r>
              <a:rPr dirty="0"/>
              <a:t> B (</a:t>
            </a:r>
            <a:r>
              <a:rPr dirty="0" err="1"/>
              <a:t>clkb</a:t>
            </a:r>
            <a:r>
              <a:rPr dirty="0"/>
              <a:t>)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ידי</a:t>
            </a:r>
            <a:r>
              <a:rPr dirty="0"/>
              <a:t> </a:t>
            </a:r>
            <a:r>
              <a:rPr dirty="0" err="1"/>
              <a:t>בקר</a:t>
            </a:r>
            <a:r>
              <a:rPr dirty="0"/>
              <a:t> ה-VGA </a:t>
            </a:r>
            <a:r>
              <a:rPr dirty="0" err="1"/>
              <a:t>וייצור</a:t>
            </a:r>
            <a:r>
              <a:rPr dirty="0"/>
              <a:t> </a:t>
            </a:r>
            <a:r>
              <a:rPr dirty="0" err="1"/>
              <a:t>אותות</a:t>
            </a:r>
            <a:r>
              <a:rPr dirty="0"/>
              <a:t> </a:t>
            </a:r>
            <a:r>
              <a:rPr dirty="0" err="1"/>
              <a:t>התצוגה</a:t>
            </a:r>
            <a:r>
              <a:rPr dirty="0"/>
              <a:t>.</a:t>
            </a:r>
          </a:p>
        </p:txBody>
      </p:sp>
      <p:pic>
        <p:nvPicPr>
          <p:cNvPr id="4" name="Picture 3" descr="rtl_direct_vga_path.png"/>
          <p:cNvPicPr>
            <a:picLocks noChangeAspect="1"/>
          </p:cNvPicPr>
          <p:nvPr/>
        </p:nvPicPr>
        <p:blipFill rotWithShape="1">
          <a:blip r:embed="rId2"/>
          <a:srcRect l="-135" t="8704" r="135" b="9466"/>
          <a:stretch/>
        </p:blipFill>
        <p:spPr>
          <a:xfrm>
            <a:off x="223345" y="3501752"/>
            <a:ext cx="7772400" cy="33562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3682" y="3402725"/>
            <a:ext cx="4813738" cy="23753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89132" y="3641834"/>
            <a:ext cx="4211495" cy="3216166"/>
          </a:xfrm>
          <a:prstGeom prst="rect">
            <a:avLst/>
          </a:prstGeom>
          <a:noFill/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924" y="85452"/>
            <a:ext cx="8229600" cy="1143000"/>
          </a:xfrm>
        </p:spPr>
        <p:txBody>
          <a:bodyPr>
            <a:normAutofit fontScale="90000"/>
          </a:bodyPr>
          <a:lstStyle/>
          <a:p>
            <a:pPr algn="ctr" rtl="1"/>
            <a:r>
              <a:rPr dirty="0" err="1"/>
              <a:t>ניהול</a:t>
            </a:r>
            <a:r>
              <a:rPr dirty="0"/>
              <a:t> </a:t>
            </a:r>
            <a:r>
              <a:rPr dirty="0" err="1"/>
              <a:t>שעונים</a:t>
            </a:r>
            <a:r>
              <a:rPr dirty="0"/>
              <a:t> </a:t>
            </a:r>
            <a:r>
              <a:rPr dirty="0" err="1"/>
              <a:t>במערכת</a:t>
            </a:r>
            <a:br>
              <a:rPr lang="he-IL" dirty="0"/>
            </a:br>
            <a:r>
              <a:rPr dirty="0"/>
              <a:t> (Clock Generator)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3587" y="918604"/>
            <a:ext cx="77031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lang="he-IL" dirty="0"/>
              <a:t>• שעון מקור:</a:t>
            </a:r>
            <a:endParaRPr lang="en-US" dirty="0"/>
          </a:p>
          <a:p>
            <a:pPr algn="r" rtl="1">
              <a:defRPr sz="1600"/>
            </a:pPr>
            <a:r>
              <a:rPr lang="he-IL" dirty="0"/>
              <a:t>  כניסת  </a:t>
            </a:r>
            <a:r>
              <a:rPr dirty="0" err="1"/>
              <a:t>clk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 err="1"/>
              <a:t>מקבלת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שעון</a:t>
            </a:r>
            <a:r>
              <a:rPr dirty="0"/>
              <a:t> </a:t>
            </a:r>
            <a:r>
              <a:rPr dirty="0" err="1"/>
              <a:t>הלוח</a:t>
            </a:r>
            <a:r>
              <a:rPr dirty="0"/>
              <a:t> </a:t>
            </a:r>
            <a:r>
              <a:rPr dirty="0" err="1"/>
              <a:t>המקורי</a:t>
            </a:r>
            <a:r>
              <a:rPr dirty="0"/>
              <a:t>(100MHz) </a:t>
            </a:r>
            <a:r>
              <a:rPr lang="he-IL" dirty="0"/>
              <a:t>,</a:t>
            </a:r>
            <a:r>
              <a:rPr dirty="0" err="1"/>
              <a:t>ומזינה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ה (clk_wiz_0).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שעון</a:t>
            </a:r>
            <a:r>
              <a:rPr dirty="0"/>
              <a:t> </a:t>
            </a:r>
            <a:r>
              <a:rPr dirty="0" err="1"/>
              <a:t>תצוגה</a:t>
            </a:r>
            <a:r>
              <a:rPr dirty="0"/>
              <a:t> (</a:t>
            </a:r>
            <a:r>
              <a:rPr dirty="0" err="1"/>
              <a:t>vga_pll</a:t>
            </a:r>
            <a:r>
              <a:rPr dirty="0"/>
              <a:t>)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lang="he-IL" dirty="0"/>
              <a:t> ה</a:t>
            </a:r>
            <a:r>
              <a:rPr lang="en-US" dirty="0"/>
              <a:t>PLL</a:t>
            </a:r>
            <a:r>
              <a:rPr lang="he-IL" dirty="0"/>
              <a:t>מפיק תדר של 25</a:t>
            </a:r>
            <a:r>
              <a:rPr lang="en-US" dirty="0"/>
              <a:t>MHz </a:t>
            </a:r>
            <a:r>
              <a:rPr lang="he-IL" dirty="0"/>
              <a:t>,המזין את בקר ה-</a:t>
            </a:r>
            <a:r>
              <a:rPr lang="en-US" dirty="0"/>
              <a:t> VGA (</a:t>
            </a:r>
            <a:r>
              <a:rPr lang="en-US" dirty="0" err="1"/>
              <a:t>pxl_clk</a:t>
            </a:r>
            <a:r>
              <a:rPr lang="en-US" dirty="0"/>
              <a:t>) </a:t>
            </a:r>
            <a:r>
              <a:rPr lang="he-IL" dirty="0"/>
              <a:t>ואת פורט הקריאה </a:t>
            </a:r>
            <a:r>
              <a:rPr lang="en-US" dirty="0" err="1"/>
              <a:t>clkb</a:t>
            </a:r>
            <a:r>
              <a:rPr lang="en-US" dirty="0"/>
              <a:t> </a:t>
            </a:r>
            <a:r>
              <a:rPr lang="he-IL" dirty="0"/>
              <a:t> ב-</a:t>
            </a:r>
            <a:r>
              <a:rPr lang="en-US" dirty="0"/>
              <a:t>BRAM.</a:t>
            </a:r>
          </a:p>
          <a:p>
            <a:pPr algn="r" rtl="1">
              <a:defRPr sz="1600"/>
            </a:pPr>
            <a:r>
              <a:rPr lang="en-US" dirty="0"/>
              <a:t>)</a:t>
            </a:r>
            <a:r>
              <a:rPr lang="he-IL" dirty="0"/>
              <a:t>כאן הוא נקרא </a:t>
            </a:r>
            <a:r>
              <a:rPr lang="en-US" dirty="0" err="1"/>
              <a:t>vga_pll</a:t>
            </a:r>
            <a:r>
              <a:rPr lang="he-IL" dirty="0"/>
              <a:t> )</a:t>
            </a:r>
            <a:endParaRPr lang="en-US"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שעון</a:t>
            </a:r>
            <a:r>
              <a:rPr dirty="0"/>
              <a:t> </a:t>
            </a:r>
            <a:r>
              <a:rPr dirty="0" err="1"/>
              <a:t>מצלמה</a:t>
            </a:r>
            <a:r>
              <a:rPr dirty="0"/>
              <a:t> (</a:t>
            </a:r>
            <a:r>
              <a:rPr dirty="0" err="1"/>
              <a:t>xclk_pll</a:t>
            </a:r>
            <a:r>
              <a:rPr dirty="0"/>
              <a:t>) 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dirty="0" err="1"/>
              <a:t>הפקת</a:t>
            </a:r>
            <a:r>
              <a:rPr dirty="0"/>
              <a:t> </a:t>
            </a:r>
            <a:r>
              <a:rPr dirty="0" err="1"/>
              <a:t>שעון</a:t>
            </a:r>
            <a:r>
              <a:rPr dirty="0"/>
              <a:t> </a:t>
            </a:r>
            <a:r>
              <a:rPr dirty="0" err="1"/>
              <a:t>ייעודי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24MHz (xclk_ov7670) </a:t>
            </a:r>
            <a:r>
              <a:rPr lang="he-IL" dirty="0"/>
              <a:t> </a:t>
            </a:r>
            <a:r>
              <a:rPr dirty="0" err="1"/>
              <a:t>המנותב</a:t>
            </a:r>
            <a:r>
              <a:rPr dirty="0"/>
              <a:t> </a:t>
            </a:r>
            <a:r>
              <a:rPr dirty="0" err="1"/>
              <a:t>החוצה</a:t>
            </a:r>
            <a:r>
              <a:rPr dirty="0"/>
              <a:t> </a:t>
            </a:r>
            <a:r>
              <a:rPr dirty="0" err="1"/>
              <a:t>לסנכרון</a:t>
            </a:r>
            <a:r>
              <a:rPr dirty="0"/>
              <a:t> </a:t>
            </a:r>
            <a:r>
              <a:rPr dirty="0" err="1"/>
              <a:t>רכיב</a:t>
            </a:r>
            <a:r>
              <a:rPr dirty="0"/>
              <a:t> </a:t>
            </a:r>
            <a:r>
              <a:rPr dirty="0" err="1"/>
              <a:t>המצלמה</a:t>
            </a:r>
            <a:r>
              <a:rPr lang="he-IL" dirty="0"/>
              <a:t> (כאן הוא נקרא </a:t>
            </a:r>
            <a:r>
              <a:rPr lang="en-US" dirty="0" err="1"/>
              <a:t>xclk_pll</a:t>
            </a:r>
            <a:r>
              <a:rPr lang="he-IL" dirty="0"/>
              <a:t> )</a:t>
            </a:r>
          </a:p>
          <a:p>
            <a:pPr marL="285750" indent="-285750" algn="r" rtl="1">
              <a:buFont typeface="Arial" panose="020B0604020202020204" pitchFamily="34" charset="0"/>
              <a:buChar char="•"/>
              <a:defRPr sz="1600"/>
            </a:pPr>
            <a:r>
              <a:rPr lang="he-IL" dirty="0"/>
              <a:t>ה </a:t>
            </a:r>
            <a:r>
              <a:rPr lang="en-US" dirty="0"/>
              <a:t>clock generator  </a:t>
            </a:r>
            <a:r>
              <a:rPr lang="he-IL" dirty="0"/>
              <a:t> יוצר על ידי טכנולוגיית </a:t>
            </a:r>
            <a:r>
              <a:rPr lang="en-US" dirty="0"/>
              <a:t>IP </a:t>
            </a:r>
            <a:r>
              <a:rPr lang="he-IL" dirty="0"/>
              <a:t> של </a:t>
            </a:r>
            <a:r>
              <a:rPr lang="en-US" dirty="0" err="1"/>
              <a:t>vivado</a:t>
            </a:r>
            <a:endParaRPr lang="en-US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0B7EF3D2-EADC-4975-9141-A088762829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16" b="2748"/>
          <a:stretch/>
        </p:blipFill>
        <p:spPr>
          <a:xfrm>
            <a:off x="2722179" y="3484125"/>
            <a:ext cx="4708635" cy="30992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rtl="1"/>
            <a:r>
              <a:rPr dirty="0" err="1"/>
              <a:t>זיכרון</a:t>
            </a:r>
            <a:r>
              <a:rPr dirty="0"/>
              <a:t> </a:t>
            </a:r>
            <a:r>
              <a:rPr dirty="0" err="1"/>
              <a:t>הBRAM</a:t>
            </a:r>
            <a:br>
              <a:rPr lang="he-IL" dirty="0"/>
            </a:br>
            <a:r>
              <a:rPr dirty="0"/>
              <a:t>(Frame Buffer)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" y="1097280"/>
            <a:ext cx="90728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תצורת</a:t>
            </a:r>
            <a:r>
              <a:rPr dirty="0"/>
              <a:t> Dual-Port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lang="he-IL" dirty="0"/>
              <a:t>   </a:t>
            </a:r>
            <a:r>
              <a:rPr dirty="0" err="1"/>
              <a:t>הפרדה</a:t>
            </a:r>
            <a:r>
              <a:rPr dirty="0"/>
              <a:t> </a:t>
            </a:r>
            <a:r>
              <a:rPr dirty="0" err="1"/>
              <a:t>מוחלטת</a:t>
            </a:r>
            <a:r>
              <a:rPr dirty="0"/>
              <a:t> </a:t>
            </a:r>
            <a:r>
              <a:rPr dirty="0" err="1"/>
              <a:t>לחומרת</a:t>
            </a:r>
            <a:r>
              <a:rPr dirty="0"/>
              <a:t> </a:t>
            </a:r>
            <a:r>
              <a:rPr dirty="0" err="1"/>
              <a:t>כתיבה</a:t>
            </a:r>
            <a:r>
              <a:rPr dirty="0"/>
              <a:t> (A) </a:t>
            </a:r>
            <a:r>
              <a:rPr lang="he-IL" dirty="0"/>
              <a:t> </a:t>
            </a:r>
            <a:r>
              <a:rPr dirty="0" err="1"/>
              <a:t>וקריאה</a:t>
            </a:r>
            <a:r>
              <a:rPr dirty="0"/>
              <a:t> (B) </a:t>
            </a:r>
            <a:r>
              <a:rPr lang="he-IL" dirty="0"/>
              <a:t>,</a:t>
            </a:r>
            <a:r>
              <a:rPr dirty="0" err="1"/>
              <a:t>זהו</a:t>
            </a:r>
            <a:r>
              <a:rPr dirty="0"/>
              <a:t> </a:t>
            </a:r>
            <a:r>
              <a:rPr dirty="0" err="1"/>
              <a:t>הפתרון</a:t>
            </a:r>
            <a:r>
              <a:rPr dirty="0"/>
              <a:t> </a:t>
            </a:r>
            <a:r>
              <a:rPr dirty="0" err="1"/>
              <a:t>שלנו</a:t>
            </a:r>
            <a:r>
              <a:rPr dirty="0"/>
              <a:t> ל-</a:t>
            </a:r>
            <a:r>
              <a:rPr dirty="0" err="1"/>
              <a:t>חציית</a:t>
            </a:r>
            <a:r>
              <a:rPr dirty="0"/>
              <a:t> </a:t>
            </a:r>
            <a:r>
              <a:rPr dirty="0" err="1"/>
              <a:t>תחומי</a:t>
            </a:r>
            <a:r>
              <a:rPr dirty="0"/>
              <a:t> </a:t>
            </a:r>
            <a:r>
              <a:rPr dirty="0" err="1"/>
              <a:t>שעון</a:t>
            </a:r>
            <a:r>
              <a:rPr dirty="0"/>
              <a:t>) </a:t>
            </a:r>
            <a:r>
              <a:rPr lang="he-IL" dirty="0" err="1"/>
              <a:t>למנו</a:t>
            </a:r>
            <a:r>
              <a:rPr dirty="0"/>
              <a:t>ע </a:t>
            </a:r>
            <a:r>
              <a:rPr dirty="0" err="1"/>
              <a:t>התנגשויות</a:t>
            </a:r>
            <a:r>
              <a:rPr dirty="0"/>
              <a:t> </a:t>
            </a:r>
            <a:r>
              <a:rPr dirty="0" err="1"/>
              <a:t>נתוני</a:t>
            </a:r>
            <a:r>
              <a:rPr lang="he-IL" dirty="0"/>
              <a:t>ם)</a:t>
            </a:r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שעונים</a:t>
            </a:r>
            <a:r>
              <a:rPr dirty="0"/>
              <a:t> א-</a:t>
            </a:r>
            <a:r>
              <a:rPr dirty="0" err="1"/>
              <a:t>סינכרוניים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 </a:t>
            </a:r>
            <a:r>
              <a:rPr dirty="0" err="1"/>
              <a:t>הכתיבה</a:t>
            </a:r>
            <a:r>
              <a:rPr dirty="0"/>
              <a:t> (</a:t>
            </a:r>
            <a:r>
              <a:rPr dirty="0" err="1"/>
              <a:t>clka</a:t>
            </a:r>
            <a:r>
              <a:rPr dirty="0"/>
              <a:t>) </a:t>
            </a:r>
            <a:r>
              <a:rPr dirty="0" err="1"/>
              <a:t>מתבצעת</a:t>
            </a:r>
            <a:r>
              <a:rPr dirty="0"/>
              <a:t> </a:t>
            </a:r>
            <a:r>
              <a:rPr dirty="0" err="1"/>
              <a:t>בתדר</a:t>
            </a:r>
            <a:r>
              <a:rPr dirty="0"/>
              <a:t> </a:t>
            </a:r>
            <a:r>
              <a:rPr dirty="0" err="1"/>
              <a:t>המערכת</a:t>
            </a:r>
            <a:r>
              <a:rPr dirty="0"/>
              <a:t> (100MHz), </a:t>
            </a:r>
            <a:r>
              <a:rPr lang="he-IL" dirty="0"/>
              <a:t>,</a:t>
            </a:r>
            <a:r>
              <a:rPr dirty="0" err="1"/>
              <a:t>בעוד</a:t>
            </a:r>
            <a:r>
              <a:rPr dirty="0"/>
              <a:t> </a:t>
            </a:r>
            <a:r>
              <a:rPr dirty="0" err="1"/>
              <a:t>הקריאה</a:t>
            </a:r>
            <a:r>
              <a:rPr dirty="0"/>
              <a:t> </a:t>
            </a:r>
            <a:r>
              <a:rPr dirty="0" err="1"/>
              <a:t>למסך</a:t>
            </a:r>
            <a:r>
              <a:rPr dirty="0"/>
              <a:t> (</a:t>
            </a:r>
            <a:r>
              <a:rPr dirty="0" err="1"/>
              <a:t>clkb</a:t>
            </a:r>
            <a:r>
              <a:rPr dirty="0"/>
              <a:t>) </a:t>
            </a:r>
            <a:r>
              <a:rPr dirty="0" err="1"/>
              <a:t>מונעת</a:t>
            </a:r>
            <a:r>
              <a:rPr dirty="0"/>
              <a:t> </a:t>
            </a:r>
            <a:r>
              <a:rPr dirty="0" err="1"/>
              <a:t>בלעדית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ידי</a:t>
            </a:r>
            <a:r>
              <a:rPr dirty="0"/>
              <a:t> </a:t>
            </a:r>
            <a:r>
              <a:rPr dirty="0" err="1"/>
              <a:t>שעון</a:t>
            </a:r>
            <a:r>
              <a:rPr dirty="0"/>
              <a:t> ה-VGA </a:t>
            </a:r>
            <a:r>
              <a:rPr dirty="0" err="1"/>
              <a:t>שלנו</a:t>
            </a:r>
            <a:r>
              <a:rPr dirty="0"/>
              <a:t> (25MHz).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ממדי</a:t>
            </a:r>
            <a:r>
              <a:rPr dirty="0"/>
              <a:t> </a:t>
            </a:r>
            <a:r>
              <a:rPr dirty="0" err="1"/>
              <a:t>הזיכרון</a:t>
            </a:r>
            <a:r>
              <a:rPr dirty="0"/>
              <a:t> (307,200x12) 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הזיכרון</a:t>
            </a:r>
            <a:r>
              <a:rPr dirty="0"/>
              <a:t> </a:t>
            </a:r>
            <a:r>
              <a:rPr dirty="0" err="1"/>
              <a:t>מוקצה</a:t>
            </a:r>
            <a:r>
              <a:rPr dirty="0"/>
              <a:t> </a:t>
            </a:r>
            <a:r>
              <a:rPr dirty="0" err="1"/>
              <a:t>להכיל</a:t>
            </a:r>
            <a:r>
              <a:rPr dirty="0"/>
              <a:t> 307,200 </a:t>
            </a:r>
            <a:r>
              <a:rPr lang="he-IL" dirty="0"/>
              <a:t> </a:t>
            </a:r>
            <a:r>
              <a:rPr dirty="0" err="1"/>
              <a:t>פיקסלים</a:t>
            </a:r>
            <a:r>
              <a:rPr dirty="0"/>
              <a:t> </a:t>
            </a:r>
            <a:r>
              <a:rPr lang="he-IL" dirty="0"/>
              <a:t>,</a:t>
            </a:r>
            <a:r>
              <a:rPr dirty="0" err="1"/>
              <a:t>רזולוציה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640x480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תפוקת</a:t>
            </a:r>
            <a:r>
              <a:rPr dirty="0"/>
              <a:t> </a:t>
            </a:r>
            <a:r>
              <a:rPr dirty="0" err="1"/>
              <a:t>הנתונים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האות</a:t>
            </a:r>
            <a:r>
              <a:rPr dirty="0"/>
              <a:t> </a:t>
            </a:r>
            <a:r>
              <a:rPr dirty="0" err="1"/>
              <a:t>doutb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 err="1"/>
              <a:t>משחרר</a:t>
            </a:r>
            <a:r>
              <a:rPr dirty="0"/>
              <a:t> 12 </a:t>
            </a:r>
            <a:r>
              <a:rPr dirty="0" err="1"/>
              <a:t>ביט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צבע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/>
              <a:t>(RGB) </a:t>
            </a:r>
            <a:r>
              <a:rPr dirty="0" err="1"/>
              <a:t>בכל</a:t>
            </a:r>
            <a:r>
              <a:rPr dirty="0"/>
              <a:t> </a:t>
            </a:r>
            <a:r>
              <a:rPr dirty="0" err="1"/>
              <a:t>מחזור</a:t>
            </a:r>
            <a:r>
              <a:rPr dirty="0"/>
              <a:t> </a:t>
            </a:r>
            <a:r>
              <a:rPr dirty="0" err="1"/>
              <a:t>שעון</a:t>
            </a:r>
            <a:r>
              <a:rPr dirty="0"/>
              <a:t> (25MHz) </a:t>
            </a:r>
            <a:r>
              <a:rPr dirty="0" err="1"/>
              <a:t>ישירות</a:t>
            </a:r>
            <a:r>
              <a:rPr dirty="0"/>
              <a:t> </a:t>
            </a:r>
            <a:r>
              <a:rPr dirty="0" err="1"/>
              <a:t>לבקר</a:t>
            </a:r>
            <a:r>
              <a:rPr dirty="0"/>
              <a:t> ה-VGA.</a:t>
            </a:r>
          </a:p>
        </p:txBody>
      </p:sp>
      <p:pic>
        <p:nvPicPr>
          <p:cNvPr id="4" name="Picture 3" descr="bram_ip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451" y="3735593"/>
            <a:ext cx="5458429" cy="25853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822642"/>
          </a:xfrm>
        </p:spPr>
        <p:txBody>
          <a:bodyPr>
            <a:normAutofit fontScale="90000"/>
          </a:bodyPr>
          <a:lstStyle/>
          <a:p>
            <a:pPr algn="ctr" rtl="1"/>
            <a:r>
              <a:rPr dirty="0" err="1"/>
              <a:t>ממשק</a:t>
            </a:r>
            <a:r>
              <a:rPr dirty="0"/>
              <a:t> </a:t>
            </a:r>
            <a:r>
              <a:rPr dirty="0" err="1"/>
              <a:t>המצלמה</a:t>
            </a:r>
            <a:r>
              <a:rPr lang="he-IL" dirty="0"/>
              <a:t>,</a:t>
            </a:r>
            <a:r>
              <a:rPr dirty="0"/>
              <a:t> </a:t>
            </a:r>
            <a:r>
              <a:rPr dirty="0" err="1"/>
              <a:t>מהעולם</a:t>
            </a:r>
            <a:r>
              <a:rPr dirty="0"/>
              <a:t> </a:t>
            </a:r>
            <a:r>
              <a:rPr dirty="0" err="1"/>
              <a:t>הפיזי</a:t>
            </a:r>
            <a:r>
              <a:rPr dirty="0"/>
              <a:t> </a:t>
            </a:r>
            <a:r>
              <a:rPr dirty="0" err="1"/>
              <a:t>אל</a:t>
            </a:r>
            <a:r>
              <a:rPr dirty="0"/>
              <a:t> </a:t>
            </a:r>
            <a:r>
              <a:rPr dirty="0" err="1"/>
              <a:t>הזיכרון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392906" y="1097280"/>
            <a:ext cx="868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התקשורת בין המצלמה ללוח מחולקת לשני ערוצים מקבילים:</a:t>
            </a:r>
          </a:p>
          <a:p>
            <a:endParaRPr dirty="0"/>
          </a:p>
        </p:txBody>
      </p:sp>
      <p:pic>
        <p:nvPicPr>
          <p:cNvPr id="4" name="Picture 3" descr="camera_capture_flow.p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596" y="3429000"/>
            <a:ext cx="3992824" cy="3136469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8087304A-78FE-4B66-A4CF-6BC507A5CA47}"/>
              </a:ext>
            </a:extLst>
          </p:cNvPr>
          <p:cNvSpPr txBox="1"/>
          <p:nvPr/>
        </p:nvSpPr>
        <p:spPr>
          <a:xfrm>
            <a:off x="0" y="1397675"/>
            <a:ext cx="8916506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effectLst/>
              </a:rPr>
              <a:t>•</a:t>
            </a:r>
            <a:r>
              <a:rPr lang="he-IL" b="1" dirty="0"/>
              <a:t>ערוץ בקרה </a:t>
            </a:r>
            <a:r>
              <a:rPr lang="en-US" b="1" dirty="0"/>
              <a:t>(SCCB)</a:t>
            </a:r>
            <a:r>
              <a:rPr lang="he-IL" b="1" dirty="0"/>
              <a:t> :                                                </a:t>
            </a:r>
            <a:endParaRPr lang="he-IL" dirty="0">
              <a:effectLst/>
            </a:endParaRPr>
          </a:p>
          <a:p>
            <a:pPr algn="r" rtl="1"/>
            <a:r>
              <a:rPr lang="he-IL" dirty="0">
                <a:effectLst/>
              </a:rPr>
              <a:t>ממשק תקשורת דמוי </a:t>
            </a:r>
            <a:r>
              <a:rPr lang="en-US" dirty="0">
                <a:effectLst/>
              </a:rPr>
              <a:t>I2C </a:t>
            </a:r>
            <a:r>
              <a:rPr lang="he-IL" dirty="0">
                <a:effectLst/>
              </a:rPr>
              <a:t> המשמש </a:t>
            </a:r>
            <a:r>
              <a:rPr lang="he-IL" dirty="0" err="1">
                <a:effectLst/>
              </a:rPr>
              <a:t>לקינפוג</a:t>
            </a:r>
            <a:r>
              <a:rPr lang="he-IL" dirty="0">
                <a:effectLst/>
              </a:rPr>
              <a:t> ראשוני של הגדרות המצלמה</a:t>
            </a:r>
          </a:p>
          <a:p>
            <a:pPr algn="r" rtl="1"/>
            <a:r>
              <a:rPr lang="he-IL" dirty="0">
                <a:effectLst/>
              </a:rPr>
              <a:t> (כמו רזולוציה ופורמט תמונה) בתחילת העבודה.</a:t>
            </a:r>
          </a:p>
          <a:p>
            <a:pPr algn="r" rtl="1"/>
            <a:r>
              <a:rPr lang="he-IL" dirty="0">
                <a:effectLst/>
              </a:rPr>
              <a:t>•</a:t>
            </a:r>
            <a:r>
              <a:rPr lang="he-IL" b="1" dirty="0"/>
              <a:t>ערוץ נתונים וסנכרון:</a:t>
            </a:r>
            <a:r>
              <a:rPr lang="he-IL" dirty="0"/>
              <a:t> המצלמה מזרימה את נתוני התמונה ברצף החוצה, ומלווה אותם בשלושה אותות סנכרון פשוטים – </a:t>
            </a:r>
            <a:r>
              <a:rPr lang="en-US" dirty="0"/>
              <a:t>VSYNC (</a:t>
            </a:r>
            <a:r>
              <a:rPr lang="he-IL" dirty="0"/>
              <a:t>תחילת פריים), </a:t>
            </a:r>
            <a:r>
              <a:rPr lang="en-US" dirty="0"/>
              <a:t>HREF (</a:t>
            </a:r>
            <a:r>
              <a:rPr lang="he-IL" dirty="0"/>
              <a:t>תחילת שורה) ו-</a:t>
            </a:r>
            <a:r>
              <a:rPr lang="en-US" dirty="0"/>
              <a:t>PCLK (</a:t>
            </a:r>
            <a:r>
              <a:rPr lang="he-IL" dirty="0"/>
              <a:t>שעון נתונים). אותות אלו מאפשרים ל-</a:t>
            </a:r>
            <a:r>
              <a:rPr lang="en-US" dirty="0"/>
              <a:t>FPGA "</a:t>
            </a:r>
            <a:r>
              <a:rPr lang="he-IL" dirty="0"/>
              <a:t>להאזין" למצלמה, לדעת בדיוק מתי מתחילה תמונה חדשה, ולדחוף את המידע ישירות לזיכרון ה-</a:t>
            </a:r>
            <a:r>
              <a:rPr lang="en-US" dirty="0"/>
              <a:t>BRAM </a:t>
            </a:r>
            <a:r>
              <a:rPr lang="he-IL" dirty="0"/>
              <a:t>בצורה חלקה</a:t>
            </a:r>
            <a:endParaRPr lang="he-IL" dirty="0">
              <a:effectLst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843"/>
            <a:ext cx="9085942" cy="978496"/>
          </a:xfrm>
        </p:spPr>
        <p:txBody>
          <a:bodyPr>
            <a:normAutofit fontScale="90000"/>
          </a:bodyPr>
          <a:lstStyle/>
          <a:p>
            <a:pPr algn="ctr" rtl="1"/>
            <a:r>
              <a:rPr dirty="0" err="1"/>
              <a:t>ממשק</a:t>
            </a:r>
            <a:r>
              <a:rPr dirty="0"/>
              <a:t> </a:t>
            </a:r>
            <a:r>
              <a:rPr dirty="0" err="1"/>
              <a:t>הזיכרון</a:t>
            </a:r>
            <a:r>
              <a:rPr dirty="0"/>
              <a:t> (BRAM)</a:t>
            </a:r>
            <a:r>
              <a:rPr lang="he-IL" dirty="0"/>
              <a:t> וסנכרון נתונים למסך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8058" y="713048"/>
            <a:ext cx="881742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תרגום</a:t>
            </a:r>
            <a:r>
              <a:rPr dirty="0"/>
              <a:t> </a:t>
            </a:r>
            <a:r>
              <a:rPr dirty="0" err="1"/>
              <a:t>קואורדינטות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dirty="0" err="1"/>
              <a:t>הכתובת</a:t>
            </a:r>
            <a:r>
              <a:rPr dirty="0"/>
              <a:t> </a:t>
            </a:r>
            <a:r>
              <a:rPr dirty="0" err="1"/>
              <a:t>לזיכרון</a:t>
            </a:r>
            <a:r>
              <a:rPr dirty="0"/>
              <a:t> </a:t>
            </a:r>
            <a:r>
              <a:rPr dirty="0" err="1"/>
              <a:t>addrb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 err="1"/>
              <a:t>באורך</a:t>
            </a:r>
            <a:r>
              <a:rPr dirty="0"/>
              <a:t> 19 </a:t>
            </a:r>
            <a:r>
              <a:rPr dirty="0" err="1"/>
              <a:t>ביט</a:t>
            </a:r>
            <a:r>
              <a:rPr dirty="0"/>
              <a:t> </a:t>
            </a:r>
            <a:r>
              <a:rPr dirty="0" err="1"/>
              <a:t>מחושבת</a:t>
            </a:r>
            <a:r>
              <a:rPr dirty="0"/>
              <a:t> </a:t>
            </a:r>
            <a:r>
              <a:rPr dirty="0" err="1"/>
              <a:t>מתמטית</a:t>
            </a:r>
            <a:r>
              <a:rPr dirty="0"/>
              <a:t> </a:t>
            </a:r>
            <a:r>
              <a:rPr dirty="0" err="1"/>
              <a:t>לפי</a:t>
            </a:r>
            <a:r>
              <a:rPr dirty="0"/>
              <a:t> </a:t>
            </a:r>
            <a:r>
              <a:rPr dirty="0" err="1"/>
              <a:t>המיקום</a:t>
            </a:r>
            <a:r>
              <a:rPr dirty="0"/>
              <a:t> </a:t>
            </a:r>
            <a:r>
              <a:rPr dirty="0" err="1"/>
              <a:t>באזור</a:t>
            </a:r>
            <a:r>
              <a:rPr dirty="0"/>
              <a:t> </a:t>
            </a:r>
            <a:r>
              <a:rPr dirty="0" err="1"/>
              <a:t>הפעיל</a:t>
            </a:r>
            <a:r>
              <a:rPr dirty="0"/>
              <a:t>: Y * 640 + X.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מנגנון</a:t>
            </a:r>
            <a:r>
              <a:rPr dirty="0"/>
              <a:t> ה-Pipeline </a:t>
            </a:r>
            <a:r>
              <a:rPr lang="he-IL" dirty="0" err="1"/>
              <a:t>דילאיי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</a:t>
            </a:r>
            <a:r>
              <a:rPr dirty="0" err="1"/>
              <a:t>הקריאה</a:t>
            </a:r>
            <a:r>
              <a:rPr dirty="0"/>
              <a:t> </a:t>
            </a:r>
            <a:r>
              <a:rPr dirty="0" err="1"/>
              <a:t>מהזיכרון</a:t>
            </a:r>
            <a:r>
              <a:rPr dirty="0"/>
              <a:t> א-</a:t>
            </a:r>
            <a:r>
              <a:rPr dirty="0" err="1"/>
              <a:t>סינכרונית</a:t>
            </a:r>
            <a:r>
              <a:rPr dirty="0"/>
              <a:t>. </a:t>
            </a:r>
            <a:r>
              <a:rPr dirty="0" err="1"/>
              <a:t>כדי</a:t>
            </a:r>
            <a:r>
              <a:rPr dirty="0"/>
              <a:t> </a:t>
            </a:r>
            <a:r>
              <a:rPr dirty="0" err="1"/>
              <a:t>להבטיח</a:t>
            </a:r>
            <a:r>
              <a:rPr dirty="0"/>
              <a:t> </a:t>
            </a:r>
            <a:r>
              <a:rPr dirty="0" err="1"/>
              <a:t>יציבות</a:t>
            </a:r>
            <a:r>
              <a:rPr dirty="0"/>
              <a:t>, </a:t>
            </a:r>
            <a:r>
              <a:rPr dirty="0" err="1"/>
              <a:t>הקוד</a:t>
            </a:r>
            <a:r>
              <a:rPr dirty="0"/>
              <a:t> </a:t>
            </a:r>
            <a:r>
              <a:rPr dirty="0" err="1"/>
              <a:t>נועל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הנתון</a:t>
            </a:r>
            <a:r>
              <a:rPr dirty="0"/>
              <a:t> </a:t>
            </a:r>
            <a:r>
              <a:rPr dirty="0" err="1"/>
              <a:t>הנכנס</a:t>
            </a:r>
            <a:r>
              <a:rPr dirty="0"/>
              <a:t> (</a:t>
            </a:r>
            <a:r>
              <a:rPr dirty="0" err="1"/>
              <a:t>doutb</a:t>
            </a:r>
            <a:r>
              <a:rPr dirty="0"/>
              <a:t>) </a:t>
            </a:r>
            <a:r>
              <a:rPr lang="he-IL" dirty="0"/>
              <a:t> </a:t>
            </a:r>
            <a:r>
              <a:rPr dirty="0" err="1"/>
              <a:t>לתוך</a:t>
            </a:r>
            <a:r>
              <a:rPr dirty="0"/>
              <a:t> </a:t>
            </a:r>
            <a:r>
              <a:rPr dirty="0" err="1"/>
              <a:t>אוגר</a:t>
            </a:r>
            <a:r>
              <a:rPr dirty="0"/>
              <a:t> </a:t>
            </a:r>
            <a:r>
              <a:rPr dirty="0" err="1"/>
              <a:t>פנימי</a:t>
            </a:r>
            <a:r>
              <a:rPr dirty="0"/>
              <a:t> (</a:t>
            </a:r>
            <a:r>
              <a:rPr dirty="0" err="1"/>
              <a:t>pxl_data_reg</a:t>
            </a:r>
            <a:r>
              <a:rPr dirty="0"/>
              <a:t>) </a:t>
            </a:r>
            <a:r>
              <a:rPr dirty="0" err="1"/>
              <a:t>בעליית</a:t>
            </a:r>
            <a:r>
              <a:rPr dirty="0"/>
              <a:t> </a:t>
            </a:r>
            <a:r>
              <a:rPr dirty="0" err="1"/>
              <a:t>השעון</a:t>
            </a:r>
            <a:r>
              <a:rPr dirty="0"/>
              <a:t> </a:t>
            </a:r>
            <a:r>
              <a:rPr dirty="0" err="1"/>
              <a:t>הבאה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כדי</a:t>
            </a:r>
            <a:r>
              <a:rPr dirty="0"/>
              <a:t> </a:t>
            </a:r>
            <a:r>
              <a:rPr dirty="0" err="1"/>
              <a:t>לפצות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השהיית</a:t>
            </a:r>
            <a:r>
              <a:rPr dirty="0"/>
              <a:t> </a:t>
            </a:r>
            <a:r>
              <a:rPr dirty="0" err="1"/>
              <a:t>הזיכרון</a:t>
            </a:r>
            <a:r>
              <a:rPr dirty="0"/>
              <a:t>, </a:t>
            </a:r>
            <a:r>
              <a:rPr dirty="0" err="1"/>
              <a:t>דגל</a:t>
            </a:r>
            <a:r>
              <a:rPr dirty="0"/>
              <a:t> </a:t>
            </a:r>
            <a:r>
              <a:rPr dirty="0" err="1"/>
              <a:t>אזור</a:t>
            </a:r>
            <a:r>
              <a:rPr dirty="0"/>
              <a:t> </a:t>
            </a:r>
            <a:r>
              <a:rPr dirty="0" err="1"/>
              <a:t>התצוגה</a:t>
            </a:r>
            <a:r>
              <a:rPr dirty="0"/>
              <a:t> (</a:t>
            </a:r>
            <a:r>
              <a:rPr dirty="0" err="1"/>
              <a:t>in_display_area</a:t>
            </a:r>
            <a:r>
              <a:rPr dirty="0"/>
              <a:t>) </a:t>
            </a:r>
            <a:r>
              <a:rPr lang="he-IL" dirty="0"/>
              <a:t> </a:t>
            </a:r>
            <a:r>
              <a:rPr dirty="0" err="1"/>
              <a:t>מושהה</a:t>
            </a:r>
            <a:r>
              <a:rPr dirty="0"/>
              <a:t> </a:t>
            </a:r>
            <a:r>
              <a:rPr dirty="0" err="1"/>
              <a:t>גם</a:t>
            </a:r>
            <a:r>
              <a:rPr dirty="0"/>
              <a:t> </a:t>
            </a:r>
            <a:r>
              <a:rPr dirty="0" err="1"/>
              <a:t>הוא</a:t>
            </a:r>
            <a:r>
              <a:rPr dirty="0"/>
              <a:t> </a:t>
            </a:r>
            <a:r>
              <a:rPr dirty="0" err="1"/>
              <a:t>במחזור</a:t>
            </a:r>
            <a:r>
              <a:rPr dirty="0"/>
              <a:t> </a:t>
            </a:r>
            <a:r>
              <a:rPr dirty="0" err="1"/>
              <a:t>שעון</a:t>
            </a:r>
            <a:r>
              <a:rPr dirty="0"/>
              <a:t> </a:t>
            </a:r>
            <a:r>
              <a:rPr dirty="0" err="1"/>
              <a:t>אחד</a:t>
            </a:r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ניתוב</a:t>
            </a:r>
            <a:r>
              <a:rPr dirty="0"/>
              <a:t> </a:t>
            </a:r>
            <a:r>
              <a:rPr dirty="0" err="1"/>
              <a:t>דיגיטלי</a:t>
            </a:r>
            <a:r>
              <a:rPr dirty="0"/>
              <a:t> (Mux) 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dirty="0" err="1"/>
              <a:t>רק</a:t>
            </a:r>
            <a:r>
              <a:rPr dirty="0"/>
              <a:t> </a:t>
            </a:r>
            <a:r>
              <a:rPr dirty="0" err="1"/>
              <a:t>כאשר</a:t>
            </a:r>
            <a:r>
              <a:rPr dirty="0"/>
              <a:t> </a:t>
            </a:r>
            <a:r>
              <a:rPr dirty="0" err="1"/>
              <a:t>הדגל</a:t>
            </a:r>
            <a:r>
              <a:rPr dirty="0"/>
              <a:t> </a:t>
            </a:r>
            <a:r>
              <a:rPr dirty="0" err="1"/>
              <a:t>המושהה</a:t>
            </a:r>
            <a:r>
              <a:rPr dirty="0"/>
              <a:t> </a:t>
            </a:r>
            <a:r>
              <a:rPr dirty="0" err="1"/>
              <a:t>דולק</a:t>
            </a:r>
            <a:r>
              <a:rPr dirty="0"/>
              <a:t> 12 </a:t>
            </a:r>
            <a:r>
              <a:rPr dirty="0" err="1"/>
              <a:t>הביטים</a:t>
            </a:r>
            <a:r>
              <a:rPr dirty="0"/>
              <a:t> </a:t>
            </a:r>
            <a:r>
              <a:rPr dirty="0" err="1"/>
              <a:t>מפוצלים</a:t>
            </a:r>
            <a:r>
              <a:rPr dirty="0"/>
              <a:t> </a:t>
            </a:r>
            <a:r>
              <a:rPr dirty="0" err="1"/>
              <a:t>ומנותבים</a:t>
            </a:r>
            <a:r>
              <a:rPr dirty="0"/>
              <a:t> </a:t>
            </a:r>
            <a:r>
              <a:rPr dirty="0" err="1"/>
              <a:t>ליציאות</a:t>
            </a:r>
            <a:r>
              <a:rPr dirty="0"/>
              <a:t> VGA_R, VGA_G ו-VGA_B 4 </a:t>
            </a:r>
            <a:r>
              <a:rPr dirty="0" err="1"/>
              <a:t>ביטים</a:t>
            </a:r>
            <a:r>
              <a:rPr dirty="0"/>
              <a:t> </a:t>
            </a:r>
            <a:r>
              <a:rPr dirty="0" err="1"/>
              <a:t>לצבע</a:t>
            </a:r>
            <a:endParaRPr dirty="0"/>
          </a:p>
        </p:txBody>
      </p:sp>
      <p:pic>
        <p:nvPicPr>
          <p:cNvPr id="4" name="Picture 3" descr="vga_address_logic_code.png"/>
          <p:cNvPicPr>
            <a:picLocks noChangeAspect="1"/>
          </p:cNvPicPr>
          <p:nvPr/>
        </p:nvPicPr>
        <p:blipFill rotWithShape="1">
          <a:blip r:embed="rId2"/>
          <a:srcRect l="5217" t="10044" r="4783" b="5896"/>
          <a:stretch/>
        </p:blipFill>
        <p:spPr>
          <a:xfrm>
            <a:off x="1074056" y="3298371"/>
            <a:ext cx="6473372" cy="32820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rtl="1"/>
            <a:r>
              <a:rPr dirty="0" err="1"/>
              <a:t>אימות</a:t>
            </a:r>
            <a:r>
              <a:rPr dirty="0"/>
              <a:t> </a:t>
            </a:r>
            <a:r>
              <a:rPr dirty="0" err="1"/>
              <a:t>מסלול</a:t>
            </a:r>
            <a:r>
              <a:rPr dirty="0"/>
              <a:t> </a:t>
            </a:r>
            <a:r>
              <a:rPr dirty="0" err="1"/>
              <a:t>הנתונים</a:t>
            </a:r>
            <a:br>
              <a:rPr lang="he-IL" dirty="0"/>
            </a:br>
            <a:r>
              <a:rPr dirty="0"/>
              <a:t> VGA Controller ↔ BRAM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72979" y="1097280"/>
            <a:ext cx="924025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מטרת</a:t>
            </a:r>
            <a:r>
              <a:rPr dirty="0"/>
              <a:t> </a:t>
            </a:r>
            <a:r>
              <a:rPr dirty="0" err="1"/>
              <a:t>הסימולציה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 </a:t>
            </a:r>
            <a:r>
              <a:rPr dirty="0" err="1"/>
              <a:t>הוכחת</a:t>
            </a:r>
            <a:r>
              <a:rPr dirty="0"/>
              <a:t> </a:t>
            </a:r>
            <a:r>
              <a:rPr dirty="0" err="1"/>
              <a:t>לחיצת</a:t>
            </a:r>
            <a:r>
              <a:rPr dirty="0"/>
              <a:t> </a:t>
            </a:r>
            <a:r>
              <a:rPr dirty="0" err="1"/>
              <a:t>היד</a:t>
            </a:r>
            <a:r>
              <a:rPr dirty="0"/>
              <a:t> </a:t>
            </a:r>
            <a:r>
              <a:rPr dirty="0" err="1"/>
              <a:t>שבין</a:t>
            </a:r>
            <a:r>
              <a:rPr dirty="0"/>
              <a:t> </a:t>
            </a:r>
            <a:r>
              <a:rPr dirty="0" err="1"/>
              <a:t>בקשת</a:t>
            </a:r>
            <a:r>
              <a:rPr dirty="0"/>
              <a:t> </a:t>
            </a:r>
            <a:r>
              <a:rPr dirty="0" err="1"/>
              <a:t>הכתובת</a:t>
            </a:r>
            <a:r>
              <a:rPr dirty="0"/>
              <a:t> (</a:t>
            </a:r>
            <a:r>
              <a:rPr dirty="0" err="1"/>
              <a:t>addrb</a:t>
            </a:r>
            <a:r>
              <a:rPr dirty="0"/>
              <a:t>) </a:t>
            </a:r>
            <a:r>
              <a:rPr lang="he-IL" dirty="0"/>
              <a:t> </a:t>
            </a:r>
            <a:r>
              <a:rPr dirty="0" err="1"/>
              <a:t>לקבלת</a:t>
            </a:r>
            <a:r>
              <a:rPr dirty="0"/>
              <a:t> </a:t>
            </a:r>
            <a:r>
              <a:rPr dirty="0" err="1"/>
              <a:t>נתוני</a:t>
            </a:r>
            <a:r>
              <a:rPr dirty="0"/>
              <a:t> </a:t>
            </a:r>
            <a:r>
              <a:rPr dirty="0" err="1"/>
              <a:t>הפיקסל</a:t>
            </a:r>
            <a:r>
              <a:rPr dirty="0"/>
              <a:t> (</a:t>
            </a:r>
            <a:r>
              <a:rPr dirty="0" err="1"/>
              <a:t>doutb</a:t>
            </a:r>
            <a:r>
              <a:rPr dirty="0"/>
              <a:t>).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דגימה</a:t>
            </a:r>
            <a:r>
              <a:rPr dirty="0"/>
              <a:t> </a:t>
            </a:r>
            <a:r>
              <a:rPr dirty="0" err="1"/>
              <a:t>בזמן</a:t>
            </a:r>
            <a:r>
              <a:rPr dirty="0"/>
              <a:t> </a:t>
            </a:r>
            <a:r>
              <a:rPr dirty="0" err="1"/>
              <a:t>אמת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 </a:t>
            </a:r>
            <a:r>
              <a:rPr dirty="0" err="1"/>
              <a:t>ניתן</a:t>
            </a:r>
            <a:r>
              <a:rPr dirty="0"/>
              <a:t> </a:t>
            </a:r>
            <a:r>
              <a:rPr dirty="0" err="1"/>
              <a:t>לראות</a:t>
            </a:r>
            <a:r>
              <a:rPr dirty="0"/>
              <a:t> </a:t>
            </a:r>
            <a:r>
              <a:rPr dirty="0" err="1"/>
              <a:t>בבירור</a:t>
            </a:r>
            <a:r>
              <a:rPr dirty="0"/>
              <a:t> </a:t>
            </a:r>
            <a:r>
              <a:rPr dirty="0" err="1"/>
              <a:t>כיצד</a:t>
            </a:r>
            <a:r>
              <a:rPr dirty="0"/>
              <a:t> </a:t>
            </a:r>
            <a:r>
              <a:rPr dirty="0" err="1"/>
              <a:t>הכתובת</a:t>
            </a:r>
            <a:r>
              <a:rPr dirty="0"/>
              <a:t> </a:t>
            </a:r>
            <a:r>
              <a:rPr dirty="0" err="1"/>
              <a:t>עולה</a:t>
            </a:r>
            <a:r>
              <a:rPr dirty="0"/>
              <a:t>, </a:t>
            </a:r>
            <a:r>
              <a:rPr dirty="0" err="1"/>
              <a:t>המידע</a:t>
            </a:r>
            <a:r>
              <a:rPr dirty="0"/>
              <a:t> </a:t>
            </a:r>
            <a:r>
              <a:rPr dirty="0" err="1"/>
              <a:t>מופיע</a:t>
            </a:r>
            <a:r>
              <a:rPr dirty="0"/>
              <a:t> </a:t>
            </a:r>
            <a:r>
              <a:rPr dirty="0" err="1"/>
              <a:t>מיידית</a:t>
            </a:r>
            <a:r>
              <a:rPr dirty="0"/>
              <a:t> ב-</a:t>
            </a:r>
            <a:r>
              <a:rPr dirty="0" err="1"/>
              <a:t>doutb</a:t>
            </a:r>
            <a:r>
              <a:rPr dirty="0"/>
              <a:t> </a:t>
            </a:r>
            <a:r>
              <a:rPr dirty="0" err="1"/>
              <a:t>קריאה</a:t>
            </a:r>
            <a:r>
              <a:rPr dirty="0"/>
              <a:t> א-</a:t>
            </a:r>
            <a:r>
              <a:rPr dirty="0" err="1"/>
              <a:t>סינכרונית</a:t>
            </a:r>
            <a:r>
              <a:rPr lang="he-IL" dirty="0"/>
              <a:t>,</a:t>
            </a:r>
            <a:r>
              <a:rPr dirty="0" err="1"/>
              <a:t>וננעל</a:t>
            </a:r>
            <a:r>
              <a:rPr dirty="0"/>
              <a:t> </a:t>
            </a:r>
            <a:r>
              <a:rPr dirty="0" err="1"/>
              <a:t>באוגר</a:t>
            </a:r>
            <a:r>
              <a:rPr dirty="0"/>
              <a:t> </a:t>
            </a:r>
            <a:r>
              <a:rPr dirty="0" err="1"/>
              <a:t>pxl_data_reg</a:t>
            </a:r>
            <a:r>
              <a:rPr dirty="0"/>
              <a:t> </a:t>
            </a:r>
            <a:r>
              <a:rPr dirty="0" err="1"/>
              <a:t>בעליית</a:t>
            </a:r>
            <a:r>
              <a:rPr dirty="0"/>
              <a:t> </a:t>
            </a:r>
            <a:r>
              <a:rPr dirty="0" err="1"/>
              <a:t>השעון</a:t>
            </a:r>
            <a:r>
              <a:rPr dirty="0"/>
              <a:t> </a:t>
            </a:r>
            <a:r>
              <a:rPr dirty="0" err="1"/>
              <a:t>הבאה</a:t>
            </a:r>
            <a:r>
              <a:rPr dirty="0"/>
              <a:t>.</a:t>
            </a:r>
          </a:p>
          <a:p>
            <a:pPr algn="r" rtl="1">
              <a:defRPr sz="1600"/>
            </a:pPr>
            <a:endParaRPr dirty="0"/>
          </a:p>
        </p:txBody>
      </p:sp>
      <p:pic>
        <p:nvPicPr>
          <p:cNvPr id="4" name="Picture 3" descr="modelsim_data_path_flow.png"/>
          <p:cNvPicPr>
            <a:picLocks noChangeAspect="1"/>
          </p:cNvPicPr>
          <p:nvPr/>
        </p:nvPicPr>
        <p:blipFill rotWithShape="1">
          <a:blip r:embed="rId2"/>
          <a:srcRect t="20716" b="5381"/>
          <a:stretch/>
        </p:blipFill>
        <p:spPr>
          <a:xfrm>
            <a:off x="-126733" y="2679778"/>
            <a:ext cx="9240253" cy="43103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41973"/>
            <a:ext cx="8229600" cy="1143000"/>
          </a:xfrm>
        </p:spPr>
        <p:txBody>
          <a:bodyPr/>
          <a:lstStyle/>
          <a:p>
            <a:pPr algn="ctr" rtl="1"/>
            <a:r>
              <a:rPr dirty="0" err="1"/>
              <a:t>אימות</a:t>
            </a:r>
            <a:r>
              <a:rPr dirty="0"/>
              <a:t> </a:t>
            </a:r>
            <a:r>
              <a:rPr dirty="0" err="1"/>
              <a:t>התקן</a:t>
            </a:r>
            <a:r>
              <a:rPr dirty="0"/>
              <a:t>: </a:t>
            </a:r>
            <a:r>
              <a:rPr dirty="0" err="1"/>
              <a:t>מחזור</a:t>
            </a:r>
            <a:r>
              <a:rPr dirty="0"/>
              <a:t> </a:t>
            </a:r>
            <a:r>
              <a:rPr dirty="0" err="1"/>
              <a:t>שורה</a:t>
            </a:r>
            <a:r>
              <a:rPr dirty="0"/>
              <a:t> </a:t>
            </a:r>
            <a:r>
              <a:rPr dirty="0" err="1"/>
              <a:t>שלם</a:t>
            </a:r>
            <a:r>
              <a:rPr dirty="0"/>
              <a:t> (Ts)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" y="429527"/>
            <a:ext cx="9144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 err="1"/>
              <a:t>לאחר</a:t>
            </a:r>
            <a:r>
              <a:rPr dirty="0"/>
              <a:t> </a:t>
            </a:r>
            <a:r>
              <a:rPr dirty="0" err="1"/>
              <a:t>שה</a:t>
            </a:r>
            <a:r>
              <a:rPr lang="he-IL" dirty="0"/>
              <a:t>ראנו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אמינות</a:t>
            </a:r>
            <a:r>
              <a:rPr dirty="0"/>
              <a:t> </a:t>
            </a:r>
            <a:r>
              <a:rPr dirty="0" err="1"/>
              <a:t>שליפת</a:t>
            </a:r>
            <a:r>
              <a:rPr dirty="0"/>
              <a:t> </a:t>
            </a:r>
            <a:r>
              <a:rPr dirty="0" err="1"/>
              <a:t>הנתונים</a:t>
            </a:r>
            <a:r>
              <a:rPr dirty="0"/>
              <a:t> </a:t>
            </a:r>
            <a:r>
              <a:rPr dirty="0" err="1"/>
              <a:t>מהזיכרון</a:t>
            </a:r>
            <a:r>
              <a:rPr dirty="0"/>
              <a:t>, </a:t>
            </a:r>
            <a:r>
              <a:rPr dirty="0" err="1"/>
              <a:t>כעת</a:t>
            </a:r>
            <a:r>
              <a:rPr dirty="0"/>
              <a:t> </a:t>
            </a:r>
            <a:r>
              <a:rPr dirty="0" err="1"/>
              <a:t>נוכיח</a:t>
            </a:r>
            <a:r>
              <a:rPr dirty="0"/>
              <a:t> </a:t>
            </a:r>
            <a:r>
              <a:rPr dirty="0" err="1"/>
              <a:t>שהחומרה</a:t>
            </a:r>
            <a:r>
              <a:rPr dirty="0"/>
              <a:t> </a:t>
            </a:r>
            <a:r>
              <a:rPr dirty="0" err="1"/>
              <a:t>מייצרת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התזמונים</a:t>
            </a:r>
            <a:r>
              <a:rPr dirty="0"/>
              <a:t> </a:t>
            </a:r>
            <a:r>
              <a:rPr dirty="0" err="1"/>
              <a:t>הפיזיים</a:t>
            </a:r>
            <a:r>
              <a:rPr dirty="0"/>
              <a:t> </a:t>
            </a:r>
            <a:r>
              <a:rPr dirty="0" err="1"/>
              <a:t>הנדרשים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 err="1"/>
              <a:t>בתקן</a:t>
            </a:r>
            <a:r>
              <a:rPr dirty="0"/>
              <a:t> ה-VGA</a:t>
            </a:r>
            <a:r>
              <a:rPr lang="he-IL" dirty="0"/>
              <a:t>.</a:t>
            </a:r>
            <a:endParaRPr lang="en-US" dirty="0"/>
          </a:p>
          <a:p>
            <a:pPr algn="r" rtl="1">
              <a:defRPr sz="1600"/>
            </a:pPr>
            <a:r>
              <a:rPr lang="he-IL" dirty="0"/>
              <a:t>•  נעבוד עם הדגימות לפי </a:t>
            </a:r>
            <a:r>
              <a:rPr lang="he-IL" dirty="0" err="1"/>
              <a:t>הסדר,מהגדול</a:t>
            </a:r>
            <a:r>
              <a:rPr lang="he-IL" dirty="0"/>
              <a:t> לקטן:</a:t>
            </a:r>
          </a:p>
          <a:p>
            <a:pPr algn="r" rtl="1">
              <a:defRPr sz="1600"/>
            </a:pPr>
            <a:r>
              <a:rPr lang="he-IL" dirty="0"/>
              <a:t> </a:t>
            </a:r>
            <a:r>
              <a:rPr dirty="0" err="1"/>
              <a:t>נתחיל</a:t>
            </a:r>
            <a:r>
              <a:rPr dirty="0"/>
              <a:t> </a:t>
            </a:r>
            <a:r>
              <a:rPr dirty="0" err="1"/>
              <a:t>ממבט-על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שורת</a:t>
            </a:r>
            <a:r>
              <a:rPr dirty="0"/>
              <a:t> </a:t>
            </a:r>
            <a:r>
              <a:rPr dirty="0" err="1"/>
              <a:t>מסך</a:t>
            </a:r>
            <a:r>
              <a:rPr dirty="0"/>
              <a:t> </a:t>
            </a:r>
            <a:r>
              <a:rPr dirty="0" err="1"/>
              <a:t>שלמה</a:t>
            </a:r>
            <a:r>
              <a:rPr dirty="0"/>
              <a:t>, </a:t>
            </a:r>
            <a:r>
              <a:rPr dirty="0" err="1"/>
              <a:t>ונצלול</a:t>
            </a:r>
            <a:r>
              <a:rPr dirty="0"/>
              <a:t> </a:t>
            </a:r>
            <a:r>
              <a:rPr dirty="0" err="1"/>
              <a:t>בהדרגה</a:t>
            </a:r>
            <a:r>
              <a:rPr dirty="0"/>
              <a:t> </a:t>
            </a:r>
            <a:r>
              <a:rPr dirty="0" err="1"/>
              <a:t>לניתוח</a:t>
            </a:r>
            <a:r>
              <a:rPr dirty="0"/>
              <a:t> </a:t>
            </a:r>
            <a:r>
              <a:rPr dirty="0" err="1"/>
              <a:t>האזורים</a:t>
            </a:r>
            <a:r>
              <a:rPr dirty="0"/>
              <a:t> </a:t>
            </a:r>
            <a:r>
              <a:rPr dirty="0" err="1"/>
              <a:t>הפעילים</a:t>
            </a:r>
            <a:r>
              <a:rPr dirty="0"/>
              <a:t>, </a:t>
            </a:r>
            <a:r>
              <a:rPr dirty="0" err="1"/>
              <a:t>זמני</a:t>
            </a:r>
            <a:r>
              <a:rPr dirty="0"/>
              <a:t> </a:t>
            </a:r>
            <a:r>
              <a:rPr dirty="0" err="1"/>
              <a:t>ההמתנה</a:t>
            </a:r>
            <a:r>
              <a:rPr dirty="0"/>
              <a:t> (Porches) </a:t>
            </a:r>
            <a:r>
              <a:rPr dirty="0" err="1"/>
              <a:t>ודופק</a:t>
            </a:r>
            <a:r>
              <a:rPr dirty="0"/>
              <a:t> </a:t>
            </a:r>
            <a:r>
              <a:rPr dirty="0" err="1"/>
              <a:t>הסנכרון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הוכחת</a:t>
            </a:r>
            <a:r>
              <a:rPr dirty="0"/>
              <a:t> </a:t>
            </a:r>
            <a:r>
              <a:rPr dirty="0" err="1"/>
              <a:t>מחזור</a:t>
            </a:r>
            <a:r>
              <a:rPr dirty="0"/>
              <a:t> </a:t>
            </a:r>
            <a:r>
              <a:rPr dirty="0" err="1"/>
              <a:t>השורה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dirty="0" err="1"/>
              <a:t>התקן</a:t>
            </a:r>
            <a:r>
              <a:rPr dirty="0"/>
              <a:t> </a:t>
            </a:r>
            <a:r>
              <a:rPr dirty="0" err="1"/>
              <a:t>דורש</a:t>
            </a:r>
            <a:r>
              <a:rPr dirty="0"/>
              <a:t> 800 </a:t>
            </a:r>
            <a:r>
              <a:rPr lang="he-IL" dirty="0"/>
              <a:t> </a:t>
            </a:r>
            <a:r>
              <a:rPr dirty="0" err="1"/>
              <a:t>מחזורי</a:t>
            </a:r>
            <a:r>
              <a:rPr dirty="0"/>
              <a:t> </a:t>
            </a:r>
            <a:r>
              <a:rPr dirty="0" err="1"/>
              <a:t>שעון</a:t>
            </a:r>
            <a:r>
              <a:rPr lang="he-IL" dirty="0"/>
              <a:t> </a:t>
            </a:r>
            <a:r>
              <a:rPr dirty="0"/>
              <a:t> </a:t>
            </a:r>
            <a:r>
              <a:rPr dirty="0" err="1"/>
              <a:t>מונה</a:t>
            </a:r>
            <a:r>
              <a:rPr dirty="0"/>
              <a:t> ה-</a:t>
            </a:r>
            <a:r>
              <a:rPr dirty="0" err="1"/>
              <a:t>hsync_reg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/>
              <a:t>סופר0-799 </a:t>
            </a:r>
            <a:r>
              <a:rPr lang="he-IL" dirty="0"/>
              <a:t> </a:t>
            </a:r>
            <a:r>
              <a:rPr dirty="0" err="1"/>
              <a:t>במדויק</a:t>
            </a:r>
            <a:r>
              <a:rPr dirty="0"/>
              <a:t>, </a:t>
            </a:r>
            <a:r>
              <a:rPr dirty="0" err="1"/>
              <a:t>ומדידת</a:t>
            </a:r>
            <a:r>
              <a:rPr dirty="0"/>
              <a:t> ה</a:t>
            </a:r>
            <a:r>
              <a:rPr lang="he-IL" dirty="0" err="1"/>
              <a:t>קרסרים</a:t>
            </a:r>
            <a:r>
              <a:rPr dirty="0"/>
              <a:t> </a:t>
            </a:r>
            <a:r>
              <a:rPr lang="he-IL" dirty="0"/>
              <a:t>מראה הפרש </a:t>
            </a:r>
            <a:r>
              <a:rPr dirty="0" err="1"/>
              <a:t>של</a:t>
            </a:r>
            <a:r>
              <a:rPr dirty="0"/>
              <a:t> 32us.</a:t>
            </a:r>
          </a:p>
        </p:txBody>
      </p:sp>
      <p:pic>
        <p:nvPicPr>
          <p:cNvPr id="4" name="Picture 3" descr="modelsim_full_line_ts.png"/>
          <p:cNvPicPr>
            <a:picLocks noChangeAspect="1"/>
          </p:cNvPicPr>
          <p:nvPr/>
        </p:nvPicPr>
        <p:blipFill rotWithShape="1">
          <a:blip r:embed="rId2"/>
          <a:srcRect l="1656" t="22021"/>
          <a:stretch/>
        </p:blipFill>
        <p:spPr>
          <a:xfrm>
            <a:off x="0" y="2641600"/>
            <a:ext cx="9143999" cy="42163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22642"/>
          </a:xfrm>
        </p:spPr>
        <p:txBody>
          <a:bodyPr/>
          <a:lstStyle/>
          <a:p>
            <a:pPr algn="ctr" rtl="1"/>
            <a:r>
              <a:rPr dirty="0" err="1"/>
              <a:t>האזור</a:t>
            </a:r>
            <a:r>
              <a:rPr dirty="0"/>
              <a:t> </a:t>
            </a:r>
            <a:r>
              <a:rPr dirty="0" err="1"/>
              <a:t>הפעיל</a:t>
            </a:r>
            <a:r>
              <a:rPr dirty="0"/>
              <a:t> (</a:t>
            </a:r>
            <a:r>
              <a:rPr dirty="0" err="1"/>
              <a:t>Tdisp</a:t>
            </a:r>
            <a:r>
              <a:rPr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7928"/>
            <a:ext cx="86156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תזמון</a:t>
            </a:r>
            <a:r>
              <a:rPr dirty="0"/>
              <a:t> </a:t>
            </a:r>
            <a:r>
              <a:rPr dirty="0" err="1"/>
              <a:t>הנתונים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מתוך</a:t>
            </a:r>
            <a:r>
              <a:rPr dirty="0"/>
              <a:t> </a:t>
            </a:r>
            <a:r>
              <a:rPr dirty="0" err="1"/>
              <a:t>כלל</a:t>
            </a:r>
            <a:r>
              <a:rPr dirty="0"/>
              <a:t> </a:t>
            </a:r>
            <a:r>
              <a:rPr dirty="0" err="1"/>
              <a:t>מחזור</a:t>
            </a:r>
            <a:r>
              <a:rPr dirty="0"/>
              <a:t> </a:t>
            </a:r>
            <a:r>
              <a:rPr dirty="0" err="1"/>
              <a:t>השורה</a:t>
            </a:r>
            <a:r>
              <a:rPr dirty="0"/>
              <a:t>, </a:t>
            </a:r>
            <a:r>
              <a:rPr dirty="0" err="1"/>
              <a:t>מוקצים</a:t>
            </a:r>
            <a:r>
              <a:rPr dirty="0"/>
              <a:t> </a:t>
            </a:r>
            <a:r>
              <a:rPr dirty="0" err="1"/>
              <a:t>בדיוק</a:t>
            </a:r>
            <a:r>
              <a:rPr dirty="0"/>
              <a:t> 640 </a:t>
            </a:r>
            <a:r>
              <a:rPr dirty="0" err="1"/>
              <a:t>מחזורי</a:t>
            </a:r>
            <a:r>
              <a:rPr dirty="0"/>
              <a:t> </a:t>
            </a:r>
            <a:r>
              <a:rPr dirty="0" err="1"/>
              <a:t>שעון</a:t>
            </a:r>
            <a:r>
              <a:rPr dirty="0"/>
              <a:t> </a:t>
            </a:r>
            <a:r>
              <a:rPr dirty="0" err="1"/>
              <a:t>לציור</a:t>
            </a:r>
            <a:r>
              <a:rPr dirty="0"/>
              <a:t> </a:t>
            </a:r>
            <a:r>
              <a:rPr dirty="0" err="1"/>
              <a:t>הפיקסלים</a:t>
            </a:r>
            <a:r>
              <a:rPr dirty="0"/>
              <a:t> (25.6us).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דגל</a:t>
            </a:r>
            <a:r>
              <a:rPr dirty="0"/>
              <a:t> </a:t>
            </a:r>
            <a:r>
              <a:rPr dirty="0" err="1"/>
              <a:t>הבקרה</a:t>
            </a:r>
            <a:r>
              <a:rPr dirty="0"/>
              <a:t>: </a:t>
            </a:r>
            <a:r>
              <a:rPr lang="he-IL" dirty="0"/>
              <a:t> </a:t>
            </a:r>
          </a:p>
          <a:p>
            <a:pPr algn="r" rtl="1">
              <a:defRPr sz="1600"/>
            </a:pPr>
            <a:r>
              <a:rPr dirty="0" err="1"/>
              <a:t>האות</a:t>
            </a:r>
            <a:r>
              <a:rPr dirty="0"/>
              <a:t> </a:t>
            </a:r>
            <a:r>
              <a:rPr dirty="0" err="1"/>
              <a:t>in_display_area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 err="1"/>
              <a:t>עולה</a:t>
            </a:r>
            <a:r>
              <a:rPr dirty="0"/>
              <a:t> ל-'1' </a:t>
            </a:r>
            <a:r>
              <a:rPr dirty="0" err="1"/>
              <a:t>ומאפשר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שליפת</a:t>
            </a:r>
            <a:r>
              <a:rPr dirty="0"/>
              <a:t> </a:t>
            </a:r>
            <a:r>
              <a:rPr dirty="0" err="1"/>
              <a:t>הנתונים</a:t>
            </a:r>
            <a:r>
              <a:rPr dirty="0"/>
              <a:t> </a:t>
            </a:r>
            <a:r>
              <a:rPr dirty="0" err="1"/>
              <a:t>רק</a:t>
            </a:r>
            <a:r>
              <a:rPr dirty="0"/>
              <a:t> </a:t>
            </a:r>
            <a:r>
              <a:rPr dirty="0" err="1"/>
              <a:t>בטווח</a:t>
            </a:r>
            <a:r>
              <a:rPr dirty="0"/>
              <a:t> </a:t>
            </a:r>
            <a:r>
              <a:rPr dirty="0" err="1"/>
              <a:t>המורשה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מונה</a:t>
            </a:r>
            <a:r>
              <a:rPr dirty="0"/>
              <a:t> </a:t>
            </a:r>
            <a:r>
              <a:rPr dirty="0" err="1"/>
              <a:t>הפיקסלים</a:t>
            </a:r>
            <a:r>
              <a:rPr dirty="0"/>
              <a:t> </a:t>
            </a:r>
            <a:r>
              <a:rPr dirty="0" err="1"/>
              <a:t>הפעיל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המונה</a:t>
            </a:r>
            <a:r>
              <a:rPr dirty="0"/>
              <a:t> </a:t>
            </a:r>
            <a:r>
              <a:rPr dirty="0" err="1"/>
              <a:t>display_x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 err="1"/>
              <a:t>סופר</a:t>
            </a:r>
            <a:r>
              <a:rPr dirty="0"/>
              <a:t> </a:t>
            </a:r>
            <a:r>
              <a:rPr dirty="0" err="1"/>
              <a:t>במדויק</a:t>
            </a:r>
            <a:r>
              <a:rPr dirty="0"/>
              <a:t> מ-0 </a:t>
            </a:r>
            <a:r>
              <a:rPr dirty="0" err="1"/>
              <a:t>ועד</a:t>
            </a:r>
            <a:r>
              <a:rPr dirty="0"/>
              <a:t> 639. </a:t>
            </a:r>
            <a:r>
              <a:rPr lang="he-IL" dirty="0"/>
              <a:t> </a:t>
            </a:r>
          </a:p>
          <a:p>
            <a:pPr algn="r" rtl="1">
              <a:defRPr sz="1600"/>
            </a:pPr>
            <a:r>
              <a:rPr dirty="0" err="1"/>
              <a:t>לאורך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החלון</a:t>
            </a:r>
            <a:r>
              <a:rPr dirty="0"/>
              <a:t> </a:t>
            </a:r>
            <a:r>
              <a:rPr dirty="0" err="1"/>
              <a:t>הזה</a:t>
            </a:r>
            <a:r>
              <a:rPr dirty="0"/>
              <a:t>, </a:t>
            </a:r>
            <a:r>
              <a:rPr dirty="0" err="1"/>
              <a:t>יציאות</a:t>
            </a:r>
            <a:r>
              <a:rPr dirty="0"/>
              <a:t> ה-RGB </a:t>
            </a:r>
            <a:r>
              <a:rPr dirty="0" err="1"/>
              <a:t>פולטות</a:t>
            </a:r>
            <a:r>
              <a:rPr dirty="0"/>
              <a:t> </a:t>
            </a:r>
            <a:r>
              <a:rPr dirty="0" err="1"/>
              <a:t>נתונים</a:t>
            </a:r>
            <a:r>
              <a:rPr dirty="0"/>
              <a:t> </a:t>
            </a:r>
            <a:r>
              <a:rPr dirty="0" err="1"/>
              <a:t>אקטיביים</a:t>
            </a:r>
            <a:r>
              <a:rPr dirty="0"/>
              <a:t> </a:t>
            </a:r>
            <a:r>
              <a:rPr dirty="0" err="1"/>
              <a:t>למסך</a:t>
            </a:r>
            <a:r>
              <a:rPr dirty="0"/>
              <a:t>.</a:t>
            </a:r>
          </a:p>
        </p:txBody>
      </p:sp>
      <p:pic>
        <p:nvPicPr>
          <p:cNvPr id="4" name="Picture 3" descr="modelsim_active_display_tdisp.png"/>
          <p:cNvPicPr>
            <a:picLocks noChangeAspect="1"/>
          </p:cNvPicPr>
          <p:nvPr/>
        </p:nvPicPr>
        <p:blipFill rotWithShape="1">
          <a:blip r:embed="rId2"/>
          <a:srcRect l="1225" t="21251"/>
          <a:stretch/>
        </p:blipFill>
        <p:spPr>
          <a:xfrm>
            <a:off x="0" y="2594009"/>
            <a:ext cx="9144000" cy="454116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984" y="-194594"/>
            <a:ext cx="8229600" cy="1143000"/>
          </a:xfrm>
        </p:spPr>
        <p:txBody>
          <a:bodyPr/>
          <a:lstStyle/>
          <a:p>
            <a:pPr algn="ctr" rtl="1"/>
            <a:r>
              <a:rPr lang="en-US" dirty="0"/>
              <a:t>Front </a:t>
            </a:r>
            <a:r>
              <a:rPr dirty="0"/>
              <a:t>Porch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90390" y="274638"/>
            <a:ext cx="92622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משמעות</a:t>
            </a:r>
            <a:r>
              <a:rPr dirty="0"/>
              <a:t> ה</a:t>
            </a:r>
            <a:r>
              <a:rPr lang="he-IL" dirty="0"/>
              <a:t>פרוצס:</a:t>
            </a:r>
          </a:p>
          <a:p>
            <a:pPr algn="r" rtl="1">
              <a:defRPr sz="1600"/>
            </a:pPr>
            <a:r>
              <a:rPr dirty="0"/>
              <a:t> </a:t>
            </a:r>
            <a:r>
              <a:rPr lang="he-IL" dirty="0"/>
              <a:t>  </a:t>
            </a:r>
            <a:r>
              <a:rPr dirty="0"/>
              <a:t>ה-Front Porch </a:t>
            </a:r>
            <a:r>
              <a:rPr dirty="0" err="1"/>
              <a:t>וה</a:t>
            </a:r>
            <a:r>
              <a:rPr dirty="0"/>
              <a:t>-Back Porch </a:t>
            </a:r>
            <a:r>
              <a:rPr dirty="0" err="1"/>
              <a:t>נועדו</a:t>
            </a:r>
            <a:r>
              <a:rPr dirty="0"/>
              <a:t> </a:t>
            </a:r>
            <a:r>
              <a:rPr dirty="0" err="1"/>
              <a:t>לייצוב</a:t>
            </a:r>
            <a:r>
              <a:rPr dirty="0"/>
              <a:t> </a:t>
            </a:r>
            <a:r>
              <a:rPr dirty="0" err="1"/>
              <a:t>תנועת</a:t>
            </a:r>
            <a:r>
              <a:rPr dirty="0"/>
              <a:t> </a:t>
            </a:r>
            <a:r>
              <a:rPr dirty="0" err="1"/>
              <a:t>הקרן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אכיפה</a:t>
            </a:r>
            <a:r>
              <a:rPr dirty="0"/>
              <a:t> </a:t>
            </a:r>
            <a:r>
              <a:rPr dirty="0" err="1"/>
              <a:t>לוגית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בסימולציה</a:t>
            </a:r>
            <a:r>
              <a:rPr dirty="0"/>
              <a:t> </a:t>
            </a:r>
            <a:r>
              <a:rPr dirty="0" err="1"/>
              <a:t>ניתן</a:t>
            </a:r>
            <a:r>
              <a:rPr dirty="0"/>
              <a:t> </a:t>
            </a:r>
            <a:r>
              <a:rPr dirty="0" err="1"/>
              <a:t>לראות</a:t>
            </a:r>
            <a:r>
              <a:rPr dirty="0"/>
              <a:t> </a:t>
            </a:r>
            <a:r>
              <a:rPr dirty="0" err="1"/>
              <a:t>כי</a:t>
            </a:r>
            <a:r>
              <a:rPr dirty="0"/>
              <a:t> </a:t>
            </a:r>
            <a:r>
              <a:rPr dirty="0" err="1"/>
              <a:t>ברגע</a:t>
            </a:r>
            <a:r>
              <a:rPr dirty="0"/>
              <a:t> </a:t>
            </a:r>
            <a:r>
              <a:rPr dirty="0" err="1"/>
              <a:t>שהקרן</a:t>
            </a:r>
            <a:r>
              <a:rPr dirty="0"/>
              <a:t> </a:t>
            </a:r>
            <a:r>
              <a:rPr dirty="0" err="1"/>
              <a:t>חורגת</a:t>
            </a:r>
            <a:r>
              <a:rPr dirty="0"/>
              <a:t> </a:t>
            </a:r>
            <a:r>
              <a:rPr dirty="0" err="1"/>
              <a:t>מהאזור</a:t>
            </a:r>
            <a:r>
              <a:rPr dirty="0"/>
              <a:t> </a:t>
            </a:r>
            <a:r>
              <a:rPr dirty="0" err="1"/>
              <a:t>הפעיל</a:t>
            </a:r>
            <a:r>
              <a:rPr dirty="0"/>
              <a:t> </a:t>
            </a:r>
            <a:r>
              <a:rPr dirty="0" err="1"/>
              <a:t>display_x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 err="1"/>
              <a:t>המערכת</a:t>
            </a:r>
            <a:r>
              <a:rPr dirty="0"/>
              <a:t> </a:t>
            </a:r>
            <a:r>
              <a:rPr dirty="0" err="1"/>
              <a:t>מאלצת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ערוצי</a:t>
            </a:r>
            <a:r>
              <a:rPr dirty="0"/>
              <a:t> ה-RGB ל-'0000'.</a:t>
            </a:r>
            <a:r>
              <a:rPr lang="he-IL" dirty="0"/>
              <a:t>,ניתן גם לראות את הזמנים שנמדדו,640 </a:t>
            </a:r>
            <a:r>
              <a:rPr lang="en-US" dirty="0"/>
              <a:t>ns</a:t>
            </a:r>
            <a:r>
              <a:rPr lang="he-IL" dirty="0"/>
              <a:t> ו16 </a:t>
            </a:r>
            <a:r>
              <a:rPr lang="he-IL" dirty="0" err="1"/>
              <a:t>קלוקים,כנדרש</a:t>
            </a:r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התוצאה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שחור</a:t>
            </a:r>
            <a:r>
              <a:rPr dirty="0"/>
              <a:t> </a:t>
            </a:r>
            <a:r>
              <a:rPr dirty="0" err="1"/>
              <a:t>מוחלט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המסך</a:t>
            </a:r>
            <a:r>
              <a:rPr dirty="0"/>
              <a:t> </a:t>
            </a:r>
            <a:r>
              <a:rPr dirty="0" err="1"/>
              <a:t>באזורי</a:t>
            </a:r>
            <a:r>
              <a:rPr dirty="0"/>
              <a:t> </a:t>
            </a:r>
            <a:r>
              <a:rPr dirty="0" err="1"/>
              <a:t>המעבר</a:t>
            </a:r>
            <a:r>
              <a:rPr dirty="0"/>
              <a:t>, </a:t>
            </a:r>
            <a:r>
              <a:rPr dirty="0" err="1"/>
              <a:t>מה</a:t>
            </a:r>
            <a:r>
              <a:rPr dirty="0"/>
              <a:t> </a:t>
            </a:r>
            <a:r>
              <a:rPr dirty="0" err="1"/>
              <a:t>שמונע</a:t>
            </a:r>
            <a:r>
              <a:rPr dirty="0"/>
              <a:t> '</a:t>
            </a:r>
            <a:r>
              <a:rPr dirty="0" err="1"/>
              <a:t>מריחות</a:t>
            </a:r>
            <a:r>
              <a:rPr dirty="0"/>
              <a:t>' </a:t>
            </a:r>
            <a:r>
              <a:rPr dirty="0" err="1"/>
              <a:t>צבע</a:t>
            </a:r>
            <a:r>
              <a:rPr dirty="0"/>
              <a:t> </a:t>
            </a:r>
            <a:r>
              <a:rPr dirty="0" err="1"/>
              <a:t>ומאפשר</a:t>
            </a:r>
            <a:r>
              <a:rPr dirty="0"/>
              <a:t> </a:t>
            </a:r>
            <a:r>
              <a:rPr dirty="0" err="1"/>
              <a:t>למסך</a:t>
            </a:r>
            <a:r>
              <a:rPr dirty="0"/>
              <a:t> </a:t>
            </a:r>
            <a:r>
              <a:rPr dirty="0" err="1"/>
              <a:t>להסתנכרן</a:t>
            </a:r>
            <a:r>
              <a:rPr dirty="0"/>
              <a:t> </a:t>
            </a:r>
            <a:r>
              <a:rPr dirty="0" err="1"/>
              <a:t>בצורה</a:t>
            </a:r>
            <a:r>
              <a:rPr dirty="0"/>
              <a:t> </a:t>
            </a:r>
            <a:r>
              <a:rPr dirty="0" err="1"/>
              <a:t>חלקה</a:t>
            </a:r>
            <a:r>
              <a:rPr dirty="0"/>
              <a:t>.</a:t>
            </a:r>
            <a:r>
              <a:rPr lang="he-IL" dirty="0"/>
              <a:t>(רואים את זה מוחשי יותר </a:t>
            </a:r>
            <a:r>
              <a:rPr lang="he-IL" dirty="0" err="1"/>
              <a:t>בבאים,מתברר</a:t>
            </a:r>
            <a:r>
              <a:rPr lang="he-IL" dirty="0"/>
              <a:t> שה</a:t>
            </a:r>
            <a:r>
              <a:rPr lang="en-US" dirty="0"/>
              <a:t>TB</a:t>
            </a:r>
            <a:r>
              <a:rPr lang="he-IL" dirty="0"/>
              <a:t> זרק רוב הזמן שחור אז היה קשה לאתר זמנים פיזית של צבע)</a:t>
            </a:r>
            <a:endParaRPr dirty="0"/>
          </a:p>
        </p:txBody>
      </p:sp>
      <p:pic>
        <p:nvPicPr>
          <p:cNvPr id="4" name="Picture 3" descr="modelsim_porches_blanking.png"/>
          <p:cNvPicPr>
            <a:picLocks noChangeAspect="1"/>
          </p:cNvPicPr>
          <p:nvPr/>
        </p:nvPicPr>
        <p:blipFill rotWithShape="1">
          <a:blip r:embed="rId2"/>
          <a:srcRect t="27369" b="2658"/>
          <a:stretch/>
        </p:blipFill>
        <p:spPr>
          <a:xfrm>
            <a:off x="72189" y="3031958"/>
            <a:ext cx="8999621" cy="35514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-45720"/>
            <a:ext cx="8229600" cy="1143000"/>
          </a:xfrm>
        </p:spPr>
        <p:txBody>
          <a:bodyPr>
            <a:normAutofit/>
          </a:bodyPr>
          <a:lstStyle/>
          <a:p>
            <a:pPr algn="ctr" rtl="1"/>
            <a:r>
              <a:rPr dirty="0"/>
              <a:t>Back Porch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22" y="688206"/>
            <a:ext cx="886854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זמן</a:t>
            </a:r>
            <a:r>
              <a:rPr dirty="0"/>
              <a:t> </a:t>
            </a:r>
            <a:r>
              <a:rPr dirty="0" err="1"/>
              <a:t>המתנה</a:t>
            </a:r>
            <a:r>
              <a:rPr dirty="0"/>
              <a:t> (Back Porch):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</a:t>
            </a:r>
            <a:r>
              <a:rPr dirty="0" err="1"/>
              <a:t>לאחר</a:t>
            </a:r>
            <a:r>
              <a:rPr dirty="0"/>
              <a:t> </a:t>
            </a:r>
            <a:r>
              <a:rPr dirty="0" err="1"/>
              <a:t>סיום</a:t>
            </a:r>
            <a:r>
              <a:rPr dirty="0"/>
              <a:t> </a:t>
            </a:r>
            <a:r>
              <a:rPr dirty="0" err="1"/>
              <a:t>דופק</a:t>
            </a:r>
            <a:r>
              <a:rPr dirty="0"/>
              <a:t> </a:t>
            </a:r>
            <a:r>
              <a:rPr dirty="0" err="1"/>
              <a:t>הסנכרון</a:t>
            </a:r>
            <a:r>
              <a:rPr dirty="0"/>
              <a:t>, </a:t>
            </a:r>
            <a:r>
              <a:rPr dirty="0" err="1"/>
              <a:t>המערכת</a:t>
            </a:r>
            <a:r>
              <a:rPr dirty="0"/>
              <a:t> </a:t>
            </a:r>
            <a:r>
              <a:rPr dirty="0" err="1"/>
              <a:t>ממתינה</a:t>
            </a:r>
            <a:r>
              <a:rPr dirty="0"/>
              <a:t> 48 </a:t>
            </a:r>
            <a:r>
              <a:rPr dirty="0" err="1"/>
              <a:t>מחזורי</a:t>
            </a:r>
            <a:r>
              <a:rPr dirty="0"/>
              <a:t> </a:t>
            </a:r>
            <a:r>
              <a:rPr dirty="0" err="1"/>
              <a:t>שעון</a:t>
            </a:r>
            <a:r>
              <a:rPr dirty="0"/>
              <a:t> (1.92us) </a:t>
            </a:r>
            <a:r>
              <a:rPr dirty="0" err="1"/>
              <a:t>לייצוב</a:t>
            </a:r>
            <a:r>
              <a:rPr dirty="0"/>
              <a:t> </a:t>
            </a:r>
            <a:r>
              <a:rPr dirty="0" err="1"/>
              <a:t>הקרן</a:t>
            </a:r>
            <a:r>
              <a:rPr dirty="0"/>
              <a:t> </a:t>
            </a:r>
            <a:r>
              <a:rPr dirty="0" err="1"/>
              <a:t>בתחילת</a:t>
            </a:r>
            <a:r>
              <a:rPr dirty="0"/>
              <a:t> </a:t>
            </a:r>
            <a:r>
              <a:rPr dirty="0" err="1"/>
              <a:t>השורה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המשך</a:t>
            </a:r>
            <a:r>
              <a:rPr dirty="0"/>
              <a:t> </a:t>
            </a:r>
            <a:r>
              <a:rPr dirty="0" err="1"/>
              <a:t>החשכה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</a:t>
            </a:r>
            <a:r>
              <a:rPr dirty="0" err="1"/>
              <a:t>בדומה</a:t>
            </a:r>
            <a:r>
              <a:rPr dirty="0"/>
              <a:t> </a:t>
            </a:r>
            <a:r>
              <a:rPr lang="he-IL" dirty="0"/>
              <a:t>לפרונט פורץ</a:t>
            </a:r>
            <a:r>
              <a:rPr dirty="0"/>
              <a:t>, ה-RGB </a:t>
            </a:r>
            <a:r>
              <a:rPr dirty="0" err="1"/>
              <a:t>מוחזק</a:t>
            </a:r>
            <a:r>
              <a:rPr dirty="0"/>
              <a:t> </a:t>
            </a:r>
            <a:r>
              <a:rPr dirty="0" err="1"/>
              <a:t>במכוון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'0000' </a:t>
            </a:r>
            <a:r>
              <a:rPr dirty="0" err="1"/>
              <a:t>כדי</a:t>
            </a:r>
            <a:r>
              <a:rPr dirty="0"/>
              <a:t> </a:t>
            </a:r>
            <a:r>
              <a:rPr dirty="0" err="1"/>
              <a:t>למנוע</a:t>
            </a:r>
            <a:r>
              <a:rPr dirty="0"/>
              <a:t> </a:t>
            </a:r>
            <a:r>
              <a:rPr dirty="0" err="1"/>
              <a:t>זליגות</a:t>
            </a:r>
            <a:r>
              <a:rPr dirty="0"/>
              <a:t> </a:t>
            </a:r>
            <a:r>
              <a:rPr dirty="0" err="1"/>
              <a:t>צבע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חזרת</a:t>
            </a:r>
            <a:r>
              <a:rPr dirty="0"/>
              <a:t> </a:t>
            </a:r>
            <a:r>
              <a:rPr dirty="0" err="1"/>
              <a:t>הצבעים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dirty="0" err="1"/>
              <a:t>ברגע</a:t>
            </a:r>
            <a:r>
              <a:rPr dirty="0"/>
              <a:t> </a:t>
            </a:r>
            <a:r>
              <a:rPr dirty="0" err="1"/>
              <a:t>שהאות</a:t>
            </a:r>
            <a:r>
              <a:rPr dirty="0"/>
              <a:t> </a:t>
            </a:r>
            <a:r>
              <a:rPr dirty="0" err="1"/>
              <a:t>in_display_area</a:t>
            </a:r>
            <a:r>
              <a:rPr dirty="0"/>
              <a:t> </a:t>
            </a:r>
            <a:r>
              <a:rPr dirty="0" err="1"/>
              <a:t>עולה</a:t>
            </a:r>
            <a:r>
              <a:rPr dirty="0"/>
              <a:t> ל-'1', </a:t>
            </a:r>
            <a:r>
              <a:rPr dirty="0" err="1"/>
              <a:t>רואים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נתוני</a:t>
            </a:r>
            <a:r>
              <a:rPr dirty="0"/>
              <a:t> ה-RGB  </a:t>
            </a:r>
            <a:r>
              <a:rPr dirty="0" err="1"/>
              <a:t>מהזיכרון</a:t>
            </a:r>
            <a:r>
              <a:rPr dirty="0"/>
              <a:t> </a:t>
            </a:r>
            <a:r>
              <a:rPr dirty="0" err="1"/>
              <a:t>מציירים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הפיקסל</a:t>
            </a:r>
            <a:r>
              <a:rPr lang="he-IL" dirty="0"/>
              <a:t>ים</a:t>
            </a:r>
            <a:endParaRPr dirty="0"/>
          </a:p>
        </p:txBody>
      </p:sp>
      <p:pic>
        <p:nvPicPr>
          <p:cNvPr id="4" name="Picture 3" descr="modelsim_back_porch.png"/>
          <p:cNvPicPr>
            <a:picLocks noChangeAspect="1"/>
          </p:cNvPicPr>
          <p:nvPr/>
        </p:nvPicPr>
        <p:blipFill rotWithShape="1">
          <a:blip r:embed="rId2"/>
          <a:srcRect t="24715" b="2352"/>
          <a:stretch/>
        </p:blipFill>
        <p:spPr>
          <a:xfrm>
            <a:off x="10617" y="2773467"/>
            <a:ext cx="9122766" cy="38501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84" y="-225384"/>
            <a:ext cx="8229600" cy="1143000"/>
          </a:xfrm>
        </p:spPr>
        <p:txBody>
          <a:bodyPr>
            <a:normAutofit/>
          </a:bodyPr>
          <a:lstStyle/>
          <a:p>
            <a:pPr algn="ctr" rtl="1"/>
            <a:r>
              <a:rPr dirty="0" err="1"/>
              <a:t>Tpw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34273" y="665665"/>
            <a:ext cx="849543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אות</a:t>
            </a:r>
            <a:r>
              <a:rPr dirty="0"/>
              <a:t> ה-HSYN</a:t>
            </a:r>
            <a:r>
              <a:rPr lang="en-US" dirty="0"/>
              <a:t>C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זהו</a:t>
            </a:r>
            <a:r>
              <a:rPr dirty="0"/>
              <a:t> </a:t>
            </a:r>
            <a:r>
              <a:rPr dirty="0" err="1"/>
              <a:t>הטריגר</a:t>
            </a:r>
            <a:r>
              <a:rPr dirty="0"/>
              <a:t> </a:t>
            </a:r>
            <a:r>
              <a:rPr dirty="0" err="1"/>
              <a:t>הפיזי</a:t>
            </a:r>
            <a:r>
              <a:rPr dirty="0"/>
              <a:t> </a:t>
            </a:r>
            <a:r>
              <a:rPr dirty="0" err="1"/>
              <a:t>המורה</a:t>
            </a:r>
            <a:r>
              <a:rPr dirty="0"/>
              <a:t> </a:t>
            </a:r>
            <a:r>
              <a:rPr dirty="0" err="1"/>
              <a:t>למסך</a:t>
            </a:r>
            <a:r>
              <a:rPr dirty="0"/>
              <a:t> </a:t>
            </a:r>
            <a:r>
              <a:rPr dirty="0" err="1"/>
              <a:t>לבצע</a:t>
            </a:r>
            <a:r>
              <a:rPr dirty="0"/>
              <a:t> Retrace </a:t>
            </a:r>
            <a:r>
              <a:rPr lang="he-IL" dirty="0"/>
              <a:t> </a:t>
            </a:r>
            <a:r>
              <a:rPr dirty="0" err="1"/>
              <a:t>לתחילת</a:t>
            </a:r>
            <a:r>
              <a:rPr dirty="0"/>
              <a:t> </a:t>
            </a:r>
            <a:r>
              <a:rPr dirty="0" err="1"/>
              <a:t>השורה</a:t>
            </a:r>
            <a:r>
              <a:rPr dirty="0"/>
              <a:t> </a:t>
            </a:r>
            <a:r>
              <a:rPr dirty="0" err="1"/>
              <a:t>הבאה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דיוק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מחזור</a:t>
            </a:r>
            <a:r>
              <a:rPr dirty="0"/>
              <a:t> </a:t>
            </a:r>
            <a:r>
              <a:rPr dirty="0" err="1"/>
              <a:t>בודד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 </a:t>
            </a:r>
            <a:r>
              <a:rPr dirty="0" err="1"/>
              <a:t>הצבת</a:t>
            </a:r>
            <a:r>
              <a:rPr dirty="0"/>
              <a:t> </a:t>
            </a:r>
            <a:r>
              <a:rPr lang="he-IL" dirty="0" err="1"/>
              <a:t>קרסרים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הדילוג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האות</a:t>
            </a:r>
            <a:r>
              <a:rPr dirty="0"/>
              <a:t> </a:t>
            </a:r>
            <a:r>
              <a:rPr dirty="0" err="1"/>
              <a:t>הפיזי</a:t>
            </a:r>
            <a:r>
              <a:rPr dirty="0"/>
              <a:t> מ</a:t>
            </a:r>
            <a:r>
              <a:rPr lang="he-IL" dirty="0" err="1"/>
              <a:t>רא</a:t>
            </a:r>
            <a:r>
              <a:rPr dirty="0"/>
              <a:t>ה </a:t>
            </a:r>
            <a:r>
              <a:rPr dirty="0" err="1"/>
              <a:t>רוחב</a:t>
            </a:r>
            <a:r>
              <a:rPr dirty="0"/>
              <a:t> </a:t>
            </a:r>
            <a:r>
              <a:rPr dirty="0" err="1"/>
              <a:t>דופק</a:t>
            </a:r>
            <a:r>
              <a:rPr dirty="0"/>
              <a:t> </a:t>
            </a:r>
            <a:r>
              <a:rPr dirty="0" err="1"/>
              <a:t>מדויק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3.84us, </a:t>
            </a:r>
            <a:r>
              <a:rPr lang="he-IL" dirty="0"/>
              <a:t> </a:t>
            </a:r>
            <a:r>
              <a:rPr dirty="0" err="1"/>
              <a:t>השקול</a:t>
            </a:r>
            <a:r>
              <a:rPr dirty="0"/>
              <a:t> ל-96 </a:t>
            </a:r>
            <a:r>
              <a:rPr dirty="0" err="1"/>
              <a:t>מחזורי</a:t>
            </a:r>
            <a:r>
              <a:rPr dirty="0"/>
              <a:t> </a:t>
            </a:r>
            <a:r>
              <a:rPr dirty="0" err="1"/>
              <a:t>שעון</a:t>
            </a:r>
            <a:r>
              <a:rPr dirty="0"/>
              <a:t>.</a:t>
            </a:r>
          </a:p>
        </p:txBody>
      </p:sp>
      <p:pic>
        <p:nvPicPr>
          <p:cNvPr id="4" name="Picture 3" descr="modelsim_sync_pulse_assertion.png"/>
          <p:cNvPicPr>
            <a:picLocks noChangeAspect="1"/>
          </p:cNvPicPr>
          <p:nvPr/>
        </p:nvPicPr>
        <p:blipFill rotWithShape="1">
          <a:blip r:embed="rId2"/>
          <a:srcRect t="25570" b="4034"/>
          <a:stretch/>
        </p:blipFill>
        <p:spPr>
          <a:xfrm>
            <a:off x="0" y="2358189"/>
            <a:ext cx="9144000" cy="44871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8996"/>
            <a:ext cx="8229600" cy="1143000"/>
          </a:xfrm>
        </p:spPr>
        <p:txBody>
          <a:bodyPr>
            <a:normAutofit/>
          </a:bodyPr>
          <a:lstStyle/>
          <a:p>
            <a:pPr algn="ctr" rtl="1"/>
            <a:r>
              <a:rPr lang="he-IL" dirty="0"/>
              <a:t>מתאוריה לסיליקון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0" y="993813"/>
            <a:ext cx="90236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העולם</a:t>
            </a:r>
            <a:r>
              <a:rPr dirty="0"/>
              <a:t> </a:t>
            </a:r>
            <a:r>
              <a:rPr dirty="0" err="1"/>
              <a:t>האידיאלי</a:t>
            </a:r>
            <a:r>
              <a:rPr dirty="0"/>
              <a:t> (</a:t>
            </a:r>
            <a:r>
              <a:rPr dirty="0" err="1"/>
              <a:t>ModelSim</a:t>
            </a:r>
            <a:r>
              <a:rPr dirty="0"/>
              <a:t>) 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עד</a:t>
            </a:r>
            <a:r>
              <a:rPr dirty="0"/>
              <a:t> </a:t>
            </a:r>
            <a:r>
              <a:rPr dirty="0" err="1"/>
              <a:t>כה</a:t>
            </a:r>
            <a:r>
              <a:rPr dirty="0"/>
              <a:t> </a:t>
            </a:r>
            <a:r>
              <a:rPr dirty="0" err="1"/>
              <a:t>בדקנו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הלוגיקה</a:t>
            </a:r>
            <a:r>
              <a:rPr dirty="0"/>
              <a:t> </a:t>
            </a:r>
            <a:r>
              <a:rPr dirty="0" err="1"/>
              <a:t>בסביבה</a:t>
            </a:r>
            <a:r>
              <a:rPr dirty="0"/>
              <a:t> </a:t>
            </a:r>
            <a:r>
              <a:rPr dirty="0" err="1"/>
              <a:t>וירטואלית</a:t>
            </a:r>
            <a:r>
              <a:rPr dirty="0"/>
              <a:t>. </a:t>
            </a:r>
            <a:r>
              <a:rPr dirty="0" err="1"/>
              <a:t>ראינו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אות</a:t>
            </a:r>
            <a:r>
              <a:rPr dirty="0"/>
              <a:t> </a:t>
            </a:r>
            <a:r>
              <a:rPr dirty="0" err="1"/>
              <a:t>ומונה</a:t>
            </a:r>
            <a:r>
              <a:rPr dirty="0"/>
              <a:t>, </a:t>
            </a:r>
            <a:r>
              <a:rPr dirty="0" err="1"/>
              <a:t>אך</a:t>
            </a:r>
            <a:r>
              <a:rPr dirty="0"/>
              <a:t> </a:t>
            </a:r>
            <a:r>
              <a:rPr dirty="0" err="1"/>
              <a:t>ללא</a:t>
            </a:r>
            <a:r>
              <a:rPr dirty="0"/>
              <a:t> </a:t>
            </a:r>
            <a:r>
              <a:rPr dirty="0" err="1"/>
              <a:t>עיכובים</a:t>
            </a:r>
            <a:r>
              <a:rPr dirty="0"/>
              <a:t> </a:t>
            </a:r>
            <a:r>
              <a:rPr dirty="0" err="1"/>
              <a:t>פיזיים</a:t>
            </a:r>
            <a:r>
              <a:rPr dirty="0"/>
              <a:t> (Zero Latency).</a:t>
            </a:r>
            <a:endParaRPr lang="he-IL" dirty="0"/>
          </a:p>
          <a:p>
            <a:pPr algn="r" rtl="1">
              <a:defRPr sz="1600"/>
            </a:pPr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המציאות</a:t>
            </a:r>
            <a:r>
              <a:rPr dirty="0"/>
              <a:t> </a:t>
            </a:r>
            <a:r>
              <a:rPr dirty="0" err="1"/>
              <a:t>הפיזית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לאחר</a:t>
            </a:r>
            <a:r>
              <a:rPr dirty="0"/>
              <a:t> </a:t>
            </a:r>
            <a:r>
              <a:rPr dirty="0" err="1"/>
              <a:t>סינתזה</a:t>
            </a:r>
            <a:r>
              <a:rPr dirty="0"/>
              <a:t> </a:t>
            </a:r>
            <a:r>
              <a:rPr dirty="0" err="1"/>
              <a:t>וצריבה</a:t>
            </a:r>
            <a:r>
              <a:rPr dirty="0"/>
              <a:t>. </a:t>
            </a:r>
            <a:r>
              <a:rPr dirty="0" err="1"/>
              <a:t>ישנם</a:t>
            </a:r>
            <a:r>
              <a:rPr dirty="0"/>
              <a:t> </a:t>
            </a:r>
            <a:r>
              <a:rPr dirty="0" err="1"/>
              <a:t>זמני</a:t>
            </a:r>
            <a:r>
              <a:rPr dirty="0"/>
              <a:t> </a:t>
            </a:r>
            <a:r>
              <a:rPr dirty="0" err="1"/>
              <a:t>התפשטות</a:t>
            </a:r>
            <a:r>
              <a:rPr dirty="0"/>
              <a:t> (Propagation delays)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האותות</a:t>
            </a:r>
            <a:r>
              <a:rPr dirty="0"/>
              <a:t> </a:t>
            </a:r>
            <a:r>
              <a:rPr dirty="0" err="1"/>
              <a:t>בתוך</a:t>
            </a:r>
            <a:r>
              <a:rPr dirty="0"/>
              <a:t> </a:t>
            </a:r>
            <a:r>
              <a:rPr dirty="0" err="1"/>
              <a:t>הסיליקון</a:t>
            </a:r>
            <a:r>
              <a:rPr dirty="0"/>
              <a:t>.</a:t>
            </a:r>
            <a:endParaRPr lang="he-IL" dirty="0"/>
          </a:p>
          <a:p>
            <a:pPr algn="r" rtl="1">
              <a:defRPr sz="1600"/>
            </a:pPr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מגבלת</a:t>
            </a:r>
            <a:r>
              <a:rPr dirty="0"/>
              <a:t> </a:t>
            </a:r>
            <a:r>
              <a:rPr dirty="0" err="1"/>
              <a:t>הדיבוג</a:t>
            </a:r>
            <a:r>
              <a:rPr dirty="0"/>
              <a:t> </a:t>
            </a:r>
            <a:r>
              <a:rPr dirty="0" err="1"/>
              <a:t>החיצוני</a:t>
            </a:r>
            <a:r>
              <a:rPr lang="he-IL" dirty="0"/>
              <a:t>:</a:t>
            </a:r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מבחוץ</a:t>
            </a:r>
            <a:r>
              <a:rPr dirty="0"/>
              <a:t> </a:t>
            </a:r>
            <a:r>
              <a:rPr dirty="0" err="1"/>
              <a:t>ניתן</a:t>
            </a:r>
            <a:r>
              <a:rPr dirty="0"/>
              <a:t> </a:t>
            </a:r>
            <a:r>
              <a:rPr dirty="0" err="1"/>
              <a:t>למדוד</a:t>
            </a:r>
            <a:r>
              <a:rPr dirty="0"/>
              <a:t> </a:t>
            </a:r>
            <a:r>
              <a:rPr dirty="0" err="1"/>
              <a:t>רק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הפינים</a:t>
            </a:r>
            <a:r>
              <a:rPr dirty="0"/>
              <a:t> </a:t>
            </a:r>
            <a:r>
              <a:rPr dirty="0" err="1"/>
              <a:t>הפיזיים</a:t>
            </a:r>
            <a:r>
              <a:rPr dirty="0"/>
              <a:t> (VGA_R/G/B, Sync).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אין</a:t>
            </a:r>
            <a:r>
              <a:rPr dirty="0"/>
              <a:t> </a:t>
            </a:r>
            <a:r>
              <a:rPr dirty="0" err="1"/>
              <a:t>לנו</a:t>
            </a:r>
            <a:r>
              <a:rPr dirty="0"/>
              <a:t> </a:t>
            </a:r>
            <a:r>
              <a:rPr dirty="0" err="1"/>
              <a:t>שום</a:t>
            </a:r>
            <a:r>
              <a:rPr dirty="0"/>
              <a:t> </a:t>
            </a:r>
            <a:r>
              <a:rPr dirty="0" err="1"/>
              <a:t>דרך</a:t>
            </a:r>
            <a:r>
              <a:rPr dirty="0"/>
              <a:t> </a:t>
            </a:r>
            <a:r>
              <a:rPr dirty="0" err="1"/>
              <a:t>לראות</a:t>
            </a:r>
            <a:r>
              <a:rPr dirty="0"/>
              <a:t> </a:t>
            </a:r>
            <a:r>
              <a:rPr dirty="0" err="1"/>
              <a:t>מתי</a:t>
            </a:r>
            <a:r>
              <a:rPr dirty="0"/>
              <a:t> </a:t>
            </a:r>
            <a:r>
              <a:rPr dirty="0" err="1"/>
              <a:t>המונה</a:t>
            </a:r>
            <a:r>
              <a:rPr dirty="0"/>
              <a:t> </a:t>
            </a:r>
            <a:r>
              <a:rPr dirty="0" err="1"/>
              <a:t>מתאפס</a:t>
            </a:r>
            <a:r>
              <a:rPr dirty="0"/>
              <a:t> </a:t>
            </a:r>
            <a:r>
              <a:rPr dirty="0" err="1"/>
              <a:t>או</a:t>
            </a:r>
            <a:r>
              <a:rPr dirty="0"/>
              <a:t> </a:t>
            </a:r>
            <a:r>
              <a:rPr dirty="0" err="1"/>
              <a:t>איזו</a:t>
            </a:r>
            <a:r>
              <a:rPr dirty="0"/>
              <a:t> </a:t>
            </a:r>
            <a:r>
              <a:rPr dirty="0" err="1"/>
              <a:t>כתובת</a:t>
            </a:r>
            <a:r>
              <a:rPr dirty="0"/>
              <a:t> </a:t>
            </a:r>
            <a:r>
              <a:rPr dirty="0" err="1"/>
              <a:t>נשלחת</a:t>
            </a:r>
            <a:r>
              <a:rPr dirty="0"/>
              <a:t> </a:t>
            </a:r>
            <a:r>
              <a:rPr dirty="0" err="1"/>
              <a:t>לזיכרון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4506" y="4122530"/>
            <a:ext cx="3657600" cy="2466474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b="1">
                <a:solidFill>
                  <a:srgbClr val="FFFFFF"/>
                </a:solidFill>
              </a:defRPr>
            </a:pPr>
            <a:r>
              <a:rPr dirty="0" err="1"/>
              <a:t>קופסה</a:t>
            </a:r>
            <a:r>
              <a:rPr dirty="0"/>
              <a:t> </a:t>
            </a:r>
            <a:r>
              <a:rPr dirty="0" err="1"/>
              <a:t>שחורה</a:t>
            </a:r>
            <a:endParaRPr dirty="0"/>
          </a:p>
          <a:p>
            <a:r>
              <a:rPr dirty="0" err="1"/>
              <a:t>אין</a:t>
            </a:r>
            <a:r>
              <a:rPr dirty="0"/>
              <a:t> </a:t>
            </a:r>
            <a:r>
              <a:rPr dirty="0" err="1"/>
              <a:t>גישה</a:t>
            </a:r>
            <a:r>
              <a:rPr dirty="0"/>
              <a:t> </a:t>
            </a:r>
            <a:r>
              <a:rPr dirty="0" err="1"/>
              <a:t>לאותות</a:t>
            </a:r>
            <a:r>
              <a:rPr dirty="0"/>
              <a:t> </a:t>
            </a:r>
            <a:r>
              <a:rPr dirty="0" err="1"/>
              <a:t>פנימיים</a:t>
            </a:r>
            <a:r>
              <a:rPr lang="he-IL" dirty="0"/>
              <a:t>       </a:t>
            </a:r>
            <a:endParaRPr dirty="0"/>
          </a:p>
        </p:txBody>
      </p:sp>
      <p:sp>
        <p:nvSpPr>
          <p:cNvPr id="5" name="Right Arrow 4"/>
          <p:cNvSpPr/>
          <p:nvPr/>
        </p:nvSpPr>
        <p:spPr>
          <a:xfrm>
            <a:off x="6571649" y="4758675"/>
            <a:ext cx="731520" cy="32725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Arrow 5"/>
          <p:cNvSpPr/>
          <p:nvPr/>
        </p:nvSpPr>
        <p:spPr>
          <a:xfrm flipV="1">
            <a:off x="1840831" y="4777927"/>
            <a:ext cx="731520" cy="2743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86876" y="4137846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פינים</a:t>
            </a:r>
            <a:r>
              <a:rPr dirty="0"/>
              <a:t> </a:t>
            </a:r>
            <a:r>
              <a:rPr dirty="0" err="1"/>
              <a:t>בלבד</a:t>
            </a:r>
            <a:endParaRPr dirty="0"/>
          </a:p>
          <a:p>
            <a:r>
              <a:rPr dirty="0"/>
              <a:t>(RGB, Sync)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rtl="1"/>
            <a:r>
              <a:rPr dirty="0" err="1"/>
              <a:t>דיבוג</a:t>
            </a:r>
            <a:r>
              <a:rPr dirty="0"/>
              <a:t> </a:t>
            </a:r>
            <a:r>
              <a:rPr dirty="0" err="1"/>
              <a:t>בתוך</a:t>
            </a:r>
            <a:r>
              <a:rPr dirty="0"/>
              <a:t> </a:t>
            </a:r>
            <a:r>
              <a:rPr dirty="0" err="1"/>
              <a:t>הסיליקון</a:t>
            </a:r>
            <a:r>
              <a:rPr dirty="0"/>
              <a:t>: </a:t>
            </a:r>
            <a:br>
              <a:rPr lang="he-IL" dirty="0"/>
            </a:br>
            <a:r>
              <a:rPr lang="he-IL" dirty="0"/>
              <a:t>  </a:t>
            </a:r>
            <a:r>
              <a:rPr dirty="0" err="1"/>
              <a:t>Vivado</a:t>
            </a:r>
            <a:r>
              <a:rPr dirty="0"/>
              <a:t> ILA </a:t>
            </a:r>
            <a:r>
              <a:rPr lang="he-IL" dirty="0"/>
              <a:t> </a:t>
            </a:r>
            <a:r>
              <a:rPr dirty="0" err="1"/>
              <a:t>קופסה</a:t>
            </a:r>
            <a:r>
              <a:rPr dirty="0"/>
              <a:t> </a:t>
            </a:r>
            <a:r>
              <a:rPr dirty="0" err="1"/>
              <a:t>לבנה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-1804225" y="1097280"/>
            <a:ext cx="1049102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הפתרון</a:t>
            </a:r>
            <a:r>
              <a:rPr dirty="0"/>
              <a:t> </a:t>
            </a:r>
            <a:r>
              <a:rPr dirty="0" err="1"/>
              <a:t>ההנדסי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 </a:t>
            </a:r>
            <a:r>
              <a:rPr dirty="0" err="1"/>
              <a:t>הוספת</a:t>
            </a:r>
            <a:r>
              <a:rPr dirty="0"/>
              <a:t> Integrated Logic Analyzer (ILA) –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 </a:t>
            </a:r>
            <a:r>
              <a:rPr dirty="0" err="1"/>
              <a:t>רכיב</a:t>
            </a:r>
            <a:r>
              <a:rPr dirty="0"/>
              <a:t> </a:t>
            </a:r>
            <a:r>
              <a:rPr dirty="0" err="1"/>
              <a:t>חומרה</a:t>
            </a:r>
            <a:r>
              <a:rPr dirty="0"/>
              <a:t> </a:t>
            </a:r>
            <a:r>
              <a:rPr dirty="0" err="1"/>
              <a:t>פנימי</a:t>
            </a:r>
            <a:r>
              <a:rPr dirty="0"/>
              <a:t> </a:t>
            </a:r>
            <a:r>
              <a:rPr dirty="0" err="1"/>
              <a:t>שדוגם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האותות</a:t>
            </a:r>
            <a:r>
              <a:rPr dirty="0"/>
              <a:t> </a:t>
            </a:r>
            <a:r>
              <a:rPr dirty="0" err="1"/>
              <a:t>ומשדר</a:t>
            </a:r>
            <a:r>
              <a:rPr dirty="0"/>
              <a:t> </a:t>
            </a:r>
            <a:r>
              <a:rPr dirty="0" err="1"/>
              <a:t>אותם</a:t>
            </a:r>
            <a:r>
              <a:rPr dirty="0"/>
              <a:t> </a:t>
            </a:r>
            <a:r>
              <a:rPr dirty="0" err="1"/>
              <a:t>למחשב</a:t>
            </a:r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היתרון</a:t>
            </a:r>
            <a:r>
              <a:rPr dirty="0"/>
              <a:t> </a:t>
            </a:r>
            <a:r>
              <a:rPr lang="he-IL" dirty="0"/>
              <a:t> :</a:t>
            </a:r>
          </a:p>
          <a:p>
            <a:pPr algn="r" rtl="1">
              <a:defRPr sz="1600"/>
            </a:pPr>
            <a:r>
              <a:rPr lang="he-IL" dirty="0"/>
              <a:t>   </a:t>
            </a:r>
            <a:r>
              <a:rPr dirty="0" err="1"/>
              <a:t>מאפשר</a:t>
            </a:r>
            <a:r>
              <a:rPr dirty="0"/>
              <a:t> </a:t>
            </a:r>
            <a:r>
              <a:rPr dirty="0" err="1"/>
              <a:t>לראות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זמני</a:t>
            </a:r>
            <a:r>
              <a:rPr dirty="0"/>
              <a:t> </a:t>
            </a:r>
            <a:r>
              <a:rPr dirty="0" err="1"/>
              <a:t>ההשהיה</a:t>
            </a:r>
            <a:r>
              <a:rPr dirty="0"/>
              <a:t> </a:t>
            </a:r>
            <a:r>
              <a:rPr dirty="0" err="1"/>
              <a:t>האמיתיים</a:t>
            </a:r>
            <a:r>
              <a:rPr dirty="0"/>
              <a:t> </a:t>
            </a:r>
            <a:r>
              <a:rPr dirty="0" err="1"/>
              <a:t>שבין</a:t>
            </a:r>
            <a:r>
              <a:rPr dirty="0"/>
              <a:t> </a:t>
            </a:r>
            <a:r>
              <a:rPr dirty="0" err="1"/>
              <a:t>שליחת</a:t>
            </a:r>
            <a:r>
              <a:rPr dirty="0"/>
              <a:t> </a:t>
            </a:r>
            <a:r>
              <a:rPr dirty="0" err="1"/>
              <a:t>בקשה</a:t>
            </a:r>
            <a:r>
              <a:rPr dirty="0"/>
              <a:t> </a:t>
            </a:r>
            <a:r>
              <a:rPr dirty="0" err="1"/>
              <a:t>לזיכרון</a:t>
            </a:r>
            <a:r>
              <a:rPr dirty="0"/>
              <a:t> (</a:t>
            </a:r>
            <a:r>
              <a:rPr dirty="0" err="1"/>
              <a:t>addrb</a:t>
            </a:r>
            <a:r>
              <a:rPr dirty="0"/>
              <a:t>) </a:t>
            </a:r>
            <a:r>
              <a:rPr dirty="0" err="1"/>
              <a:t>לקבלת</a:t>
            </a:r>
            <a:r>
              <a:rPr dirty="0"/>
              <a:t> </a:t>
            </a:r>
            <a:r>
              <a:rPr dirty="0" err="1"/>
              <a:t>הנתון</a:t>
            </a:r>
            <a:r>
              <a:rPr dirty="0"/>
              <a:t> (</a:t>
            </a:r>
            <a:r>
              <a:rPr dirty="0" err="1"/>
              <a:t>doutb</a:t>
            </a:r>
            <a:r>
              <a:rPr dirty="0"/>
              <a:t>).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החיסרון</a:t>
            </a:r>
            <a:r>
              <a:rPr dirty="0"/>
              <a:t> (Trade-off):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/>
              <a:t>ה-ILA </a:t>
            </a:r>
            <a:r>
              <a:rPr dirty="0" err="1"/>
              <a:t>אינו</a:t>
            </a:r>
            <a:r>
              <a:rPr dirty="0"/>
              <a:t> </a:t>
            </a:r>
            <a:r>
              <a:rPr dirty="0" err="1"/>
              <a:t>חינמי</a:t>
            </a:r>
            <a:r>
              <a:rPr dirty="0"/>
              <a:t>. </a:t>
            </a:r>
            <a:r>
              <a:rPr dirty="0" err="1"/>
              <a:t>הוא</a:t>
            </a:r>
            <a:r>
              <a:rPr dirty="0"/>
              <a:t> </a:t>
            </a:r>
            <a:r>
              <a:rPr lang="he-IL" dirty="0"/>
              <a:t>לוקח</a:t>
            </a:r>
            <a:r>
              <a:rPr dirty="0"/>
              <a:t> </a:t>
            </a:r>
            <a:r>
              <a:rPr dirty="0" err="1"/>
              <a:t>משאבי</a:t>
            </a:r>
            <a:r>
              <a:rPr dirty="0"/>
              <a:t> </a:t>
            </a:r>
            <a:r>
              <a:rPr dirty="0" err="1"/>
              <a:t>חומרה</a:t>
            </a:r>
            <a:r>
              <a:rPr dirty="0"/>
              <a:t>  </a:t>
            </a:r>
            <a:r>
              <a:rPr dirty="0" err="1"/>
              <a:t>מהכרטיס</a:t>
            </a:r>
            <a:r>
              <a:rPr dirty="0"/>
              <a:t> (LUTs ו-BRAM) </a:t>
            </a:r>
            <a:r>
              <a:rPr dirty="0" err="1"/>
              <a:t>לצורך</a:t>
            </a:r>
            <a:r>
              <a:rPr dirty="0"/>
              <a:t> </a:t>
            </a:r>
            <a:r>
              <a:rPr dirty="0" err="1"/>
              <a:t>לוגיקת</a:t>
            </a:r>
            <a:r>
              <a:rPr dirty="0"/>
              <a:t> </a:t>
            </a:r>
            <a:r>
              <a:rPr dirty="0" err="1"/>
              <a:t>הדגימה</a:t>
            </a:r>
            <a:r>
              <a:rPr dirty="0"/>
              <a:t> </a:t>
            </a:r>
            <a:r>
              <a:rPr dirty="0" err="1"/>
              <a:t>ואגירת</a:t>
            </a:r>
            <a:r>
              <a:rPr dirty="0"/>
              <a:t> </a:t>
            </a:r>
            <a:r>
              <a:rPr dirty="0" err="1"/>
              <a:t>הנתונים</a:t>
            </a:r>
            <a:r>
              <a:rPr dirty="0"/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056374"/>
              </p:ext>
            </p:extLst>
          </p:nvPr>
        </p:nvGraphicFramePr>
        <p:xfrm>
          <a:off x="565485" y="4263356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 rtl="1">
                        <a:defRPr sz="1500" b="1"/>
                      </a:pPr>
                      <a:r>
                        <a:t>יעד הבדיקה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defRPr sz="1500" b="1"/>
                      </a:pPr>
                      <a:r>
                        <a:t>מגבלת ה'קופסה השחורה'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defRPr sz="1500" b="1"/>
                      </a:pPr>
                      <a:r>
                        <a:t>האות שנדגום ב-ILA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rtl="1">
                        <a:defRPr sz="1400" b="1"/>
                      </a:pPr>
                      <a:r>
                        <a:t>זרימת נתונים ו-Latency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t>רואים רק את הפיקסל הסופי מתחלף ביציאה.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rPr dirty="0" err="1"/>
                        <a:t>addrb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doutb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pxl_data_reg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בדיקת</a:t>
                      </a:r>
                      <a:r>
                        <a:rPr lang="he-IL" dirty="0"/>
                        <a:t> הבאס 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rtl="1">
                        <a:defRPr sz="1400" b="1"/>
                      </a:pPr>
                      <a:r>
                        <a:t>מיקום אופקי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t>לא ניתן לדעת איזה פיקסל משורטט כרגע.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t>hsync_debug (מייצג את hsync_reg)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rtl="1">
                        <a:defRPr sz="1400" b="1"/>
                      </a:pPr>
                      <a:r>
                        <a:rPr dirty="0" err="1"/>
                        <a:t>אכיפת</a:t>
                      </a:r>
                      <a:r>
                        <a:rPr dirty="0"/>
                        <a:t> </a:t>
                      </a:r>
                      <a:r>
                        <a:rPr lang="he-IL" dirty="0"/>
                        <a:t>0</a:t>
                      </a:r>
                      <a:r>
                        <a:rPr dirty="0"/>
                        <a:t>(Blanking)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rPr dirty="0" err="1"/>
                        <a:t>רואים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מסך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חשוך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ללא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הקשר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תזמוני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400"/>
                      </a:pPr>
                      <a:r>
                        <a:rPr dirty="0" err="1"/>
                        <a:t>in_display_area_delayed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724" y="0"/>
            <a:ext cx="8229600" cy="1143000"/>
          </a:xfrm>
        </p:spPr>
        <p:txBody>
          <a:bodyPr>
            <a:normAutofit/>
          </a:bodyPr>
          <a:lstStyle/>
          <a:p>
            <a:pPr algn="ctr" rtl="1"/>
            <a:r>
              <a:rPr dirty="0" err="1"/>
              <a:t>עלות</a:t>
            </a:r>
            <a:r>
              <a:rPr dirty="0"/>
              <a:t> </a:t>
            </a:r>
            <a:r>
              <a:rPr dirty="0" err="1"/>
              <a:t>הדיבוג</a:t>
            </a:r>
            <a:r>
              <a:rPr dirty="0"/>
              <a:t>: </a:t>
            </a:r>
            <a:r>
              <a:rPr dirty="0" err="1"/>
              <a:t>ניתוח</a:t>
            </a:r>
            <a:r>
              <a:rPr dirty="0"/>
              <a:t>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77268" y="770021"/>
            <a:ext cx="9300951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ה-ILA </a:t>
            </a:r>
            <a:r>
              <a:rPr dirty="0" err="1"/>
              <a:t>איננו</a:t>
            </a:r>
            <a:r>
              <a:rPr dirty="0"/>
              <a:t> </a:t>
            </a:r>
            <a:r>
              <a:rPr dirty="0" err="1"/>
              <a:t>תוכנה</a:t>
            </a:r>
            <a:r>
              <a:rPr lang="he-IL" dirty="0"/>
              <a:t>,</a:t>
            </a:r>
            <a:r>
              <a:rPr dirty="0"/>
              <a:t> </a:t>
            </a:r>
            <a:r>
              <a:rPr dirty="0" err="1"/>
              <a:t>זוהי</a:t>
            </a:r>
            <a:r>
              <a:rPr dirty="0"/>
              <a:t> </a:t>
            </a:r>
            <a:r>
              <a:rPr dirty="0" err="1"/>
              <a:t>חומרה</a:t>
            </a:r>
            <a:r>
              <a:rPr dirty="0"/>
              <a:t> </a:t>
            </a:r>
            <a:r>
              <a:rPr dirty="0" err="1"/>
              <a:t>פיזית</a:t>
            </a:r>
            <a:r>
              <a:rPr dirty="0"/>
              <a:t>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המסונתזת</a:t>
            </a:r>
            <a:r>
              <a:rPr dirty="0"/>
              <a:t> </a:t>
            </a:r>
            <a:r>
              <a:rPr dirty="0" err="1"/>
              <a:t>ונצרבת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הסיליקון</a:t>
            </a:r>
            <a:r>
              <a:rPr dirty="0"/>
              <a:t> </a:t>
            </a:r>
            <a:r>
              <a:rPr dirty="0" err="1"/>
              <a:t>לצד</a:t>
            </a:r>
            <a:r>
              <a:rPr dirty="0"/>
              <a:t> </a:t>
            </a:r>
            <a:r>
              <a:rPr dirty="0" err="1"/>
              <a:t>לוגיקת</a:t>
            </a:r>
            <a:r>
              <a:rPr dirty="0"/>
              <a:t> </a:t>
            </a:r>
            <a:r>
              <a:rPr dirty="0" err="1"/>
              <a:t>התצוגה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בקר</a:t>
            </a:r>
            <a:r>
              <a:rPr dirty="0"/>
              <a:t> ה-VGA </a:t>
            </a:r>
            <a:r>
              <a:rPr dirty="0" err="1"/>
              <a:t>שלנו</a:t>
            </a:r>
            <a:r>
              <a:rPr dirty="0"/>
              <a:t> </a:t>
            </a:r>
            <a:r>
              <a:rPr dirty="0" err="1"/>
              <a:t>יעיל</a:t>
            </a:r>
            <a:r>
              <a:rPr dirty="0"/>
              <a:t> </a:t>
            </a:r>
            <a:r>
              <a:rPr dirty="0" err="1"/>
              <a:t>מאוד</a:t>
            </a:r>
            <a:r>
              <a:rPr dirty="0"/>
              <a:t> </a:t>
            </a:r>
            <a:r>
              <a:rPr dirty="0" err="1"/>
              <a:t>וצורך</a:t>
            </a:r>
            <a:r>
              <a:rPr dirty="0"/>
              <a:t> </a:t>
            </a:r>
            <a:r>
              <a:rPr dirty="0" err="1"/>
              <a:t>משאבים</a:t>
            </a:r>
            <a:r>
              <a:rPr dirty="0"/>
              <a:t> </a:t>
            </a:r>
            <a:r>
              <a:rPr dirty="0" err="1"/>
              <a:t>אפסיים</a:t>
            </a:r>
            <a:r>
              <a:rPr dirty="0"/>
              <a:t>, </a:t>
            </a:r>
            <a:r>
              <a:rPr dirty="0" err="1"/>
              <a:t>בעוד</a:t>
            </a:r>
            <a:r>
              <a:rPr dirty="0"/>
              <a:t> </a:t>
            </a:r>
            <a:r>
              <a:rPr dirty="0" err="1"/>
              <a:t>שמערכת</a:t>
            </a:r>
            <a:r>
              <a:rPr dirty="0"/>
              <a:t> </a:t>
            </a:r>
            <a:r>
              <a:rPr dirty="0" err="1"/>
              <a:t>הדיבוג</a:t>
            </a:r>
            <a:r>
              <a:rPr dirty="0"/>
              <a:t> (ILA + Debug Hub) </a:t>
            </a:r>
            <a:r>
              <a:rPr lang="he-IL" dirty="0"/>
              <a:t> </a:t>
            </a:r>
            <a:r>
              <a:rPr dirty="0" err="1"/>
              <a:t>דורשת</a:t>
            </a:r>
            <a:r>
              <a:rPr dirty="0"/>
              <a:t> </a:t>
            </a:r>
            <a:r>
              <a:rPr dirty="0" err="1"/>
              <a:t>אלפי</a:t>
            </a:r>
            <a:r>
              <a:rPr dirty="0"/>
              <a:t> </a:t>
            </a:r>
            <a:endParaRPr lang="he-IL" dirty="0"/>
          </a:p>
          <a:p>
            <a:pPr algn="r" rtl="1">
              <a:defRPr sz="1600"/>
            </a:pPr>
            <a:r>
              <a:rPr dirty="0" err="1"/>
              <a:t>רכיבים</a:t>
            </a:r>
            <a:r>
              <a:rPr dirty="0"/>
              <a:t> </a:t>
            </a:r>
            <a:r>
              <a:rPr dirty="0" err="1"/>
              <a:t>לוגיים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lang="he-IL" dirty="0"/>
              <a:t>לסיכום</a:t>
            </a:r>
            <a:r>
              <a:rPr dirty="0"/>
              <a:t>: ה-ILA </a:t>
            </a:r>
            <a:r>
              <a:rPr dirty="0" err="1"/>
              <a:t>הוא</a:t>
            </a:r>
            <a:r>
              <a:rPr dirty="0"/>
              <a:t> </a:t>
            </a:r>
            <a:r>
              <a:rPr dirty="0" err="1"/>
              <a:t>כלי</a:t>
            </a:r>
            <a:r>
              <a:rPr dirty="0"/>
              <a:t> </a:t>
            </a:r>
            <a:r>
              <a:rPr lang="he-IL" dirty="0"/>
              <a:t>יעיל </a:t>
            </a:r>
            <a:r>
              <a:rPr dirty="0" err="1"/>
              <a:t>לפיתוח</a:t>
            </a:r>
            <a:r>
              <a:rPr dirty="0"/>
              <a:t> </a:t>
            </a:r>
            <a:r>
              <a:rPr lang="he-IL" dirty="0" err="1"/>
              <a:t>ולבדיקות,אך</a:t>
            </a:r>
            <a:r>
              <a:rPr lang="he-IL" dirty="0"/>
              <a:t> כמובן שהוא לא </a:t>
            </a:r>
            <a:r>
              <a:rPr lang="he-IL" dirty="0" err="1"/>
              <a:t>ישאר</a:t>
            </a:r>
            <a:r>
              <a:rPr lang="he-IL" dirty="0"/>
              <a:t> ברכיב סתם,</a:t>
            </a:r>
          </a:p>
          <a:p>
            <a:pPr algn="r" rtl="1">
              <a:defRPr sz="1600"/>
            </a:pPr>
            <a:r>
              <a:rPr lang="he-IL" dirty="0"/>
              <a:t>מה </a:t>
            </a:r>
            <a:r>
              <a:rPr lang="he-IL" dirty="0" err="1"/>
              <a:t>גם,ייתכן</a:t>
            </a:r>
            <a:r>
              <a:rPr lang="he-IL" dirty="0"/>
              <a:t> שאם המערכת שלנו גדולה ותופסת הרבה </a:t>
            </a:r>
            <a:r>
              <a:rPr lang="he-IL" dirty="0" err="1"/>
              <a:t>זיכרון,לא</a:t>
            </a:r>
            <a:r>
              <a:rPr lang="he-IL" dirty="0"/>
              <a:t> נוכל ליישם טכנולוגיה זו</a:t>
            </a:r>
          </a:p>
          <a:p>
            <a:pPr marL="285750" indent="-285750" algn="r" rtl="1">
              <a:buFont typeface="Arial" panose="020B0604020202020204" pitchFamily="34" charset="0"/>
              <a:buChar char="•"/>
              <a:defRPr sz="1600"/>
            </a:pPr>
            <a:endParaRPr lang="he-IL" dirty="0"/>
          </a:p>
          <a:p>
            <a:pPr marL="285750" indent="-285750" algn="r" rtl="1">
              <a:buFont typeface="Arial" panose="020B0604020202020204" pitchFamily="34" charset="0"/>
              <a:buChar char="•"/>
              <a:defRPr sz="1600"/>
            </a:pPr>
            <a:r>
              <a:rPr lang="he-IL" dirty="0"/>
              <a:t>מצד ימין ניתן לראות את ה</a:t>
            </a:r>
            <a:r>
              <a:rPr lang="en-US" dirty="0"/>
              <a:t>device</a:t>
            </a:r>
            <a:r>
              <a:rPr lang="he-IL" dirty="0"/>
              <a:t> ללא ה</a:t>
            </a:r>
            <a:r>
              <a:rPr lang="en-US" dirty="0"/>
              <a:t>ILA </a:t>
            </a:r>
            <a:r>
              <a:rPr lang="he-IL" dirty="0"/>
              <a:t>, ולעומתו מצד </a:t>
            </a:r>
            <a:r>
              <a:rPr lang="he-IL" dirty="0" err="1"/>
              <a:t>שמאל,כולל</a:t>
            </a:r>
            <a:endParaRPr dirty="0"/>
          </a:p>
        </p:txBody>
      </p:sp>
      <p:pic>
        <p:nvPicPr>
          <p:cNvPr id="5" name="Picture 4" descr="device_view_with_ila.png"/>
          <p:cNvPicPr>
            <a:picLocks noChangeAspect="1"/>
          </p:cNvPicPr>
          <p:nvPr/>
        </p:nvPicPr>
        <p:blipFill rotWithShape="1">
          <a:blip r:embed="rId2"/>
          <a:srcRect l="64583" t="14011" r="348" b="-14011"/>
          <a:stretch/>
        </p:blipFill>
        <p:spPr>
          <a:xfrm>
            <a:off x="1431198" y="3106554"/>
            <a:ext cx="2111685" cy="3751446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5B54D1FC-2E1A-47C3-8F8B-02D6698098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356" t="18731" r="19550" b="28375"/>
          <a:stretch/>
        </p:blipFill>
        <p:spPr>
          <a:xfrm>
            <a:off x="5675586" y="3106554"/>
            <a:ext cx="2111685" cy="32209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FB3069-12FC-477A-A79F-F06AF364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utilization</a:t>
            </a:r>
            <a:endParaRPr lang="he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2C39A77-6DAC-4DC9-97EB-FB31376016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161" t="10926" r="7127" b="65780"/>
          <a:stretch/>
        </p:blipFill>
        <p:spPr>
          <a:xfrm>
            <a:off x="557743" y="2393645"/>
            <a:ext cx="7861738" cy="207071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5E5477C7-3471-444B-961F-2C5712A5EC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90" t="11481" b="59051"/>
          <a:stretch/>
        </p:blipFill>
        <p:spPr>
          <a:xfrm>
            <a:off x="557743" y="4592608"/>
            <a:ext cx="7861738" cy="1834881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AC961AAB-218D-4BCF-BC0A-7828B6287CDC}"/>
              </a:ext>
            </a:extLst>
          </p:cNvPr>
          <p:cNvSpPr txBox="1"/>
          <p:nvPr/>
        </p:nvSpPr>
        <p:spPr>
          <a:xfrm>
            <a:off x="767950" y="1305477"/>
            <a:ext cx="7441324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להלן השווה בין השטחים עם וללא היחידות </a:t>
            </a:r>
            <a:r>
              <a:rPr lang="he-IL" dirty="0" err="1"/>
              <a:t>דיבוג,ניתן</a:t>
            </a:r>
            <a:r>
              <a:rPr lang="he-IL" dirty="0"/>
              <a:t> לראות שאנו משלמים מחיר של עוד 1283 + 449 יחידות לוגיות </a:t>
            </a:r>
          </a:p>
          <a:p>
            <a:pPr algn="r"/>
            <a:r>
              <a:rPr lang="he-IL" dirty="0"/>
              <a:t>שזה מחיר </a:t>
            </a:r>
            <a:r>
              <a:rPr lang="he-IL" dirty="0" err="1"/>
              <a:t>כבד,הוא</a:t>
            </a:r>
            <a:r>
              <a:rPr lang="he-IL" dirty="0"/>
              <a:t> יותר מ100 אחוז מהמחיר שלוקחת המערכת עצמה</a:t>
            </a:r>
          </a:p>
          <a:p>
            <a:pPr algn="r"/>
            <a:r>
              <a:rPr lang="en-US" dirty="0"/>
              <a:t>   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6A947FD-04ED-4E45-8018-BBB390DA3921}"/>
              </a:ext>
            </a:extLst>
          </p:cNvPr>
          <p:cNvSpPr/>
          <p:nvPr/>
        </p:nvSpPr>
        <p:spPr>
          <a:xfrm>
            <a:off x="2291253" y="2505806"/>
            <a:ext cx="730469" cy="4243910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31004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105" y="-283011"/>
            <a:ext cx="8229600" cy="1143000"/>
          </a:xfrm>
        </p:spPr>
        <p:txBody>
          <a:bodyPr>
            <a:normAutofit/>
          </a:bodyPr>
          <a:lstStyle/>
          <a:p>
            <a:pPr algn="ctr" rtl="1"/>
            <a:r>
              <a:rPr dirty="0"/>
              <a:t>Post-Silicon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433137" y="471638"/>
            <a:ext cx="956571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בניגוד</a:t>
            </a:r>
            <a:r>
              <a:rPr dirty="0"/>
              <a:t> </a:t>
            </a:r>
            <a:r>
              <a:rPr dirty="0" err="1"/>
              <a:t>לסימולציה</a:t>
            </a:r>
            <a:r>
              <a:rPr dirty="0"/>
              <a:t> </a:t>
            </a:r>
            <a:r>
              <a:rPr dirty="0" err="1"/>
              <a:t>האידיאלית</a:t>
            </a:r>
            <a:r>
              <a:rPr dirty="0"/>
              <a:t> </a:t>
            </a:r>
            <a:r>
              <a:rPr dirty="0" err="1"/>
              <a:t>בשקף</a:t>
            </a:r>
            <a:r>
              <a:rPr lang="he-IL" dirty="0"/>
              <a:t> 17, </a:t>
            </a:r>
            <a:r>
              <a:rPr dirty="0"/>
              <a:t> </a:t>
            </a:r>
            <a:r>
              <a:rPr dirty="0" err="1"/>
              <a:t>כאן</a:t>
            </a:r>
            <a:r>
              <a:rPr dirty="0"/>
              <a:t> </a:t>
            </a:r>
            <a:r>
              <a:rPr dirty="0" err="1"/>
              <a:t>אנו</a:t>
            </a:r>
            <a:r>
              <a:rPr dirty="0"/>
              <a:t> </a:t>
            </a:r>
            <a:r>
              <a:rPr dirty="0" err="1"/>
              <a:t>דוגמים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החומרה</a:t>
            </a:r>
            <a:r>
              <a:rPr dirty="0"/>
              <a:t> </a:t>
            </a:r>
            <a:r>
              <a:rPr dirty="0" err="1"/>
              <a:t>הפיזית</a:t>
            </a:r>
            <a:r>
              <a:rPr dirty="0"/>
              <a:t> </a:t>
            </a:r>
            <a:r>
              <a:rPr dirty="0" err="1"/>
              <a:t>פועלת</a:t>
            </a:r>
            <a:r>
              <a:rPr dirty="0"/>
              <a:t> </a:t>
            </a:r>
            <a:r>
              <a:rPr dirty="0" err="1"/>
              <a:t>בזמן</a:t>
            </a:r>
            <a:r>
              <a:rPr dirty="0"/>
              <a:t> </a:t>
            </a:r>
            <a:r>
              <a:rPr dirty="0" err="1"/>
              <a:t>אמת</a:t>
            </a:r>
            <a:r>
              <a:rPr dirty="0"/>
              <a:t> </a:t>
            </a:r>
            <a:r>
              <a:rPr dirty="0" err="1"/>
              <a:t>באמצעות</a:t>
            </a:r>
            <a:r>
              <a:rPr dirty="0"/>
              <a:t> ה-ILA.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lang="he-IL" dirty="0"/>
              <a:t>נשים </a:t>
            </a:r>
            <a:r>
              <a:rPr dirty="0" err="1"/>
              <a:t>לב</a:t>
            </a:r>
            <a:r>
              <a:rPr dirty="0"/>
              <a:t> </a:t>
            </a:r>
            <a:r>
              <a:rPr dirty="0" err="1"/>
              <a:t>לפער</a:t>
            </a:r>
            <a:r>
              <a:rPr dirty="0"/>
              <a:t> </a:t>
            </a:r>
            <a:r>
              <a:rPr dirty="0" err="1"/>
              <a:t>הפיזי</a:t>
            </a:r>
            <a:r>
              <a:rPr dirty="0"/>
              <a:t> - </a:t>
            </a:r>
            <a:r>
              <a:rPr dirty="0" err="1"/>
              <a:t>הכתובת</a:t>
            </a:r>
            <a:r>
              <a:rPr dirty="0"/>
              <a:t> 266880 </a:t>
            </a:r>
            <a:r>
              <a:rPr dirty="0" err="1"/>
              <a:t>נשלחת</a:t>
            </a:r>
            <a:r>
              <a:rPr dirty="0"/>
              <a:t> (</a:t>
            </a:r>
            <a:r>
              <a:rPr dirty="0" err="1"/>
              <a:t>bram_address_reg</a:t>
            </a:r>
            <a:r>
              <a:rPr dirty="0"/>
              <a:t>), </a:t>
            </a:r>
            <a:r>
              <a:rPr dirty="0" err="1"/>
              <a:t>אך</a:t>
            </a:r>
            <a:r>
              <a:rPr dirty="0"/>
              <a:t> </a:t>
            </a:r>
            <a:r>
              <a:rPr dirty="0" err="1"/>
              <a:t>הנתון</a:t>
            </a:r>
            <a:r>
              <a:rPr dirty="0"/>
              <a:t> 4ea </a:t>
            </a:r>
            <a:r>
              <a:rPr dirty="0" err="1"/>
              <a:t>מופיע</a:t>
            </a:r>
            <a:r>
              <a:rPr dirty="0"/>
              <a:t> </a:t>
            </a:r>
            <a:r>
              <a:rPr dirty="0" err="1"/>
              <a:t>רק</a:t>
            </a:r>
            <a:r>
              <a:rPr dirty="0"/>
              <a:t> </a:t>
            </a:r>
            <a:r>
              <a:rPr dirty="0" err="1"/>
              <a:t>לאחר</a:t>
            </a:r>
            <a:r>
              <a:rPr dirty="0"/>
              <a:t> </a:t>
            </a:r>
            <a:r>
              <a:rPr dirty="0" err="1"/>
              <a:t>מכן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אכיפת</a:t>
            </a:r>
            <a:r>
              <a:rPr dirty="0"/>
              <a:t> </a:t>
            </a:r>
            <a:r>
              <a:rPr dirty="0" err="1"/>
              <a:t>שומר</a:t>
            </a:r>
            <a:r>
              <a:rPr dirty="0"/>
              <a:t> </a:t>
            </a:r>
            <a:r>
              <a:rPr dirty="0" err="1"/>
              <a:t>הסף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למרות</a:t>
            </a:r>
            <a:r>
              <a:rPr dirty="0"/>
              <a:t> </a:t>
            </a:r>
            <a:r>
              <a:rPr dirty="0" err="1"/>
              <a:t>שהאוגר</a:t>
            </a:r>
            <a:r>
              <a:rPr dirty="0"/>
              <a:t> </a:t>
            </a:r>
            <a:r>
              <a:rPr dirty="0" err="1"/>
              <a:t>התמלא</a:t>
            </a:r>
            <a:r>
              <a:rPr dirty="0"/>
              <a:t>, </a:t>
            </a:r>
            <a:r>
              <a:rPr dirty="0" err="1"/>
              <a:t>רק</a:t>
            </a:r>
            <a:r>
              <a:rPr dirty="0"/>
              <a:t> </a:t>
            </a:r>
            <a:r>
              <a:rPr dirty="0" err="1"/>
              <a:t>בקו</a:t>
            </a:r>
            <a:r>
              <a:rPr dirty="0"/>
              <a:t> </a:t>
            </a:r>
            <a:r>
              <a:rPr dirty="0" err="1"/>
              <a:t>הצהוב</a:t>
            </a:r>
            <a:r>
              <a:rPr dirty="0"/>
              <a:t>, </a:t>
            </a:r>
            <a:r>
              <a:rPr dirty="0" err="1"/>
              <a:t>כש-in_display_area_delayed</a:t>
            </a:r>
            <a:r>
              <a:rPr dirty="0"/>
              <a:t> </a:t>
            </a:r>
            <a:r>
              <a:rPr dirty="0" err="1"/>
              <a:t>עולה</a:t>
            </a:r>
            <a:r>
              <a:rPr dirty="0"/>
              <a:t> ל-'1', </a:t>
            </a:r>
            <a:r>
              <a:rPr dirty="0" err="1"/>
              <a:t>נתוני</a:t>
            </a:r>
            <a:r>
              <a:rPr dirty="0"/>
              <a:t> ה-RGB </a:t>
            </a:r>
            <a:r>
              <a:rPr dirty="0" err="1"/>
              <a:t>נפרצים</a:t>
            </a:r>
            <a:r>
              <a:rPr dirty="0"/>
              <a:t> </a:t>
            </a:r>
            <a:r>
              <a:rPr dirty="0" err="1"/>
              <a:t>החוצה</a:t>
            </a:r>
            <a:r>
              <a:rPr dirty="0"/>
              <a:t> </a:t>
            </a:r>
            <a:endParaRPr lang="he-IL" dirty="0"/>
          </a:p>
          <a:p>
            <a:pPr algn="r" rtl="1">
              <a:defRPr sz="1600"/>
            </a:pPr>
            <a:r>
              <a:rPr dirty="0"/>
              <a:t>(0 -&gt; 4,e,a).</a:t>
            </a:r>
          </a:p>
        </p:txBody>
      </p:sp>
      <p:pic>
        <p:nvPicPr>
          <p:cNvPr id="4" name="Picture 3" descr="ila_hardware_data_path_transition.png"/>
          <p:cNvPicPr>
            <a:picLocks noChangeAspect="1"/>
          </p:cNvPicPr>
          <p:nvPr/>
        </p:nvPicPr>
        <p:blipFill rotWithShape="1">
          <a:blip r:embed="rId2"/>
          <a:srcRect l="1024" t="12018" r="2924"/>
          <a:stretch/>
        </p:blipFill>
        <p:spPr>
          <a:xfrm>
            <a:off x="0" y="2310064"/>
            <a:ext cx="9143999" cy="480081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159" y="545058"/>
            <a:ext cx="8229600" cy="1143000"/>
          </a:xfrm>
        </p:spPr>
        <p:txBody>
          <a:bodyPr>
            <a:normAutofit/>
          </a:bodyPr>
          <a:lstStyle/>
          <a:p>
            <a:pPr algn="ctr" rtl="1"/>
            <a:r>
              <a:rPr lang="he-IL" dirty="0"/>
              <a:t>כאן יכנס החלק של העיבוד תמונה </a:t>
            </a:r>
            <a:endParaRPr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F1C63A57-3DB7-4F5B-9E36-98E3FDDBEFAB}"/>
              </a:ext>
            </a:extLst>
          </p:cNvPr>
          <p:cNvSpPr txBox="1"/>
          <p:nvPr/>
        </p:nvSpPr>
        <p:spPr>
          <a:xfrm rot="10800000" flipV="1">
            <a:off x="2879835" y="5507420"/>
            <a:ext cx="55389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של השותף שלי אלעד </a:t>
            </a:r>
            <a:r>
              <a:rPr lang="he-IL" dirty="0" err="1"/>
              <a:t>אסבג</a:t>
            </a:r>
            <a:r>
              <a:rPr lang="he-IL" dirty="0"/>
              <a:t> היקר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rtl="1"/>
            <a:r>
              <a:rPr dirty="0" err="1"/>
              <a:t>פיתוח</a:t>
            </a:r>
            <a:r>
              <a:rPr dirty="0"/>
              <a:t> </a:t>
            </a:r>
            <a:r>
              <a:rPr dirty="0" err="1"/>
              <a:t>עתידי</a:t>
            </a:r>
            <a:r>
              <a:rPr dirty="0"/>
              <a:t>: </a:t>
            </a:r>
            <a:br>
              <a:rPr lang="he-IL" dirty="0"/>
            </a:br>
            <a:r>
              <a:rPr dirty="0" err="1"/>
              <a:t>מעבר</a:t>
            </a:r>
            <a:r>
              <a:rPr dirty="0"/>
              <a:t> </a:t>
            </a:r>
            <a:r>
              <a:rPr dirty="0" err="1"/>
              <a:t>מזיהוי</a:t>
            </a:r>
            <a:r>
              <a:rPr dirty="0"/>
              <a:t> </a:t>
            </a:r>
            <a:r>
              <a:rPr dirty="0" err="1"/>
              <a:t>תנועה</a:t>
            </a:r>
            <a:r>
              <a:rPr dirty="0"/>
              <a:t> </a:t>
            </a:r>
            <a:r>
              <a:rPr dirty="0" err="1"/>
              <a:t>גולמי</a:t>
            </a:r>
            <a:r>
              <a:rPr dirty="0"/>
              <a:t> ל-Edge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466798" y="1179644"/>
            <a:ext cx="10333150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האתגר</a:t>
            </a:r>
            <a:r>
              <a:rPr dirty="0"/>
              <a:t> </a:t>
            </a:r>
            <a:r>
              <a:rPr dirty="0" err="1"/>
              <a:t>במערכת</a:t>
            </a:r>
            <a:r>
              <a:rPr dirty="0"/>
              <a:t> </a:t>
            </a:r>
            <a:r>
              <a:rPr dirty="0" err="1"/>
              <a:t>הנוכחית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אלגוריתמי</a:t>
            </a:r>
            <a:r>
              <a:rPr dirty="0"/>
              <a:t> </a:t>
            </a:r>
            <a:r>
              <a:rPr dirty="0" err="1"/>
              <a:t>השוואת</a:t>
            </a:r>
            <a:r>
              <a:rPr dirty="0"/>
              <a:t> </a:t>
            </a:r>
            <a:r>
              <a:rPr dirty="0" err="1"/>
              <a:t>פריימים</a:t>
            </a:r>
            <a:r>
              <a:rPr dirty="0"/>
              <a:t> </a:t>
            </a:r>
            <a:r>
              <a:rPr dirty="0" err="1"/>
              <a:t>מזהים</a:t>
            </a:r>
            <a:r>
              <a:rPr dirty="0"/>
              <a:t> </a:t>
            </a:r>
            <a:r>
              <a:rPr dirty="0" err="1"/>
              <a:t>שינוי</a:t>
            </a:r>
            <a:r>
              <a:rPr dirty="0"/>
              <a:t> </a:t>
            </a:r>
            <a:r>
              <a:rPr dirty="0" err="1"/>
              <a:t>פיקסליירי</a:t>
            </a:r>
            <a:r>
              <a:rPr dirty="0"/>
              <a:t>, </a:t>
            </a:r>
            <a:r>
              <a:rPr dirty="0" err="1"/>
              <a:t>אך</a:t>
            </a:r>
            <a:r>
              <a:rPr dirty="0"/>
              <a:t> </a:t>
            </a:r>
            <a:r>
              <a:rPr dirty="0" err="1"/>
              <a:t>אינם</a:t>
            </a:r>
            <a:r>
              <a:rPr dirty="0"/>
              <a:t> </a:t>
            </a:r>
            <a:r>
              <a:rPr dirty="0" err="1"/>
              <a:t>יודעים</a:t>
            </a:r>
            <a:r>
              <a:rPr dirty="0"/>
              <a:t> </a:t>
            </a:r>
            <a:r>
              <a:rPr dirty="0" err="1"/>
              <a:t>להבדיל</a:t>
            </a:r>
            <a:r>
              <a:rPr dirty="0"/>
              <a:t> </a:t>
            </a:r>
            <a:r>
              <a:rPr dirty="0" err="1"/>
              <a:t>בין</a:t>
            </a:r>
            <a:r>
              <a:rPr dirty="0"/>
              <a:t> </a:t>
            </a:r>
            <a:r>
              <a:rPr dirty="0" err="1"/>
              <a:t>נפילת</a:t>
            </a:r>
            <a:r>
              <a:rPr dirty="0"/>
              <a:t> </a:t>
            </a:r>
            <a:r>
              <a:rPr dirty="0" err="1"/>
              <a:t>אדם</a:t>
            </a:r>
            <a:r>
              <a:rPr dirty="0"/>
              <a:t> </a:t>
            </a:r>
            <a:r>
              <a:rPr dirty="0" err="1"/>
              <a:t>לנפילת</a:t>
            </a:r>
            <a:r>
              <a:rPr dirty="0"/>
              <a:t> </a:t>
            </a:r>
            <a:r>
              <a:rPr dirty="0" err="1"/>
              <a:t>חפץ</a:t>
            </a:r>
            <a:r>
              <a:rPr dirty="0"/>
              <a:t> </a:t>
            </a:r>
            <a:r>
              <a:rPr dirty="0" err="1"/>
              <a:t>דומם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פתרון</a:t>
            </a:r>
            <a:r>
              <a:rPr dirty="0"/>
              <a:t> PoC </a:t>
            </a:r>
            <a:r>
              <a:rPr dirty="0" err="1"/>
              <a:t>ברסברי</a:t>
            </a:r>
            <a:r>
              <a:rPr dirty="0"/>
              <a:t> </a:t>
            </a:r>
            <a:r>
              <a:rPr dirty="0" err="1"/>
              <a:t>פאי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 </a:t>
            </a:r>
            <a:r>
              <a:rPr dirty="0" err="1"/>
              <a:t>הרצת</a:t>
            </a:r>
            <a:r>
              <a:rPr dirty="0"/>
              <a:t> </a:t>
            </a:r>
            <a:r>
              <a:rPr dirty="0" err="1"/>
              <a:t>מודל</a:t>
            </a:r>
            <a:r>
              <a:rPr dirty="0"/>
              <a:t> AI </a:t>
            </a:r>
            <a:r>
              <a:rPr dirty="0" err="1"/>
              <a:t>קליל</a:t>
            </a:r>
            <a:r>
              <a:rPr dirty="0"/>
              <a:t> (Lightweight Deep Learning) </a:t>
            </a:r>
            <a:r>
              <a:rPr lang="he-IL" dirty="0"/>
              <a:t> </a:t>
            </a:r>
            <a:r>
              <a:rPr dirty="0" err="1"/>
              <a:t>לזיהוי</a:t>
            </a:r>
            <a:r>
              <a:rPr dirty="0"/>
              <a:t> </a:t>
            </a:r>
            <a:r>
              <a:rPr dirty="0" err="1"/>
              <a:t>מדויק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בני</a:t>
            </a:r>
            <a:r>
              <a:rPr dirty="0"/>
              <a:t> </a:t>
            </a:r>
            <a:r>
              <a:rPr dirty="0" err="1"/>
              <a:t>אדם</a:t>
            </a:r>
            <a:r>
              <a:rPr dirty="0"/>
              <a:t> </a:t>
            </a:r>
            <a:r>
              <a:rPr dirty="0" err="1"/>
              <a:t>מקומית</a:t>
            </a:r>
            <a:r>
              <a:rPr dirty="0"/>
              <a:t> (Edge) </a:t>
            </a:r>
            <a:r>
              <a:rPr dirty="0" err="1"/>
              <a:t>בזמן</a:t>
            </a:r>
            <a:r>
              <a:rPr dirty="0"/>
              <a:t> </a:t>
            </a:r>
            <a:r>
              <a:rPr dirty="0" err="1"/>
              <a:t>אמת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המטרה</a:t>
            </a:r>
            <a:r>
              <a:rPr dirty="0"/>
              <a:t>: </a:t>
            </a:r>
            <a:endParaRPr lang="he-IL" dirty="0"/>
          </a:p>
          <a:p>
            <a:pPr algn="r" rtl="1">
              <a:defRPr sz="1600"/>
            </a:pPr>
            <a:r>
              <a:rPr lang="he-IL" dirty="0"/>
              <a:t>  </a:t>
            </a:r>
            <a:r>
              <a:rPr dirty="0" err="1"/>
              <a:t>לשלב</a:t>
            </a:r>
            <a:r>
              <a:rPr dirty="0"/>
              <a:t> </a:t>
            </a:r>
            <a:r>
              <a:rPr dirty="0" err="1"/>
              <a:t>בעתיד</a:t>
            </a:r>
            <a:r>
              <a:rPr dirty="0"/>
              <a:t> </a:t>
            </a:r>
            <a:r>
              <a:rPr dirty="0" err="1"/>
              <a:t>מוד</a:t>
            </a:r>
            <a:r>
              <a:rPr lang="he-IL" dirty="0"/>
              <a:t>לי</a:t>
            </a:r>
            <a:r>
              <a:rPr dirty="0"/>
              <a:t> </a:t>
            </a:r>
            <a:r>
              <a:rPr dirty="0" err="1"/>
              <a:t>זיהוי</a:t>
            </a:r>
            <a:r>
              <a:rPr dirty="0"/>
              <a:t> </a:t>
            </a:r>
            <a:r>
              <a:rPr dirty="0" err="1"/>
              <a:t>דומים</a:t>
            </a:r>
            <a:r>
              <a:rPr dirty="0"/>
              <a:t> </a:t>
            </a:r>
            <a:r>
              <a:rPr dirty="0" err="1"/>
              <a:t>ישירות</a:t>
            </a:r>
            <a:r>
              <a:rPr dirty="0"/>
              <a:t> </a:t>
            </a:r>
            <a:r>
              <a:rPr dirty="0" err="1"/>
              <a:t>בתוך</a:t>
            </a:r>
            <a:r>
              <a:rPr dirty="0"/>
              <a:t> </a:t>
            </a:r>
            <a:r>
              <a:rPr dirty="0" err="1"/>
              <a:t>ארכיטקטורת</a:t>
            </a:r>
            <a:r>
              <a:rPr dirty="0"/>
              <a:t> </a:t>
            </a:r>
            <a:r>
              <a:rPr dirty="0" err="1"/>
              <a:t>החומרה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ה-FPGA.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E8606C8B-D526-4542-B6F8-75434A253E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478" b="39358"/>
          <a:stretch/>
        </p:blipFill>
        <p:spPr>
          <a:xfrm>
            <a:off x="1208539" y="3151563"/>
            <a:ext cx="6726921" cy="355705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rtl="1"/>
            <a:r>
              <a:rPr dirty="0" err="1"/>
              <a:t>ארכיטקטורה</a:t>
            </a:r>
            <a:r>
              <a:rPr dirty="0"/>
              <a:t> </a:t>
            </a:r>
            <a:r>
              <a:rPr dirty="0" err="1"/>
              <a:t>עתידית</a:t>
            </a:r>
            <a:r>
              <a:rPr dirty="0"/>
              <a:t>: </a:t>
            </a:r>
            <a:r>
              <a:rPr dirty="0" err="1"/>
              <a:t>חלוקת</a:t>
            </a:r>
            <a:r>
              <a:rPr dirty="0"/>
              <a:t> </a:t>
            </a:r>
            <a:r>
              <a:rPr dirty="0" err="1"/>
              <a:t>עבודה</a:t>
            </a:r>
            <a:r>
              <a:rPr dirty="0"/>
              <a:t> Hardware/Software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87890" y="1071109"/>
            <a:ext cx="9169051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שילוב</a:t>
            </a:r>
            <a:r>
              <a:rPr dirty="0"/>
              <a:t> </a:t>
            </a:r>
            <a:r>
              <a:rPr dirty="0" err="1"/>
              <a:t>מעבד</a:t>
            </a:r>
            <a:r>
              <a:rPr dirty="0"/>
              <a:t> </a:t>
            </a:r>
            <a:r>
              <a:rPr dirty="0" err="1"/>
              <a:t>רך</a:t>
            </a:r>
            <a:r>
              <a:rPr dirty="0"/>
              <a:t> (Soft-Core Processor): </a:t>
            </a:r>
            <a:endParaRPr lang="he-IL" dirty="0"/>
          </a:p>
          <a:p>
            <a:pPr algn="r" rtl="1">
              <a:defRPr sz="1600"/>
            </a:pPr>
            <a:r>
              <a:rPr dirty="0" err="1"/>
              <a:t>הטמעת</a:t>
            </a:r>
            <a:r>
              <a:rPr dirty="0"/>
              <a:t> </a:t>
            </a:r>
            <a:r>
              <a:rPr dirty="0" err="1"/>
              <a:t>מעב</a:t>
            </a:r>
            <a:r>
              <a:rPr lang="he-IL" dirty="0"/>
              <a:t>ד</a:t>
            </a:r>
            <a:r>
              <a:rPr dirty="0"/>
              <a:t> </a:t>
            </a:r>
            <a:r>
              <a:rPr dirty="0" err="1"/>
              <a:t>MicroBlaze</a:t>
            </a:r>
            <a:r>
              <a:rPr dirty="0"/>
              <a:t> </a:t>
            </a:r>
            <a:r>
              <a:rPr dirty="0" err="1"/>
              <a:t>בתוך</a:t>
            </a:r>
            <a:r>
              <a:rPr dirty="0"/>
              <a:t> ה-Artix-7 FPGA.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חלוקת</a:t>
            </a:r>
            <a:r>
              <a:rPr dirty="0"/>
              <a:t> </a:t>
            </a:r>
            <a:r>
              <a:rPr dirty="0" err="1"/>
              <a:t>תפקידים</a:t>
            </a:r>
            <a:r>
              <a:rPr dirty="0"/>
              <a:t> </a:t>
            </a:r>
            <a:r>
              <a:rPr dirty="0" err="1"/>
              <a:t>חכמה</a:t>
            </a:r>
            <a:r>
              <a:rPr dirty="0"/>
              <a:t>:</a:t>
            </a:r>
          </a:p>
          <a:p>
            <a:pPr algn="r" rtl="1">
              <a:defRPr sz="1600"/>
            </a:pPr>
            <a:r>
              <a:rPr dirty="0"/>
              <a:t>   - **</a:t>
            </a:r>
            <a:r>
              <a:rPr dirty="0" err="1"/>
              <a:t>חומרה</a:t>
            </a:r>
            <a:r>
              <a:rPr dirty="0"/>
              <a:t>:** </a:t>
            </a:r>
            <a:endParaRPr lang="he-IL" dirty="0"/>
          </a:p>
          <a:p>
            <a:pPr algn="r" rtl="1">
              <a:defRPr sz="1600"/>
            </a:pPr>
            <a:r>
              <a:rPr dirty="0" err="1"/>
              <a:t>ניהול</a:t>
            </a:r>
            <a:r>
              <a:rPr dirty="0"/>
              <a:t> </a:t>
            </a:r>
            <a:r>
              <a:rPr dirty="0" err="1"/>
              <a:t>קליטת</a:t>
            </a:r>
            <a:r>
              <a:rPr dirty="0"/>
              <a:t> </a:t>
            </a:r>
            <a:r>
              <a:rPr dirty="0" err="1"/>
              <a:t>המצלמה</a:t>
            </a:r>
            <a:r>
              <a:rPr dirty="0"/>
              <a:t> (OV7670), </a:t>
            </a:r>
            <a:r>
              <a:rPr dirty="0" err="1"/>
              <a:t>זיכרון</a:t>
            </a:r>
            <a:r>
              <a:rPr dirty="0"/>
              <a:t> ה-BRAM, </a:t>
            </a:r>
            <a:r>
              <a:rPr dirty="0" err="1"/>
              <a:t>ובקר</a:t>
            </a:r>
            <a:r>
              <a:rPr dirty="0"/>
              <a:t> ה-VGA </a:t>
            </a:r>
            <a:r>
              <a:rPr dirty="0" err="1"/>
              <a:t>בזמן</a:t>
            </a:r>
            <a:r>
              <a:rPr dirty="0"/>
              <a:t> </a:t>
            </a:r>
            <a:r>
              <a:rPr dirty="0" err="1"/>
              <a:t>אמת</a:t>
            </a:r>
            <a:r>
              <a:rPr dirty="0"/>
              <a:t> </a:t>
            </a:r>
            <a:r>
              <a:rPr dirty="0" err="1"/>
              <a:t>ובמקביליות</a:t>
            </a:r>
            <a:r>
              <a:rPr dirty="0"/>
              <a:t> </a:t>
            </a:r>
            <a:r>
              <a:rPr dirty="0" err="1"/>
              <a:t>מלאה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   - **</a:t>
            </a:r>
            <a:r>
              <a:rPr dirty="0" err="1"/>
              <a:t>תוכנה</a:t>
            </a:r>
            <a:r>
              <a:rPr dirty="0"/>
              <a:t> (</a:t>
            </a:r>
            <a:r>
              <a:rPr dirty="0" err="1"/>
              <a:t>MicroBlaze</a:t>
            </a:r>
            <a:r>
              <a:rPr dirty="0"/>
              <a:t>)</a:t>
            </a:r>
            <a:endParaRPr lang="he-IL" dirty="0"/>
          </a:p>
          <a:p>
            <a:pPr algn="r" rtl="1">
              <a:defRPr sz="1600"/>
            </a:pPr>
            <a:r>
              <a:rPr dirty="0"/>
              <a:t>:** </a:t>
            </a:r>
            <a:r>
              <a:rPr dirty="0" err="1"/>
              <a:t>הרצת</a:t>
            </a:r>
            <a:r>
              <a:rPr dirty="0"/>
              <a:t> </a:t>
            </a:r>
            <a:r>
              <a:rPr dirty="0" err="1"/>
              <a:t>מודל</a:t>
            </a:r>
            <a:r>
              <a:rPr dirty="0"/>
              <a:t> </a:t>
            </a:r>
            <a:r>
              <a:rPr dirty="0" err="1"/>
              <a:t>הסקת</a:t>
            </a:r>
            <a:r>
              <a:rPr dirty="0"/>
              <a:t> ה-AI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הפריימים</a:t>
            </a:r>
            <a:r>
              <a:rPr dirty="0"/>
              <a:t> </a:t>
            </a:r>
            <a:r>
              <a:rPr dirty="0" err="1"/>
              <a:t>שנדגמו</a:t>
            </a:r>
            <a:r>
              <a:rPr dirty="0"/>
              <a:t> </a:t>
            </a:r>
            <a:r>
              <a:rPr dirty="0" err="1"/>
              <a:t>וקבלת</a:t>
            </a:r>
            <a:r>
              <a:rPr dirty="0"/>
              <a:t> </a:t>
            </a:r>
            <a:r>
              <a:rPr dirty="0" err="1"/>
              <a:t>ההחלטה</a:t>
            </a:r>
            <a:r>
              <a:rPr dirty="0"/>
              <a:t> </a:t>
            </a:r>
            <a:r>
              <a:rPr dirty="0" err="1"/>
              <a:t>הקריטית</a:t>
            </a:r>
            <a:r>
              <a:rPr dirty="0"/>
              <a:t>.</a:t>
            </a:r>
          </a:p>
          <a:p>
            <a:pPr algn="r" rtl="1">
              <a:defRPr sz="1600"/>
            </a:pPr>
            <a:r>
              <a:rPr dirty="0"/>
              <a:t>• </a:t>
            </a:r>
            <a:r>
              <a:rPr dirty="0" err="1"/>
              <a:t>יתרון</a:t>
            </a:r>
            <a:r>
              <a:rPr dirty="0"/>
              <a:t> </a:t>
            </a:r>
            <a:r>
              <a:rPr dirty="0" err="1"/>
              <a:t>מרכזי</a:t>
            </a:r>
            <a:r>
              <a:rPr dirty="0"/>
              <a:t>: </a:t>
            </a:r>
            <a:r>
              <a:rPr dirty="0" err="1"/>
              <a:t>שמירה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ביצועי</a:t>
            </a:r>
            <a:r>
              <a:rPr dirty="0"/>
              <a:t> </a:t>
            </a:r>
            <a:r>
              <a:rPr dirty="0" err="1"/>
              <a:t>חומרה</a:t>
            </a:r>
            <a:r>
              <a:rPr dirty="0"/>
              <a:t> </a:t>
            </a:r>
            <a:r>
              <a:rPr dirty="0" err="1"/>
              <a:t>קשיחים</a:t>
            </a:r>
            <a:r>
              <a:rPr dirty="0"/>
              <a:t> (Real-Time) </a:t>
            </a:r>
            <a:r>
              <a:rPr dirty="0" err="1"/>
              <a:t>לצד</a:t>
            </a:r>
            <a:r>
              <a:rPr dirty="0"/>
              <a:t> </a:t>
            </a:r>
            <a:r>
              <a:rPr dirty="0" err="1"/>
              <a:t>גמישות</a:t>
            </a:r>
            <a:r>
              <a:rPr dirty="0"/>
              <a:t> </a:t>
            </a:r>
            <a:r>
              <a:rPr dirty="0" err="1"/>
              <a:t>אלגוריתמית</a:t>
            </a:r>
            <a:r>
              <a:rPr dirty="0"/>
              <a:t> </a:t>
            </a:r>
            <a:r>
              <a:rPr dirty="0" err="1"/>
              <a:t>גבוהה</a:t>
            </a:r>
            <a:r>
              <a:rPr dirty="0"/>
              <a:t>.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45BB0E1-7D7E-4FC6-9E99-3544F364F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253" b="13721"/>
          <a:stretch/>
        </p:blipFill>
        <p:spPr>
          <a:xfrm>
            <a:off x="682631" y="3757807"/>
            <a:ext cx="8204622" cy="27378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2434</Words>
  <Application>Microsoft Office PowerPoint</Application>
  <PresentationFormat>‫הצגה על המסך (4:3)</PresentationFormat>
  <Paragraphs>252</Paragraphs>
  <Slides>28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פיתוח מערכת מבוססת FPGA להתראת נפילה לחולי דמנציה</vt:lpstr>
      <vt:lpstr>ארכיטקטורת המערכת</vt:lpstr>
      <vt:lpstr>מבוא ל-VGA קונספט תותח האלקטרונים (CRT)</vt:lpstr>
      <vt:lpstr>מבוא ל-VGA סריקה קווית (Raster Scan)</vt:lpstr>
      <vt:lpstr>תזמוני VGA: הפיזיקה מאחורי המספרים</vt:lpstr>
      <vt:lpstr>תזמונים בחומרה  (VGA Controller)</vt:lpstr>
      <vt:lpstr>עיבוד הפיקסל:  ניתוב ל-RGB ומנגנון ה-Blanking</vt:lpstr>
      <vt:lpstr>המרת DAC  ומחבר ה-VGA</vt:lpstr>
      <vt:lpstr>משקלי הביטים:</vt:lpstr>
      <vt:lpstr>מבט-על: זרימת נתונים ותחומי שעון</vt:lpstr>
      <vt:lpstr>ניהול שעונים במערכת  (Clock Generator)</vt:lpstr>
      <vt:lpstr>זיכרון הBRAM (Frame Buffer)</vt:lpstr>
      <vt:lpstr>ממשק המצלמה, מהעולם הפיזי אל הזיכרון</vt:lpstr>
      <vt:lpstr>ממשק הזיכרון (BRAM) וסנכרון נתונים למסך</vt:lpstr>
      <vt:lpstr>אימות מסלול הנתונים  VGA Controller ↔ BRAM</vt:lpstr>
      <vt:lpstr>אימות התקן: מחזור שורה שלם (Ts)</vt:lpstr>
      <vt:lpstr>האזור הפעיל (Tdisp)</vt:lpstr>
      <vt:lpstr>Front Porch</vt:lpstr>
      <vt:lpstr>Back Porch</vt:lpstr>
      <vt:lpstr>Tpw</vt:lpstr>
      <vt:lpstr>מתאוריה לסיליקון</vt:lpstr>
      <vt:lpstr>דיבוג בתוך הסיליקון:    Vivado ILA  קופסה לבנה</vt:lpstr>
      <vt:lpstr>עלות הדיבוג: ניתוח Trade-offs</vt:lpstr>
      <vt:lpstr>utilization</vt:lpstr>
      <vt:lpstr>Post-Silicon Validation</vt:lpstr>
      <vt:lpstr>כאן יכנס החלק של העיבוד תמונה </vt:lpstr>
      <vt:lpstr>פיתוח עתידי:  מעבר מזיהוי תנועה גולמי ל-Edge AI</vt:lpstr>
      <vt:lpstr>ארכיטקטורה עתידית: חלוקת עבודה Hardware/Software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פיתוח מערכת מבוססת FPGA להתראת נפילה לחולי דמנציה</dc:title>
  <dc:subject/>
  <dc:creator>USER</dc:creator>
  <cp:keywords/>
  <dc:description>generated using python-pptx</dc:description>
  <cp:lastModifiedBy>yosi brim</cp:lastModifiedBy>
  <cp:revision>98</cp:revision>
  <dcterms:created xsi:type="dcterms:W3CDTF">2013-01-27T09:14:16Z</dcterms:created>
  <dcterms:modified xsi:type="dcterms:W3CDTF">2026-08-17T14:31:26Z</dcterms:modified>
  <cp:category/>
</cp:coreProperties>
</file>