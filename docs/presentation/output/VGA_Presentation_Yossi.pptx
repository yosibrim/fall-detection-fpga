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 VGA: הפיזיקה מאחורי המספרים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פרמטר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מחזורי שעון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הצורך הפיזיקלי המקורי (CRT)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המימוש שלנו (RTL)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Active 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הקרן מציירת את הפיקסלים הפיזיים על המסך משמאל לימין.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שליפת נתונים מה-BRAM ושידור צבע (RGB) פעיל.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Front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מרווח זמן לקרן 'להירגע' בסוף השורה לפני שחוזרת אחורה.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כיבוי מיידי של ה-RGB ל-'0000' למניעת מריחות.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Sync Pulse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מכת מתח (טריגר) שמאלצת את הקרן לקפוץ חזרה שמאלה.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הורדת האות הפיזי HSYNC ל-'0' למשך 96 שעונים.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Back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המתנה לייצוב הקרן בתחילת השורה החדשה בצד שמאל.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המשך השהיית ה-RGB על '0000' עד הגעה לפיקסל הראשון.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 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סיכום תיאורטי: לקראת ארכיטקטורת החומרה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האתגר הפיזיקלי: ראינו שהמסך החיצוני דורש תזמונים מדויקים ונוקשים (Sync, Blanking) והמרת צבע רציפה (DAC) כדי לפעול כראוי.</a:t>
            </a:r>
          </a:p>
          <a:p>
            <a:pPr algn="r" rtl="1">
              <a:defRPr sz="1600"/>
            </a:pPr>
            <a:r>
              <a:t>• המעבר פנימה (FPGA): כדי לייצר את האותות הללו בזמן אמת ובאמינות מוחלטת, אנו נכנסים אל תוך הלוגיקה הדיגיטלית (RTL) על הכרטיס.</a:t>
            </a:r>
          </a:p>
          <a:p>
            <a:pPr algn="r" rtl="1">
              <a:defRPr sz="1600"/>
            </a:pPr>
            <a:r>
              <a:t>• תפקיד ה-VGA Controller: זהו רכיב הגישור הסופי במערכת. הוא שואב נתונים מהזיכרון הפנימי ומתרגם אותם לאותות הפיזיים שהמסך דורש.</a:t>
            </a:r>
          </a:p>
          <a:p>
            <a:pPr algn="r" rtl="1">
              <a:defRPr sz="1600"/>
            </a:pPr>
            <a:r>
              <a:t>• התחנה הבאה: נמפה את האקו-סיסטם על הכרטיס (שעונים, מצלמה, חוצץ זיכרון) ולאחר מכן נצלול פנימה אל הלוגיקה של בקר ה-VGA עצמו.</a:t>
            </a:r>
          </a:p>
        </p:txBody>
      </p:sp>
      <p:pic>
        <p:nvPicPr>
          <p:cNvPr id="4" name="Picture 3" descr="vga_fpga_to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91840"/>
            <a:ext cx="4572000" cy="25028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8229600" cy="43427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926080"/>
            <a:ext cx="3657600" cy="347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2926080"/>
            <a:ext cx="3657600" cy="3474720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זיכרון ה-BRAM: חוצץ התמונה 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תצורת Dual-Port: הפרדה מוחלטת לחומרת כתיבה (A) וקריאה (B). זהו הפתרון שלנו ל-CDC (חציית תחומי שעון) המונע התנגשויות נתונים.</a:t>
            </a:r>
          </a:p>
          <a:p>
            <a:pPr algn="r" rtl="1">
              <a:defRPr sz="1600"/>
            </a:pPr>
            <a:r>
              <a:t>• שעונים א-סינכרוניים: הכתיבה (clka) מתבצעת בתדר המערכת (100MHz), בעוד הקריאה למסך (clkb) מונעת בלעדית על ידי שעון ה-VGA שלנו (25MHz).</a:t>
            </a:r>
          </a:p>
          <a:p>
            <a:pPr algn="r" rtl="1">
              <a:defRPr sz="1600"/>
            </a:pPr>
            <a:r>
              <a:t>• ממדי הזיכרון (307,200x12): הזיכרון מוקצה במדויק להכיל 307,200 פיקסלים (רזולוציה של 640x480).</a:t>
            </a:r>
          </a:p>
          <a:p>
            <a:pPr algn="r" rtl="1">
              <a:defRPr sz="1600"/>
            </a:pPr>
            <a:r>
              <a:t>• תפוקת הנתונים: האות doutb משחרר 12 ביט של צבע (RGB) בכל מחזור שעון (25MHz) ישירות לבקר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21654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המצלמה: מהעולם הפיזי אל הזיכרון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הגשר הפיזי (XCLK מול PCLK): ה-FPGA מפיק 24MHz (XCLK) החוצה להפעלת המצלמה. בתגובה, המצלמה משדרת חזרה פיקסלים יחד עם שעון סנכרון עצמאי משלה (PCLK).</a:t>
            </a:r>
          </a:p>
          <a:p>
            <a:pPr algn="r" rtl="1">
              <a:defRPr sz="1600"/>
            </a:pPr>
            <a:r>
              <a:t>• לכידת הנתונים: רכיב ה-ov7670_capture רץ בתדר המערכת (100MHz) המאפשר דגימה מהירה ובטוחה של ה-PCLK ואסיפת 12 ביט של צבע.</a:t>
            </a:r>
          </a:p>
          <a:p>
            <a:pPr algn="r" rtl="1">
              <a:defRPr sz="1600"/>
            </a:pPr>
            <a:r>
              <a:t>• כתיבה לזיכרון: הבלוק מייצר את הכתובת (addra), המידע (dina), ודגל הכתיבה (wea) ודוחף אותם לפורט A של ה-BRAM.</a:t>
            </a:r>
          </a:p>
        </p:txBody>
      </p:sp>
      <p:pic>
        <p:nvPicPr>
          <p:cNvPr id="4" name="Picture 3" descr="camera_capture_flow.p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59142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הזיכרון (BRAM): ממדים וסנכרון נתונים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תרגום קואורדינטות: הכתובת לזיכרון (addrb באורך 19 ביט) מחושבת מתמטית לפי המיקום באזור הפעיל: Y * 640 + X.</a:t>
            </a:r>
          </a:p>
          <a:p>
            <a:pPr algn="r" rtl="1">
              <a:defRPr sz="1600"/>
            </a:pPr>
            <a:r>
              <a:t>• מנגנון ה-Pipeline (עיכוב מכוון): הקריאה מהזיכרון א-סינכרונית. כדי להבטיח יציבות, הקוד נועל את הנתון הנכנס (doutb) לתוך אוגר פנימי (pxl_data_reg) בעליית השעון הבאה.</a:t>
            </a:r>
          </a:p>
          <a:p>
            <a:pPr algn="r" rtl="1">
              <a:defRPr sz="1600"/>
            </a:pPr>
            <a:r>
              <a:t>• סנכרון שומר הסף: כדי לפצות על השהיית הזיכרון, דגל אזור התצוגה (in_display_area) מושהה גם הוא במחזור שעון אחד (ל-in_display_area_delayed).</a:t>
            </a:r>
          </a:p>
          <a:p>
            <a:pPr algn="r" rtl="1">
              <a:defRPr sz="1600"/>
            </a:pPr>
            <a:r>
              <a:t>• ניתוב דיגיטלי (Mux): רק כאשר הדגל המושהה דולק, 12 הביטים מפוצלים ומנותבים ליציאות VGA_R, VGA_G ו-VGA_B (4 ביטים לצבע).</a:t>
            </a:r>
          </a:p>
        </p:txBody>
      </p:sp>
      <p:pic>
        <p:nvPicPr>
          <p:cNvPr id="4" name="Picture 3" descr="vga_address_logic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657600"/>
            <a:ext cx="4572000" cy="44871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אימות מסלול הנתונים: VGA Controller ↔ BRAM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מטרת הסימולציה: הוכחת לחיצת היד (Handshake) שבין בקשת הכתובת (addrb) לקבלת נתוני הפיקסל (doutb).</a:t>
            </a:r>
          </a:p>
          <a:p>
            <a:pPr algn="r" rtl="1">
              <a:defRPr sz="1600"/>
            </a:pPr>
            <a:r>
              <a:t>• דגימה בזמן אמת: ניתן לראות בבירור כיצד הכתובת עולה, המידע מופיע מיידית ב-doutb (קריאה א-סינכרונית), וננעל באוגר pxl_data_reg בעליית השעון הבאה.</a:t>
            </a:r>
          </a:p>
          <a:p>
            <a:pPr algn="r" rtl="1">
              <a:defRPr sz="1600"/>
            </a:pPr>
            <a:r>
              <a:t>• מניעת זבל ויזואלי: הסימולציה מוכיחה שבמעבר ל-Blanking (סוף שורה), יציאות ה-RGB נחתכות ל-0 מיידית, למרות שהזיכרון עדיין פולט מידע ישן.</a:t>
            </a:r>
          </a:p>
        </p:txBody>
      </p:sp>
      <p:pic>
        <p:nvPicPr>
          <p:cNvPr id="4" name="Picture 3" descr="modelsim_data_pat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9331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לאימות התקן: מחזור שורה שלם (Ts)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שלב ב' - מהדיגיטל לפיזיקה: לאחר שהוכחנו את אמינות שליפת הנתונים מהזיכרון, כעת נוכיח שהחומרה מייצרת את התזמונים הפיזיים הנדרשים בתקן ה-VGA.</a:t>
            </a:r>
          </a:p>
          <a:p>
            <a:pPr algn="r" rtl="1">
              <a:defRPr sz="1600"/>
            </a:pPr>
            <a:r>
              <a:t>• מפת הדרכים (Macro to Micro): נתחיל ממבט-על של שורת מסך שלמה, ונצלול בהדרגה לניתוח האזורים הפעילים, זמני ההמתנה (Porches) ודופק הסנכרון.</a:t>
            </a:r>
          </a:p>
          <a:p>
            <a:pPr algn="r" rtl="1">
              <a:defRPr sz="1600"/>
            </a:pPr>
            <a:r>
              <a:t>• הוכחת מחזור השורה: התקן דורש 800 מחזורי שעון. מונה ה-hsync_reg סופר 0-799 במדויק, ומדידת הסמנים מוכיחה דלתא של 32us.</a:t>
            </a:r>
          </a:p>
        </p:txBody>
      </p:sp>
      <p:pic>
        <p:nvPicPr>
          <p:cNvPr id="4" name="Picture 3" descr="modelsim_full_line_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2188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ליבת התצוגה: אימות האזור הפעיל (Tdisp)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תזמון הנתונים: מתוך כלל מחזור השורה, מוקצים בדיוק 640 מחזורי שעון לציור הפיקסלים (25.6us).</a:t>
            </a:r>
          </a:p>
          <a:p>
            <a:pPr algn="r" rtl="1">
              <a:defRPr sz="1600"/>
            </a:pPr>
            <a:r>
              <a:t>• דגל הבקרה: האות in_display_area עולה ל-'1' ומאפשר את שליפת הנתונים רק בטווח המורשה.</a:t>
            </a:r>
          </a:p>
          <a:p>
            <a:pPr algn="r" rtl="1">
              <a:defRPr sz="1600"/>
            </a:pPr>
            <a:r>
              <a:t>• מונה הפיקסלים הפעיל: המונה display_x סופר במדויק מ-0 ועד 639. לאורך כל החלון הזה, יציאות ה-RGB פולטות נתונים אקטיביים למסך.</a:t>
            </a:r>
          </a:p>
        </p:txBody>
      </p:sp>
      <p:pic>
        <p:nvPicPr>
          <p:cNvPr id="4" name="Picture 3" descr="modelsim_active_display_t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84333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אכיפת Blanking: שוליים (Porches)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משמעות ה'זמנים המתים': ה-Front Porch (16 שעונים) וה-Back Porch (48 שעונים) נועדו לייצוב תנועת הקרן.</a:t>
            </a:r>
          </a:p>
          <a:p>
            <a:pPr algn="r" rtl="1">
              <a:defRPr sz="1600"/>
            </a:pPr>
            <a:r>
              <a:t>• אכיפה לוגית: בסימולציה ניתן לראות כי ברגע שהקרן חורגת מהאזור הפעיל (display_x מסתיים), המערכת מאלצת את כל ערוצי ה-RGB ל-'0000'.</a:t>
            </a:r>
          </a:p>
          <a:p>
            <a:pPr algn="r" rtl="1">
              <a:defRPr sz="1600"/>
            </a:pPr>
            <a:r>
              <a:t>• התוצאה: שחור מוחלט על המסך באזורי המעבר, מה שמונע 'מריחות' צבע ומאפשר למסך להסתנכרן בצורה חלקה.</a:t>
            </a:r>
          </a:p>
        </p:txBody>
      </p:sp>
      <p:pic>
        <p:nvPicPr>
          <p:cNvPr id="4" name="Picture 3" descr="modelsim_porches_bl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7547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אכיפת Blanking: המרפסת האחורית (Back Porch)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זמן המתנה (Back Porch): לאחר סיום דופק הסנכרון, המערכת ממתינה 48 מחזורי שעון (1.92us) לייצוב הקרן בתחילת השורה.</a:t>
            </a:r>
          </a:p>
          <a:p>
            <a:pPr algn="r" rtl="1">
              <a:defRPr sz="1600"/>
            </a:pPr>
            <a:r>
              <a:t>• המשך החשכה: בדומה למרפסת הקדמית, ה-RGB מוחזק במכוון על '0000' כדי למנוע זליגות צבע.</a:t>
            </a:r>
          </a:p>
          <a:p>
            <a:pPr algn="r" rtl="1">
              <a:defRPr sz="1600"/>
            </a:pPr>
            <a:r>
              <a:t>• חזרת הצבעים: ברגע שהאות in_display_area עולה ל-'1', רואים בבירור את נתוני ה-RGB האמיתיים מהזיכרון פורצים החוצה ומציירים את הפיקסל הראשון.</a:t>
            </a:r>
          </a:p>
        </p:txBody>
      </p:sp>
      <p:pic>
        <p:nvPicPr>
          <p:cNvPr id="4" name="Picture 3" descr="modelsim_back_po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2188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דופק הסנכרון (Tpw) ווריפיקציה אוטומטית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אות ה-HSYNC: זהו הטריגר הפיזי המורה למסך לבצע Retrace לתחילת השורה הבאה.</a:t>
            </a:r>
          </a:p>
          <a:p>
            <a:pPr algn="r" rtl="1">
              <a:defRPr sz="1600"/>
            </a:pPr>
            <a:r>
              <a:t>• דיוק של מחזור בודד: הצבת סמנים על הדילוג של האות הפיזי מוכיחה רוחב דופק מדויק של 3.84us, השקול ל-96 מחזורי שעון.</a:t>
            </a:r>
          </a:p>
          <a:p>
            <a:pPr algn="r" rtl="1">
              <a:defRPr sz="1600"/>
            </a:pPr>
            <a:r>
              <a:t>• Self-Checking Testbench: מעבר לבדיקה הוויזואלית, סביבת הבדיקה (TB) כוללת מנגנון אוטומטי (Assert) שבודק את רוחב הדופק בזמן ריצה ומתריע על כל חריגה מהתקן.</a:t>
            </a:r>
          </a:p>
        </p:txBody>
      </p:sp>
      <p:pic>
        <p:nvPicPr>
          <p:cNvPr id="4" name="Picture 3" descr="modelsim_sync_pulse_asser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00400"/>
            <a:ext cx="7315200" cy="381134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המעבר לחומרה: מסימולציה ל'קופסה שחורה'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העולם האידיאלי (ModelSim): עד כה בדקנו את הלוגיקה בסביבה וירטואלית. ראינו כל אות ומונה, אך ללא עיכובים פיזיים (Zero Latency).</a:t>
            </a:r>
          </a:p>
          <a:p>
            <a:pPr algn="r" rtl="1">
              <a:defRPr sz="1600"/>
            </a:pPr>
            <a:r>
              <a:t>• המציאות הפיזית (FPGA): לאחר סינתזה וצריבה, הלוגיקה הופכת ל'קופסה שחורה' אטומה. ישנם זמני התפשטות (Propagation delays) של האותות בתוך הסיליקון.</a:t>
            </a:r>
          </a:p>
          <a:p>
            <a:pPr algn="r" rtl="1">
              <a:defRPr sz="1600"/>
            </a:pPr>
            <a:r>
              <a:t>• מגבלת הדיבוג החיצוני: מבחוץ (למשל עם אוסצילוסקופ), ניתן למדוד רק את הפינים הפיזיים (VGA_R/G/B, Sync). אין לנו שום דרך לראות מתי המונה מתאפס או איזו כתובת נשלחת לזיכרון.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3657600"/>
            <a:ext cx="3657600" cy="1371600"/>
          </a:xfrm>
          <a:prstGeom prst="round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 b="1">
                <a:solidFill>
                  <a:srgbClr val="FFFFFF"/>
                </a:solidFill>
              </a:defRPr>
            </a:pPr>
            <a:r>
              <a:t>Artix-7 FPGA (קופסה שחורה)</a:t>
            </a:r>
          </a:p>
          <a:p>
            <a:r>
              <a:t>אין גישה לאותות פנימיים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400800" y="3931920"/>
            <a:ext cx="73152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6400800" y="4480560"/>
            <a:ext cx="73152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3840480"/>
            <a:ext cx="137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פינים בלבד</a:t>
            </a:r>
          </a:p>
          <a:p>
            <a:r>
              <a:t>(RGB, Sync)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דיבוג בתוך הסיליקון: Vivado ILA (קופסה לבנה)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הפתרון ההנדסי: הוספת Integrated Logic Analyzer (ILA) – רכיב חומרה פנימי שדוגם את האותות ומשדר אותם למחשב (בדיקת קופסה לבנה).</a:t>
            </a:r>
          </a:p>
          <a:p>
            <a:pPr algn="r" rtl="1">
              <a:defRPr sz="1600"/>
            </a:pPr>
            <a:r>
              <a:t>• היתרון (מציאות מול תיאוריה): מאפשר לראות את זמני ההשהיה האמיתיים (Latency) שבין שליחת בקשה לזיכרון (addrb) לקבלת הנתון (doutb).</a:t>
            </a:r>
          </a:p>
          <a:p>
            <a:pPr algn="r" rtl="1">
              <a:defRPr sz="1600"/>
            </a:pPr>
            <a:r>
              <a:t>• החיסרון (Trade-off): ה-ILA אינו חינמי. הוא 'גוזל' משאבי חומרה יקרים מהכרטיס (LUTs ו-BRAM) לצורך לוגיקת הדגימה ואגירת הנתונים.</a:t>
            </a:r>
          </a:p>
          <a:p>
            <a:pPr algn="r" rtl="1">
              <a:defRPr sz="1600"/>
            </a:pPr>
            <a:r>
              <a:t>• הערת תכן (ModelSim לעומת ILA): בסימולציה התמקדנו ב-display_x (מונה הפיקסלים הפעיל). בחומרה אנו דוגמים את המונה הראשי (hsync_debug המייצג את hsync_reg) הכולל אותו בתוכו, כדי לצפות גם ב-Porches ובדופק הסנכרון בזמן אמת.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47472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3200400"/>
              </a:tblGrid>
              <a:tr h="571500"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יעד הבדיקה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מגבלת ה'קופסה השחורה'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האות שנדגום ב-ILA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זרימת נתונים ו-Latency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רואים רק את הפיקסל הסופי מתחלף ביציאה.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addrb, doutb, pxl_data_reg (בדיקת צנרת)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מיקום אופקי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לא ניתן לדעת איזה פיקסל משורטט כרגע.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hsync_debug (מייצג את hsync_reg)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אכיפת שחור (Blanking)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רואים מסך חשוך, ללא הקשר תזמוני.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in_display_area_delayed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עלות הדיבוג: ניתוח משאבי חומרה (Trade-offs)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ה-ILA איננו תוכנה: זוהי חומרה פיזית (IP) המסונתזת ונצרבת על הסיליקון לצד לוגיקת התצוגה.</a:t>
            </a:r>
          </a:p>
          <a:p>
            <a:pPr algn="r" rtl="1">
              <a:defRPr sz="1600"/>
            </a:pPr>
            <a:r>
              <a:t>• פרדוקס הגודל: בקר ה-VGA שלנו יעיל מאוד וצורך משאבים אפסיים, בעוד שמערכת הדיבוג (ILA + Debug Hub) דורשת אלפי רכיבים לוגיים.</a:t>
            </a:r>
          </a:p>
          <a:p>
            <a:pPr algn="r" rtl="1">
              <a:defRPr sz="1600"/>
            </a:pPr>
            <a:r>
              <a:t>• מסקנה הנדסית: ה-ILA הוא כלי קריטי לשלבי הפיתוח (R&amp;D), אך יוסר בגרסת הייצור הסופית (Release) כדי לחסוך בשטח סיליקון ובהספק.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0" y="3291840"/>
          <a:ext cx="411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914400"/>
                <a:gridCol w="914400"/>
              </a:tblGrid>
              <a:tr h="571500"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מודול (Module)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LUTs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BRAM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VGA Controller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ILA + Debug 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1,732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2,642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1.5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Total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2,756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105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device_view_with_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3840480" cy="1900189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Post-Silicon Validation: מסלול הנתונים בסיליקון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בניגוד לסימולציה האידיאלית (בשקף 16), כאן אנו דוגמים את החומרה הפיזית פועלת בזמן אמת באמצעות ה-ILA.</a:t>
            </a:r>
          </a:p>
          <a:p>
            <a:pPr algn="r" rtl="1">
              <a:defRPr sz="1600"/>
            </a:pPr>
            <a:r>
              <a:t>• השהיית זיכרון (Latency): שימו לב לפער הפיזי - הכתובת 266880 נשלחת (bram_address_reg), אך הנתון 4ea מופיע רק לאחר מכן.</a:t>
            </a:r>
          </a:p>
          <a:p>
            <a:pPr algn="r" rtl="1">
              <a:defRPr sz="1600"/>
            </a:pPr>
            <a:r>
              <a:t>• אכיפת שומר הסף: למרות שהאוגר התמלא, רק בקו הצהוב, כש-in_display_area_delayed עולה ל-'1', נתוני ה-RGB נפרצים החוצה (0 -&gt; 4,e,a).</a:t>
            </a:r>
          </a:p>
        </p:txBody>
      </p:sp>
      <p:pic>
        <p:nvPicPr>
          <p:cNvPr id="4" name="Picture 3" descr="ila_hardware_data_path_tran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8229600" cy="418479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סיכום וריפיקציה: סימולציה (ModelSim) מול סיליקון (ILA)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05840"/>
            <a:ext cx="8686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המעבר מקופסה שחורה ללבנה: נאלצנו להוסיף אטריביוט mark_debug ל-VHDL כדי להורות לסינתזה לשמר חוטים פנימיים למדידה (White-Box).</a:t>
            </a:r>
          </a:p>
          <a:p>
            <a:pPr algn="r" rtl="1">
              <a:defRPr sz="1600"/>
            </a:pPr>
            <a:r>
              <a:t>• הוכחת הפיזיקה: הטבלה מתארת כיצד התיאוריה מהסימולציה תורגמה לתופעות חשמליות/פיזיות בתוך רשת השערים (Netlist) של ה-FPGA.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2103120"/>
          <a:ext cx="8778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3383280"/>
              </a:tblGrid>
              <a:tr h="685800">
                <a:tc>
                  <a:txBody>
                    <a:bodyPr/>
                    <a:lstStyle/>
                    <a:p>
                      <a:pPr algn="ctr" rtl="1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האות ב-Data Path</a:t>
                      </a:r>
                    </a:p>
                  </a:txBody>
                  <a:tcPr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ModelSim (סביבה וירטואלית)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Vivado ILA (הסיליקון הפיזי)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bram_address_reg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עדכון מתמטי באפס זמן (0ns).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ניתוב פיזי: 19 חוטים שמפעילים את פורט הקריאה בזיכרון ה-BRAM.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doutb (תגובת BRAM)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המידע מופיע מיידית ובקסם.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הוכחת Latency: חשיפת זמן התגובה האמיתי של בלוק החומרה.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pxl_data_reg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השמת משתנה תוכנתית פשוטה.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יציבות חומרה: הפליפ-פלופים דוגמים את doutb כראוי למרות ההשהיה.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in_display_area_dly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דגל בוליאני (True/False).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פיקוד פיזי (Select Line) שכופה ניתוב על המרבבים (MUX) בסיליקון.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vga_r/g/b_int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מחרוזות תווים וירטואליות.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אכיפה חשמלית: חיווט הפינים לאדמה (GND) למניעת זליגות צבע אנלוגיות.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עתידי: מעבר מזיהוי תנועה גולמי ל-Edge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0584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האתגר במערכת הנוכחית: אלגוריתמי השוואת פריימים מזהים שינוי פיקסליירי, אך אינם יודעים להבדיל בין נפילת אדם לנפילת חפץ דומם.</a:t>
            </a:r>
          </a:p>
          <a:p>
            <a:pPr algn="r" rtl="1">
              <a:defRPr sz="1600"/>
            </a:pPr>
            <a:r>
              <a:t>• פתרון PoC ברסברי פאי: הרצת מודל AI קליל (Lightweight Deep Learning) לזיהוי מדויק של בני אדם מקומית (Edge) בזמן אמת.</a:t>
            </a:r>
          </a:p>
          <a:p>
            <a:pPr algn="r" rtl="1">
              <a:defRPr sz="1600"/>
            </a:pPr>
            <a:r>
              <a:t>• המטרה: לשלב בעתיד מודлли זיהוי דומים ישירות בתוך ארכיטקטורת החומרה של ה-FPGA.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384048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0070C0"/>
                </a:solidFill>
              </a:defRPr>
            </a:pPr>
            <a:r>
              <a:t>[שומר מקום: תמונת זיהוי AI - רסברי פאי]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560320"/>
            <a:ext cx="384048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0070C0"/>
                </a:solidFill>
              </a:defRPr>
            </a:pPr>
            <a:r>
              <a:t>[שומר מקום: תמונה שנייה - זיהוי אובייקטים]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ארכיטקטורה עתידית: חלוקת עבודה Hardware/Software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שילוב מעבד רך (Soft-Core Processor): הטמעת מעבד **MicroBlaze** בתוך ה-Artix-7 FPGA.</a:t>
            </a:r>
          </a:p>
          <a:p>
            <a:pPr algn="r" rtl="1">
              <a:defRPr sz="1600"/>
            </a:pPr>
            <a:r>
              <a:t>• חלוקת תפקידים חכמה:</a:t>
            </a:r>
          </a:p>
          <a:p>
            <a:pPr algn="r" rtl="1">
              <a:defRPr sz="1600"/>
            </a:pPr>
            <a:r>
              <a:t>   - **חומרה (Fabric):** ניהול קליטת המצלמה (OV7670), זיכרון ה-BRAM, ובקר ה-VGA בזמן אמת ובמקביליות מלאה.</a:t>
            </a:r>
          </a:p>
          <a:p>
            <a:pPr algn="r" rtl="1">
              <a:defRPr sz="1600"/>
            </a:pPr>
            <a:r>
              <a:t>   - **תוכנה (MicroBlaze):** הרצת מודל הסקת ה-AI על הפריימים שנדגמו וקבלת ההחלטה הקריטית.</a:t>
            </a:r>
          </a:p>
          <a:p>
            <a:pPr algn="r" rtl="1">
              <a:defRPr sz="1600"/>
            </a:pPr>
            <a:r>
              <a:t>• יתרון מרכזי: שמירה על ביצועי חומרה קשיחים (Real-Time) לצד גמישות אלגוריתמית גבוהה.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