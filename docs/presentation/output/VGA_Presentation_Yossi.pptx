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1" r:id="rId5"/>
    <p:sldId id="262" r:id="rId6"/>
    <p:sldId id="259" r:id="rId7"/>
    <p:sldId id="260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9" d="100"/>
          <a:sy n="69" d="100"/>
        </p:scale>
        <p:origin x="1200" y="-2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696C104B-F61A-49D2-8757-79C5247B1EC1}" type="datetimeFigureOut">
              <a:rPr lang="he-IL" smtClean="0"/>
              <a:t>כ"ח/אב/תשפ"ו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B2A7F979-E4CC-4151-95D3-2806A962EC1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27502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A7F979-E4CC-4151-95D3-2806A962EC1D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2103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546" y="1614595"/>
            <a:ext cx="711290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תמונה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ממצלמת</a:t>
            </a:r>
            <a:r>
              <a:rPr dirty="0"/>
              <a:t> OV7670 </a:t>
            </a:r>
            <a:r>
              <a:rPr dirty="0" err="1"/>
              <a:t>והצגתה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כרטיס</a:t>
            </a:r>
            <a:r>
              <a:rPr dirty="0"/>
              <a:t> Artix-7.</a:t>
            </a:r>
            <a:br>
              <a:rPr lang="en-US" dirty="0"/>
            </a:br>
            <a:r>
              <a:rPr lang="he-IL" dirty="0"/>
              <a:t>על מנת לאפשר עיבוד  תמונה </a:t>
            </a:r>
            <a:r>
              <a:rPr lang="he-IL" dirty="0" err="1"/>
              <a:t>לזהויי</a:t>
            </a:r>
            <a:r>
              <a:rPr lang="he-IL" dirty="0"/>
              <a:t> עמידה ממשוכת לחולי דמנציה </a:t>
            </a:r>
            <a:endParaRPr dirty="0"/>
          </a:p>
        </p:txBody>
      </p:sp>
      <p:pic>
        <p:nvPicPr>
          <p:cNvPr id="4" name="Picture 3" descr="image_464c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268753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9234" y="5760720"/>
            <a:ext cx="6625532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rPr dirty="0" err="1"/>
              <a:t>מגיש</a:t>
            </a:r>
            <a:r>
              <a:rPr dirty="0"/>
              <a:t>: יוסי ברים </a:t>
            </a:r>
            <a:r>
              <a:rPr dirty="0" err="1"/>
              <a:t>הנדסת</a:t>
            </a:r>
            <a:r>
              <a:rPr dirty="0"/>
              <a:t> </a:t>
            </a:r>
            <a:r>
              <a:rPr dirty="0" err="1"/>
              <a:t>חשמל</a:t>
            </a:r>
            <a:r>
              <a:rPr dirty="0"/>
              <a:t> </a:t>
            </a:r>
            <a:r>
              <a:rPr dirty="0" err="1"/>
              <a:t>שנה</a:t>
            </a:r>
            <a:r>
              <a:rPr dirty="0"/>
              <a:t> ד </a:t>
            </a:r>
            <a:r>
              <a:rPr dirty="0" err="1"/>
              <a:t>המרכז</a:t>
            </a:r>
            <a:r>
              <a:rPr dirty="0"/>
              <a:t> </a:t>
            </a:r>
            <a:r>
              <a:rPr dirty="0" err="1"/>
              <a:t>האקדמי</a:t>
            </a:r>
            <a:r>
              <a:rPr dirty="0"/>
              <a:t> </a:t>
            </a:r>
            <a:r>
              <a:rPr dirty="0" err="1"/>
              <a:t>לב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dirty="0" err="1"/>
              <a:t>ארכיטקטורת</a:t>
            </a:r>
            <a:r>
              <a:rPr dirty="0"/>
              <a:t> </a:t>
            </a:r>
            <a:r>
              <a:rPr dirty="0" err="1"/>
              <a:t>המערכת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r" rtl="1">
              <a:defRPr sz="1800"/>
            </a:pPr>
            <a:r>
              <a:rPr lang="he-IL" dirty="0"/>
              <a:t>            </a:t>
            </a:r>
            <a:r>
              <a:rPr dirty="0" err="1"/>
              <a:t>נתוני</a:t>
            </a:r>
            <a:r>
              <a:rPr dirty="0"/>
              <a:t> </a:t>
            </a:r>
            <a:r>
              <a:rPr dirty="0" err="1"/>
              <a:t>התמונה</a:t>
            </a:r>
            <a:r>
              <a:rPr dirty="0"/>
              <a:t> </a:t>
            </a:r>
            <a:r>
              <a:rPr dirty="0" err="1"/>
              <a:t>הגולמיים</a:t>
            </a:r>
            <a:r>
              <a:rPr dirty="0"/>
              <a:t> </a:t>
            </a:r>
            <a:r>
              <a:rPr dirty="0" err="1"/>
              <a:t>נקלטים</a:t>
            </a:r>
            <a:r>
              <a:rPr dirty="0"/>
              <a:t> </a:t>
            </a:r>
            <a:r>
              <a:rPr dirty="0" err="1"/>
              <a:t>מהמצלמה</a:t>
            </a:r>
            <a:r>
              <a:rPr dirty="0"/>
              <a:t> </a:t>
            </a:r>
            <a:r>
              <a:rPr dirty="0" err="1"/>
              <a:t>ונאגרים</a:t>
            </a:r>
            <a:r>
              <a:rPr dirty="0"/>
              <a:t> </a:t>
            </a:r>
            <a:r>
              <a:rPr dirty="0" err="1"/>
              <a:t>בזיכרון</a:t>
            </a:r>
            <a:r>
              <a:rPr dirty="0"/>
              <a:t> ה-BRAM.</a:t>
            </a:r>
          </a:p>
          <a:p>
            <a:pPr algn="r" rtl="1">
              <a:defRPr sz="1800"/>
            </a:pPr>
            <a:r>
              <a:rPr lang="he-IL" dirty="0"/>
              <a:t>  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שולף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 </a:t>
            </a:r>
            <a:r>
              <a:rPr dirty="0" err="1"/>
              <a:t>ומעביר</a:t>
            </a:r>
            <a:r>
              <a:rPr dirty="0"/>
              <a:t> </a:t>
            </a:r>
            <a:r>
              <a:rPr dirty="0" err="1"/>
              <a:t>לממיר</a:t>
            </a:r>
            <a:r>
              <a:rPr dirty="0"/>
              <a:t> D to A </a:t>
            </a:r>
            <a:r>
              <a:rPr dirty="0" err="1"/>
              <a:t>לקבלת</a:t>
            </a:r>
            <a:r>
              <a:rPr dirty="0"/>
              <a:t> </a:t>
            </a:r>
            <a:r>
              <a:rPr dirty="0" err="1"/>
              <a:t>אות</a:t>
            </a:r>
            <a:r>
              <a:rPr dirty="0"/>
              <a:t> </a:t>
            </a:r>
            <a:r>
              <a:rPr dirty="0" err="1"/>
              <a:t>אנלוגי</a:t>
            </a:r>
            <a:r>
              <a:rPr dirty="0"/>
              <a:t> </a:t>
            </a:r>
            <a:r>
              <a:rPr dirty="0" err="1"/>
              <a:t>פיזי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התראת</a:t>
            </a:r>
            <a:r>
              <a:rPr dirty="0"/>
              <a:t> </a:t>
            </a:r>
            <a:r>
              <a:rPr dirty="0" err="1"/>
              <a:t>נפילה</a:t>
            </a:r>
            <a:r>
              <a:rPr lang="he-IL" dirty="0"/>
              <a:t> מבוסס </a:t>
            </a:r>
            <a:r>
              <a:rPr lang="en-US" dirty="0"/>
              <a:t>FPGA</a:t>
            </a:r>
            <a:br>
              <a:rPr dirty="0"/>
            </a:br>
            <a:r>
              <a:rPr dirty="0"/>
              <a:t>(Top Level)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4234" y="1982569"/>
            <a:ext cx="2673326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/>
            </a:pPr>
            <a:r>
              <a:rPr dirty="0"/>
              <a:t>Inputs:</a:t>
            </a:r>
            <a:br>
              <a:rPr dirty="0"/>
            </a:br>
            <a:r>
              <a:rPr dirty="0" err="1"/>
              <a:t>clk</a:t>
            </a:r>
            <a:r>
              <a:rPr dirty="0"/>
              <a:t>, reset</a:t>
            </a:r>
            <a:br>
              <a:rPr dirty="0"/>
            </a:br>
            <a:r>
              <a:rPr dirty="0"/>
              <a:t>ov7670_vsync, </a:t>
            </a:r>
            <a:r>
              <a:rPr dirty="0" err="1"/>
              <a:t>href</a:t>
            </a:r>
            <a:r>
              <a:rPr dirty="0"/>
              <a:t>, pclk</a:t>
            </a:r>
            <a:br>
              <a:rPr dirty="0"/>
            </a:br>
            <a:r>
              <a:rPr dirty="0"/>
              <a:t>ov7670_data[7:0]</a:t>
            </a:r>
            <a:br>
              <a:rPr dirty="0"/>
            </a:br>
            <a:r>
              <a:rPr dirty="0" err="1"/>
              <a:t>btn</a:t>
            </a:r>
            <a:r>
              <a:rPr dirty="0"/>
              <a:t>[1:0], </a:t>
            </a:r>
            <a:r>
              <a:rPr dirty="0" err="1"/>
              <a:t>sw</a:t>
            </a:r>
            <a:r>
              <a:rPr dirty="0"/>
              <a:t>[1:0]</a:t>
            </a:r>
            <a:br>
              <a:rPr dirty="0"/>
            </a:br>
            <a:r>
              <a:rPr dirty="0" err="1"/>
              <a:t>scl</a:t>
            </a:r>
            <a:r>
              <a:rPr dirty="0"/>
              <a:t>, </a:t>
            </a:r>
            <a:r>
              <a:rPr dirty="0" err="1"/>
              <a:t>sda</a:t>
            </a:r>
            <a:endParaRPr dirty="0"/>
          </a:p>
        </p:txBody>
      </p:sp>
      <p:sp>
        <p:nvSpPr>
          <p:cNvPr id="6" name="Right Arrow 5"/>
          <p:cNvSpPr/>
          <p:nvPr/>
        </p:nvSpPr>
        <p:spPr>
          <a:xfrm>
            <a:off x="2743200" y="32918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0" y="201168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rPr dirty="0"/>
              <a:t>Outputs:</a:t>
            </a:r>
            <a:br>
              <a:rPr dirty="0"/>
            </a:br>
            <a:r>
              <a:rPr dirty="0"/>
              <a:t>VGA_HS_O, VGA_VS_O</a:t>
            </a:r>
            <a:br>
              <a:rPr dirty="0"/>
            </a:br>
            <a:r>
              <a:rPr dirty="0"/>
              <a:t>VGA_R[3:0], G[3:0], B[3:0]</a:t>
            </a:r>
            <a:br>
              <a:rPr dirty="0"/>
            </a:br>
            <a:r>
              <a:rPr dirty="0"/>
              <a:t>ov7670_xclk, </a:t>
            </a:r>
            <a:r>
              <a:rPr dirty="0" err="1"/>
              <a:t>pwdn</a:t>
            </a:r>
            <a:r>
              <a:rPr dirty="0"/>
              <a:t>, reset</a:t>
            </a:r>
            <a:br>
              <a:rPr dirty="0"/>
            </a:br>
            <a:r>
              <a:rPr dirty="0"/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324612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מהו פרוטוקול VGA?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r" rtl="1">
              <a:defRPr sz="1800"/>
            </a:pPr>
            <a:r>
              <a:t>הפרוטוקול מבוסס על סריקה קווית (Raster Scan) - משמאל לימין ומלמעלה למטה.</a:t>
            </a:r>
          </a:p>
          <a:p>
            <a:pPr algn="r" rtl="1">
              <a:defRPr sz="1800"/>
            </a:pPr>
            <a:r>
              <a:t>נתוני הצבע משודרים אך ורק באזור הפעיל (Active Video), ומלווים באותות סנכרון.</a:t>
            </a:r>
          </a:p>
        </p:txBody>
      </p:sp>
      <p:pic>
        <p:nvPicPr>
          <p:cNvPr id="4" name="Picture 3" descr="image_4420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011680"/>
            <a:ext cx="4572000" cy="44782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A821DA5-874A-4BA4-8B36-27E9B781E03B}"/>
              </a:ext>
            </a:extLst>
          </p:cNvPr>
          <p:cNvSpPr txBox="1">
            <a:spLocks/>
          </p:cNvSpPr>
          <p:nvPr/>
        </p:nvSpPr>
        <p:spPr>
          <a:xfrm>
            <a:off x="457200" y="493985"/>
            <a:ext cx="8229600" cy="9669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he-IL" dirty="0"/>
              <a:t>ממשק ה-</a:t>
            </a:r>
            <a:r>
              <a:rPr lang="en-US" dirty="0"/>
              <a:t>VGA</a:t>
            </a:r>
            <a:r>
              <a:rPr lang="he-IL" dirty="0"/>
              <a:t>:</a:t>
            </a:r>
          </a:p>
          <a:p>
            <a:pPr rtl="1"/>
            <a:r>
              <a:rPr lang="he-IL" dirty="0"/>
              <a:t>מהלוגיקה האנלוגית לדיגיטלית</a:t>
            </a: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C6BFCA64-4B5F-4C71-AC98-AB189E0B09C3}"/>
              </a:ext>
            </a:extLst>
          </p:cNvPr>
          <p:cNvSpPr txBox="1"/>
          <p:nvPr/>
        </p:nvSpPr>
        <p:spPr>
          <a:xfrm>
            <a:off x="5204650" y="1843950"/>
            <a:ext cx="3639804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800"/>
            </a:pP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הפיקסל</a:t>
            </a:r>
            <a:r>
              <a:rPr dirty="0"/>
              <a:t> </a:t>
            </a:r>
            <a:r>
              <a:rPr lang="he-IL" dirty="0"/>
              <a:t>25 מגה </a:t>
            </a:r>
            <a:r>
              <a:rPr dirty="0" err="1"/>
              <a:t>מנהל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קצב</a:t>
            </a:r>
            <a:r>
              <a:rPr dirty="0"/>
              <a:t> </a:t>
            </a:r>
            <a:r>
              <a:rPr dirty="0" err="1"/>
              <a:t>הסריקה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(Cathode ray)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גבי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.</a:t>
            </a:r>
          </a:p>
          <a:p>
            <a:pPr>
              <a:defRPr sz="1000"/>
            </a:pPr>
            <a:endParaRPr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800"/>
            </a:pP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הסנכרון</a:t>
            </a:r>
            <a:r>
              <a:rPr dirty="0"/>
              <a:t> </a:t>
            </a:r>
            <a:r>
              <a:rPr dirty="0" err="1"/>
              <a:t>שולטים</a:t>
            </a:r>
            <a:r>
              <a:rPr dirty="0"/>
              <a:t> </a:t>
            </a:r>
            <a:r>
              <a:rPr dirty="0" err="1"/>
              <a:t>בסלילי</a:t>
            </a:r>
            <a:r>
              <a:rPr dirty="0"/>
              <a:t> </a:t>
            </a:r>
            <a:r>
              <a:rPr dirty="0" err="1"/>
              <a:t>ההטיה</a:t>
            </a:r>
            <a:r>
              <a:rPr dirty="0"/>
              <a:t> (Deflection coils) </a:t>
            </a:r>
            <a:r>
              <a:rPr dirty="0" err="1"/>
              <a:t>שמכוונים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המיקום</a:t>
            </a:r>
            <a:r>
              <a:rPr dirty="0"/>
              <a:t>.</a:t>
            </a:r>
          </a:p>
          <a:p>
            <a:pPr>
              <a:defRPr sz="1000"/>
            </a:pPr>
            <a:endParaRPr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800"/>
            </a:pPr>
            <a:r>
              <a:rPr dirty="0" err="1"/>
              <a:t>כאשר</a:t>
            </a:r>
            <a:r>
              <a:rPr dirty="0"/>
              <a:t>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מזהה</a:t>
            </a:r>
            <a:r>
              <a:rPr dirty="0"/>
              <a:t> </a:t>
            </a:r>
            <a:r>
              <a:rPr dirty="0" err="1"/>
              <a:t>אזור</a:t>
            </a:r>
            <a:r>
              <a:rPr dirty="0"/>
              <a:t> </a:t>
            </a:r>
            <a:r>
              <a:rPr dirty="0" err="1"/>
              <a:t>פעיל</a:t>
            </a:r>
            <a:r>
              <a:rPr dirty="0"/>
              <a:t> (</a:t>
            </a:r>
            <a:r>
              <a:rPr dirty="0" err="1"/>
              <a:t>in_display_area</a:t>
            </a:r>
            <a:r>
              <a:rPr dirty="0"/>
              <a:t>), </a:t>
            </a:r>
            <a:r>
              <a:rPr dirty="0" err="1"/>
              <a:t>נתוני</a:t>
            </a:r>
            <a:r>
              <a:rPr dirty="0"/>
              <a:t> ה-RGB </a:t>
            </a:r>
            <a:r>
              <a:rPr dirty="0" err="1"/>
              <a:t>נשלחים</a:t>
            </a:r>
            <a:r>
              <a:rPr dirty="0"/>
              <a:t> </a:t>
            </a:r>
            <a:r>
              <a:rPr dirty="0" err="1"/>
              <a:t>לתותחי</a:t>
            </a:r>
            <a:r>
              <a:rPr dirty="0"/>
              <a:t> </a:t>
            </a:r>
            <a:r>
              <a:rPr dirty="0" err="1"/>
              <a:t>האלקטרונים</a:t>
            </a:r>
            <a:r>
              <a:rPr dirty="0"/>
              <a:t>.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14926155-3BF2-4046-847B-CA4490554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569" y="1566041"/>
            <a:ext cx="4244148" cy="462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63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F1A0A1E-D85C-4C55-B6F6-24AE02A22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V="1">
            <a:off x="4485288" y="6584731"/>
            <a:ext cx="8694683" cy="2107324"/>
          </a:xfrm>
        </p:spPr>
        <p:txBody>
          <a:bodyPr/>
          <a:lstStyle/>
          <a:p>
            <a:endParaRPr lang="he-IL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A602D81-4C54-49F0-A242-C199C847A981}"/>
              </a:ext>
            </a:extLst>
          </p:cNvPr>
          <p:cNvSpPr txBox="1">
            <a:spLocks/>
          </p:cNvSpPr>
          <p:nvPr/>
        </p:nvSpPr>
        <p:spPr>
          <a:xfrm>
            <a:off x="-325820" y="-451946"/>
            <a:ext cx="9795640" cy="24068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he-IL" dirty="0"/>
              <a:t>ממשק ה-</a:t>
            </a:r>
            <a:r>
              <a:rPr lang="en-US" dirty="0"/>
              <a:t>VGA</a:t>
            </a:r>
            <a:r>
              <a:rPr lang="he-IL" dirty="0"/>
              <a:t> :</a:t>
            </a:r>
            <a:endParaRPr lang="en-US" dirty="0"/>
          </a:p>
          <a:p>
            <a:pPr rtl="1"/>
            <a:r>
              <a:rPr lang="en-US" dirty="0"/>
              <a:t> </a:t>
            </a:r>
            <a:r>
              <a:rPr lang="he-IL" dirty="0"/>
              <a:t>תזמונים, מונים וחיבור ל-</a:t>
            </a:r>
            <a:r>
              <a:rPr lang="en-US" dirty="0"/>
              <a:t>BRAM</a:t>
            </a: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ECA57D77-4470-41F7-BCCD-F8E986929086}"/>
              </a:ext>
            </a:extLst>
          </p:cNvPr>
          <p:cNvSpPr txBox="1"/>
          <p:nvPr/>
        </p:nvSpPr>
        <p:spPr>
          <a:xfrm>
            <a:off x="4892565" y="1248921"/>
            <a:ext cx="4051738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700"/>
            </a:pPr>
            <a:r>
              <a:rPr dirty="0" err="1"/>
              <a:t>עבודה</a:t>
            </a:r>
            <a:r>
              <a:rPr dirty="0"/>
              <a:t> </a:t>
            </a:r>
            <a:r>
              <a:rPr dirty="0" err="1"/>
              <a:t>ברזולוציה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640 </a:t>
            </a:r>
            <a:r>
              <a:rPr dirty="0" err="1"/>
              <a:t>על</a:t>
            </a:r>
            <a:r>
              <a:rPr dirty="0"/>
              <a:t> 480 </a:t>
            </a:r>
            <a:r>
              <a:rPr dirty="0" err="1"/>
              <a:t>פיקסלים</a:t>
            </a:r>
            <a:r>
              <a:rPr dirty="0"/>
              <a:t> ב-60 </a:t>
            </a:r>
            <a:r>
              <a:rPr dirty="0" err="1"/>
              <a:t>הרץ</a:t>
            </a:r>
            <a:r>
              <a:rPr dirty="0"/>
              <a:t> </a:t>
            </a:r>
            <a:r>
              <a:rPr dirty="0" err="1"/>
              <a:t>דורשת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פיקסל</a:t>
            </a:r>
            <a:r>
              <a:rPr dirty="0"/>
              <a:t> </a:t>
            </a:r>
            <a:r>
              <a:rPr dirty="0" err="1"/>
              <a:t>בתדר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25 </a:t>
            </a:r>
            <a:r>
              <a:rPr dirty="0" err="1"/>
              <a:t>מגה-הרץ</a:t>
            </a:r>
            <a:r>
              <a:rPr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  <a:defRPr sz="800"/>
            </a:pPr>
            <a:endParaRPr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700"/>
            </a:pPr>
            <a:r>
              <a:rPr dirty="0" err="1"/>
              <a:t>סריקה</a:t>
            </a:r>
            <a:r>
              <a:rPr dirty="0"/>
              <a:t> </a:t>
            </a:r>
            <a:r>
              <a:rPr dirty="0" err="1"/>
              <a:t>אופקית</a:t>
            </a:r>
            <a:r>
              <a:rPr dirty="0"/>
              <a:t> (</a:t>
            </a:r>
            <a:r>
              <a:rPr dirty="0" err="1"/>
              <a:t>שורה</a:t>
            </a:r>
            <a:r>
              <a:rPr dirty="0"/>
              <a:t>): </a:t>
            </a:r>
            <a:endParaRPr lang="he-IL" dirty="0"/>
          </a:p>
          <a:p>
            <a:pPr algn="r" rtl="1">
              <a:defRPr sz="1700"/>
            </a:pPr>
            <a:r>
              <a:rPr lang="he-IL" dirty="0"/>
              <a:t>     </a:t>
            </a:r>
            <a:r>
              <a:rPr dirty="0" err="1"/>
              <a:t>מונה</a:t>
            </a:r>
            <a:r>
              <a:rPr dirty="0"/>
              <a:t> ה-Horizontal </a:t>
            </a:r>
            <a:r>
              <a:rPr dirty="0" err="1"/>
              <a:t>סופר</a:t>
            </a:r>
            <a:r>
              <a:rPr dirty="0"/>
              <a:t> 800 </a:t>
            </a:r>
            <a:r>
              <a:rPr dirty="0" err="1"/>
              <a:t>מחזורים</a:t>
            </a:r>
            <a:r>
              <a:rPr dirty="0"/>
              <a:t>. </a:t>
            </a:r>
            <a:r>
              <a:rPr dirty="0" err="1"/>
              <a:t>רק</a:t>
            </a:r>
            <a:r>
              <a:rPr dirty="0"/>
              <a:t> 640 </a:t>
            </a:r>
            <a:r>
              <a:rPr lang="he-IL" dirty="0"/>
              <a:t>   </a:t>
            </a:r>
          </a:p>
          <a:p>
            <a:pPr algn="r" rtl="1">
              <a:defRPr sz="1700"/>
            </a:pPr>
            <a:r>
              <a:rPr lang="he-IL" dirty="0"/>
              <a:t>     </a:t>
            </a:r>
            <a:r>
              <a:rPr dirty="0" err="1"/>
              <a:t>מתוכם</a:t>
            </a:r>
            <a:r>
              <a:rPr dirty="0"/>
              <a:t> </a:t>
            </a:r>
            <a:r>
              <a:rPr dirty="0" err="1"/>
              <a:t>הם</a:t>
            </a:r>
            <a:r>
              <a:rPr dirty="0"/>
              <a:t> </a:t>
            </a:r>
            <a:r>
              <a:rPr dirty="0" err="1"/>
              <a:t>תצוגה</a:t>
            </a:r>
            <a:r>
              <a:rPr dirty="0"/>
              <a:t>, </a:t>
            </a:r>
            <a:r>
              <a:rPr dirty="0" err="1"/>
              <a:t>והשאר</a:t>
            </a:r>
            <a:r>
              <a:rPr dirty="0"/>
              <a:t> </a:t>
            </a:r>
            <a:r>
              <a:rPr dirty="0" err="1"/>
              <a:t>מוקדשים</a:t>
            </a:r>
            <a:r>
              <a:rPr dirty="0"/>
              <a:t> </a:t>
            </a:r>
            <a:r>
              <a:rPr dirty="0" err="1"/>
              <a:t>להחשכה</a:t>
            </a:r>
            <a:r>
              <a:rPr dirty="0"/>
              <a:t> (Blanking) </a:t>
            </a:r>
            <a:r>
              <a:rPr dirty="0" err="1"/>
              <a:t>ולסנכרון</a:t>
            </a:r>
            <a:r>
              <a:rPr dirty="0"/>
              <a:t> </a:t>
            </a:r>
            <a:r>
              <a:rPr dirty="0" err="1"/>
              <a:t>השורה</a:t>
            </a:r>
            <a:r>
              <a:rPr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  <a:defRPr sz="800"/>
            </a:pPr>
            <a:endParaRPr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700"/>
            </a:pPr>
            <a:r>
              <a:rPr dirty="0" err="1"/>
              <a:t>סריקה</a:t>
            </a:r>
            <a:r>
              <a:rPr dirty="0"/>
              <a:t> </a:t>
            </a:r>
            <a:r>
              <a:rPr dirty="0" err="1"/>
              <a:t>אנכית</a:t>
            </a:r>
            <a:r>
              <a:rPr dirty="0"/>
              <a:t> (</a:t>
            </a:r>
            <a:r>
              <a:rPr dirty="0" err="1"/>
              <a:t>פריים</a:t>
            </a:r>
            <a:r>
              <a:rPr dirty="0"/>
              <a:t>): </a:t>
            </a:r>
            <a:r>
              <a:rPr dirty="0" err="1"/>
              <a:t>מונה</a:t>
            </a:r>
            <a:r>
              <a:rPr dirty="0"/>
              <a:t> ה-Vertical </a:t>
            </a:r>
            <a:r>
              <a:rPr dirty="0" err="1"/>
              <a:t>סופר</a:t>
            </a:r>
            <a:r>
              <a:rPr dirty="0"/>
              <a:t> 521 </a:t>
            </a:r>
            <a:r>
              <a:rPr dirty="0" err="1"/>
              <a:t>שורות</a:t>
            </a:r>
            <a:r>
              <a:rPr dirty="0"/>
              <a:t>, </a:t>
            </a:r>
            <a:r>
              <a:rPr dirty="0" err="1"/>
              <a:t>מתוכן</a:t>
            </a:r>
            <a:r>
              <a:rPr dirty="0"/>
              <a:t> 480 </a:t>
            </a:r>
            <a:r>
              <a:rPr dirty="0" err="1"/>
              <a:t>פעילות</a:t>
            </a:r>
            <a:r>
              <a:rPr dirty="0"/>
              <a:t>. </a:t>
            </a:r>
            <a:r>
              <a:rPr dirty="0" err="1"/>
              <a:t>בסיום</a:t>
            </a:r>
            <a:r>
              <a:rPr dirty="0"/>
              <a:t>, </a:t>
            </a:r>
            <a:r>
              <a:rPr dirty="0" err="1"/>
              <a:t>אות</a:t>
            </a:r>
            <a:r>
              <a:rPr dirty="0"/>
              <a:t> </a:t>
            </a:r>
            <a:r>
              <a:rPr dirty="0" err="1"/>
              <a:t>הסנכרון</a:t>
            </a:r>
            <a:r>
              <a:rPr dirty="0"/>
              <a:t> (VSYNC) </a:t>
            </a:r>
            <a:r>
              <a:rPr dirty="0" err="1"/>
              <a:t>מחזיר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לראש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  <a:defRPr sz="800"/>
            </a:pPr>
            <a:endParaRPr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700"/>
            </a:pPr>
            <a:r>
              <a:rPr dirty="0" err="1"/>
              <a:t>מנגנון</a:t>
            </a:r>
            <a:r>
              <a:rPr dirty="0"/>
              <a:t> </a:t>
            </a:r>
            <a:r>
              <a:rPr dirty="0" err="1"/>
              <a:t>ההשתקה</a:t>
            </a:r>
            <a:r>
              <a:rPr dirty="0"/>
              <a:t> ב-RTL: </a:t>
            </a:r>
            <a:r>
              <a:rPr dirty="0" err="1"/>
              <a:t>מחוץ</a:t>
            </a:r>
            <a:r>
              <a:rPr dirty="0"/>
              <a:t> </a:t>
            </a:r>
            <a:r>
              <a:rPr dirty="0" err="1"/>
              <a:t>לאזור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,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מאלץ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הצבעים</a:t>
            </a:r>
            <a:r>
              <a:rPr dirty="0"/>
              <a:t> ל</a:t>
            </a:r>
            <a:r>
              <a:rPr lang="he-IL" dirty="0"/>
              <a:t>היות </a:t>
            </a:r>
            <a:r>
              <a:rPr dirty="0" err="1"/>
              <a:t>אפס</a:t>
            </a:r>
            <a:r>
              <a:rPr dirty="0"/>
              <a:t>. </a:t>
            </a:r>
            <a:r>
              <a:rPr lang="he-IL" dirty="0"/>
              <a:t>(שחור)</a:t>
            </a:r>
            <a:r>
              <a:rPr dirty="0" err="1"/>
              <a:t>נתוני</a:t>
            </a:r>
            <a:r>
              <a:rPr dirty="0"/>
              <a:t> </a:t>
            </a:r>
            <a:r>
              <a:rPr dirty="0" err="1"/>
              <a:t>הפיקסל</a:t>
            </a:r>
            <a:r>
              <a:rPr dirty="0"/>
              <a:t> </a:t>
            </a:r>
            <a:r>
              <a:rPr dirty="0" err="1"/>
              <a:t>נמשכים</a:t>
            </a:r>
            <a:r>
              <a:rPr dirty="0"/>
              <a:t> </a:t>
            </a:r>
            <a:r>
              <a:rPr dirty="0" err="1"/>
              <a:t>מזיכרון</a:t>
            </a:r>
            <a:r>
              <a:rPr dirty="0"/>
              <a:t> ה-BRAM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ורק</a:t>
            </a:r>
            <a:r>
              <a:rPr dirty="0"/>
              <a:t> </a:t>
            </a:r>
            <a:r>
              <a:rPr dirty="0" err="1"/>
              <a:t>כאשר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באזור</a:t>
            </a:r>
            <a:r>
              <a:rPr dirty="0"/>
              <a:t> </a:t>
            </a:r>
            <a:r>
              <a:rPr dirty="0" err="1"/>
              <a:t>המורשה</a:t>
            </a:r>
            <a:r>
              <a:rPr dirty="0"/>
              <a:t>.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15066DAB-E739-4CBF-8029-BA90A0DB5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71965"/>
            <a:ext cx="4572000" cy="518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677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dirty="0" err="1"/>
              <a:t>תזמונים</a:t>
            </a:r>
            <a:r>
              <a:rPr dirty="0"/>
              <a:t> </a:t>
            </a:r>
            <a:r>
              <a:rPr dirty="0" err="1"/>
              <a:t>והחשכה</a:t>
            </a:r>
            <a:r>
              <a:rPr dirty="0"/>
              <a:t>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2663" y="1097280"/>
            <a:ext cx="84341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800"/>
            </a:pPr>
            <a:r>
              <a:rPr dirty="0" err="1"/>
              <a:t>מוני</a:t>
            </a:r>
            <a:r>
              <a:rPr dirty="0"/>
              <a:t> ה-Horizontal </a:t>
            </a:r>
            <a:r>
              <a:rPr dirty="0" err="1"/>
              <a:t>וה</a:t>
            </a:r>
            <a:r>
              <a:rPr dirty="0"/>
              <a:t>-Vertical </a:t>
            </a:r>
            <a:r>
              <a:rPr dirty="0" err="1"/>
              <a:t>מנוהלים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ידי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25MHz </a:t>
            </a:r>
            <a:r>
              <a:rPr dirty="0" err="1"/>
              <a:t>ומחשבים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מיקום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.</a:t>
            </a:r>
          </a:p>
          <a:p>
            <a:pPr algn="r" rtl="1">
              <a:defRPr sz="1800"/>
            </a:pPr>
            <a:r>
              <a:rPr dirty="0" err="1"/>
              <a:t>בזמני</a:t>
            </a:r>
            <a:r>
              <a:rPr dirty="0"/>
              <a:t> ה-Porch </a:t>
            </a:r>
            <a:r>
              <a:rPr dirty="0" err="1"/>
              <a:t>וה</a:t>
            </a:r>
            <a:r>
              <a:rPr dirty="0"/>
              <a:t>-Sync Pulse </a:t>
            </a:r>
            <a:r>
              <a:rPr dirty="0" err="1"/>
              <a:t>היציאות</a:t>
            </a:r>
            <a:r>
              <a:rPr dirty="0"/>
              <a:t> </a:t>
            </a:r>
            <a:r>
              <a:rPr dirty="0" err="1"/>
              <a:t>נדחפות</a:t>
            </a:r>
            <a:r>
              <a:rPr dirty="0"/>
              <a:t> ל-'0000'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לאפשר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חזרת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(Blanking).</a:t>
            </a:r>
            <a:endParaRPr lang="he-IL" dirty="0"/>
          </a:p>
          <a:p>
            <a:pPr algn="r" rtl="1">
              <a:defRPr sz="1800"/>
            </a:pPr>
            <a:endParaRPr lang="he-IL" dirty="0"/>
          </a:p>
        </p:txBody>
      </p:sp>
      <p:pic>
        <p:nvPicPr>
          <p:cNvPr id="4" name="Picture 3" descr="image_442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31" y="2439849"/>
            <a:ext cx="4114800" cy="4074227"/>
          </a:xfrm>
          <a:prstGeom prst="rect">
            <a:avLst/>
          </a:prstGeom>
        </p:spPr>
      </p:pic>
      <p:pic>
        <p:nvPicPr>
          <p:cNvPr id="5" name="Picture 4" descr="image_441d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090" y="3717758"/>
            <a:ext cx="4114800" cy="20429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en-US" dirty="0" err="1"/>
              <a:t>VGA</a:t>
            </a:r>
            <a:r>
              <a:rPr dirty="0" err="1"/>
              <a:t>מ</a:t>
            </a:r>
            <a:r>
              <a:rPr dirty="0"/>
              <a:t>-RGB </a:t>
            </a:r>
            <a:r>
              <a:rPr dirty="0" err="1"/>
              <a:t>דיגיטלי</a:t>
            </a:r>
            <a:r>
              <a:rPr dirty="0"/>
              <a:t> </a:t>
            </a:r>
            <a:r>
              <a:rPr dirty="0" err="1"/>
              <a:t>ליציאה</a:t>
            </a:r>
            <a:r>
              <a:rPr dirty="0"/>
              <a:t> </a:t>
            </a:r>
            <a:r>
              <a:rPr dirty="0" err="1"/>
              <a:t>אנלוגית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r" rtl="1">
              <a:defRPr sz="1800"/>
            </a:pPr>
            <a:r>
              <a:t>12 הביטים (RGB) הנשלפים מתוך הזיכרון עוברים המרת DAC פיזית.</a:t>
            </a:r>
          </a:p>
          <a:p>
            <a:pPr algn="r" rtl="1">
              <a:defRPr sz="1800"/>
            </a:pPr>
            <a:r>
              <a:t>ההמרה מבוצעת באמצעות רשת נגדים מחושבת המייצרת מתח אנלוגי רציף ישירות לפיני ה-VGA.</a:t>
            </a:r>
          </a:p>
        </p:txBody>
      </p:sp>
      <p:pic>
        <p:nvPicPr>
          <p:cNvPr id="4" name="Picture 3" descr="image_441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319013" cy="4114800"/>
          </a:xfrm>
          <a:prstGeom prst="rect">
            <a:avLst/>
          </a:prstGeom>
        </p:spPr>
      </p:pic>
      <p:pic>
        <p:nvPicPr>
          <p:cNvPr id="5" name="Picture 4" descr="image_441c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743200"/>
            <a:ext cx="3657600" cy="29153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6D1B3FA-8527-41DC-8F46-771DC0C2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03128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סיכום</a:t>
            </a:r>
            <a:r>
              <a:rPr dirty="0"/>
              <a:t>:</a:t>
            </a: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7BC81830-097F-4D12-B865-31F331BB1578}"/>
              </a:ext>
            </a:extLst>
          </p:cNvPr>
          <p:cNvSpPr txBox="1"/>
          <p:nvPr/>
        </p:nvSpPr>
        <p:spPr>
          <a:xfrm>
            <a:off x="52551" y="646441"/>
            <a:ext cx="9038897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dirty="0"/>
          </a:p>
          <a:p>
            <a:pPr marL="342900" indent="-342900" algn="r" rtl="1">
              <a:buFont typeface="Arial" panose="020B0604020202020204" pitchFamily="34" charset="0"/>
              <a:buChar char="•"/>
              <a:defRPr sz="2000"/>
            </a:pPr>
            <a:r>
              <a:rPr dirty="0" err="1"/>
              <a:t>המרה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"</a:t>
            </a:r>
            <a:r>
              <a:rPr dirty="0" err="1"/>
              <a:t>מרחב</a:t>
            </a:r>
            <a:r>
              <a:rPr dirty="0"/>
              <a:t>" </a:t>
            </a:r>
            <a:r>
              <a:rPr dirty="0" err="1"/>
              <a:t>ל"זמן</a:t>
            </a:r>
            <a:r>
              <a:rPr dirty="0"/>
              <a:t>": </a:t>
            </a:r>
            <a:r>
              <a:rPr dirty="0" err="1"/>
              <a:t>בתוך</a:t>
            </a:r>
            <a:r>
              <a:rPr dirty="0"/>
              <a:t> ה-FPGA, </a:t>
            </a:r>
            <a:r>
              <a:rPr dirty="0" err="1"/>
              <a:t>המונים</a:t>
            </a:r>
            <a:r>
              <a:rPr dirty="0"/>
              <a:t> </a:t>
            </a:r>
            <a:r>
              <a:rPr dirty="0" err="1"/>
              <a:t>עובדים</a:t>
            </a:r>
            <a:r>
              <a:rPr dirty="0"/>
              <a:t> </a:t>
            </a:r>
            <a:r>
              <a:rPr dirty="0" err="1"/>
              <a:t>עם</a:t>
            </a:r>
            <a:r>
              <a:rPr dirty="0"/>
              <a:t> </a:t>
            </a:r>
            <a:r>
              <a:rPr dirty="0" err="1"/>
              <a:t>קואורדינטות</a:t>
            </a:r>
            <a:r>
              <a:rPr dirty="0"/>
              <a:t> </a:t>
            </a:r>
            <a:r>
              <a:rPr dirty="0" err="1"/>
              <a:t>וכתובות</a:t>
            </a:r>
            <a:r>
              <a:rPr dirty="0"/>
              <a:t> (</a:t>
            </a:r>
            <a:r>
              <a:rPr dirty="0" err="1"/>
              <a:t>addrb</a:t>
            </a:r>
            <a:r>
              <a:rPr dirty="0"/>
              <a:t>). </a:t>
            </a:r>
            <a:r>
              <a:rPr dirty="0" err="1"/>
              <a:t>תפקיד</a:t>
            </a:r>
            <a:r>
              <a:rPr dirty="0"/>
              <a:t>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לתרגם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המרחב</a:t>
            </a:r>
            <a:r>
              <a:rPr dirty="0"/>
              <a:t> </a:t>
            </a:r>
            <a:r>
              <a:rPr dirty="0" err="1"/>
              <a:t>הסטטי</a:t>
            </a:r>
            <a:r>
              <a:rPr dirty="0"/>
              <a:t> </a:t>
            </a:r>
            <a:r>
              <a:rPr dirty="0" err="1"/>
              <a:t>הזה</a:t>
            </a:r>
            <a:r>
              <a:rPr dirty="0"/>
              <a:t> </a:t>
            </a:r>
            <a:r>
              <a:rPr dirty="0" err="1"/>
              <a:t>לזרם</a:t>
            </a:r>
            <a:r>
              <a:rPr dirty="0"/>
              <a:t> </a:t>
            </a:r>
            <a:r>
              <a:rPr dirty="0" err="1"/>
              <a:t>רציף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כבל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  <a:defRPr sz="1000"/>
            </a:pPr>
            <a:endParaRPr dirty="0"/>
          </a:p>
          <a:p>
            <a:pPr marL="342900" indent="-342900" algn="r" rtl="1">
              <a:buFont typeface="Arial" panose="020B0604020202020204" pitchFamily="34" charset="0"/>
              <a:buChar char="•"/>
              <a:defRPr sz="2000"/>
            </a:pPr>
            <a:r>
              <a:rPr dirty="0" err="1"/>
              <a:t>המסך</a:t>
            </a:r>
            <a:r>
              <a:rPr dirty="0"/>
              <a:t> "</a:t>
            </a:r>
            <a:r>
              <a:rPr dirty="0" err="1"/>
              <a:t>עיוור</a:t>
            </a:r>
            <a:r>
              <a:rPr dirty="0"/>
              <a:t>" </a:t>
            </a:r>
            <a:r>
              <a:rPr dirty="0" err="1"/>
              <a:t>לכתובות</a:t>
            </a:r>
            <a:r>
              <a:rPr dirty="0"/>
              <a:t>: </a:t>
            </a:r>
            <a:r>
              <a:rPr dirty="0" err="1"/>
              <a:t>כבל</a:t>
            </a:r>
            <a:r>
              <a:rPr dirty="0"/>
              <a:t> ה-VGA </a:t>
            </a:r>
            <a:r>
              <a:rPr dirty="0" err="1"/>
              <a:t>אינו</a:t>
            </a:r>
            <a:r>
              <a:rPr dirty="0"/>
              <a:t> </a:t>
            </a:r>
            <a:r>
              <a:rPr dirty="0" err="1"/>
              <a:t>מעביר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 </a:t>
            </a:r>
            <a:r>
              <a:rPr dirty="0" err="1"/>
              <a:t>קואורדינטות</a:t>
            </a:r>
            <a:r>
              <a:rPr dirty="0"/>
              <a:t>. </a:t>
            </a:r>
            <a:r>
              <a:rPr dirty="0" err="1"/>
              <a:t>מיקום</a:t>
            </a:r>
            <a:r>
              <a:rPr dirty="0"/>
              <a:t> </a:t>
            </a:r>
            <a:r>
              <a:rPr dirty="0" err="1"/>
              <a:t>הצבע</a:t>
            </a:r>
            <a:r>
              <a:rPr dirty="0"/>
              <a:t> </a:t>
            </a:r>
            <a:r>
              <a:rPr dirty="0" err="1"/>
              <a:t>נקבע</a:t>
            </a:r>
            <a:r>
              <a:rPr dirty="0"/>
              <a:t>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ורק</a:t>
            </a:r>
            <a:r>
              <a:rPr dirty="0"/>
              <a:t> </a:t>
            </a:r>
            <a:r>
              <a:rPr dirty="0" err="1"/>
              <a:t>לפי</a:t>
            </a:r>
            <a:r>
              <a:rPr dirty="0"/>
              <a:t> </a:t>
            </a:r>
            <a:r>
              <a:rPr dirty="0" err="1"/>
              <a:t>התזמון</a:t>
            </a:r>
            <a:r>
              <a:rPr dirty="0"/>
              <a:t> </a:t>
            </a:r>
            <a:r>
              <a:rPr dirty="0" err="1"/>
              <a:t>שבו</a:t>
            </a:r>
            <a:r>
              <a:rPr dirty="0"/>
              <a:t>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נשלח</a:t>
            </a:r>
            <a:r>
              <a:rPr dirty="0"/>
              <a:t> (</a:t>
            </a:r>
            <a:r>
              <a:rPr dirty="0" err="1"/>
              <a:t>doutb</a:t>
            </a:r>
            <a:r>
              <a:rPr dirty="0"/>
              <a:t>) </a:t>
            </a:r>
            <a:r>
              <a:rPr dirty="0" err="1"/>
              <a:t>ביחס</a:t>
            </a:r>
            <a:r>
              <a:rPr dirty="0"/>
              <a:t> </a:t>
            </a:r>
            <a:r>
              <a:rPr dirty="0" err="1"/>
              <a:t>לאותות</a:t>
            </a:r>
            <a:r>
              <a:rPr dirty="0"/>
              <a:t> ה-Sync. </a:t>
            </a:r>
            <a:r>
              <a:rPr dirty="0" err="1"/>
              <a:t>סטייה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אחד</a:t>
            </a:r>
            <a:r>
              <a:rPr dirty="0"/>
              <a:t> = </a:t>
            </a:r>
            <a:r>
              <a:rPr dirty="0" err="1"/>
              <a:t>פיקסל</a:t>
            </a:r>
            <a:r>
              <a:rPr dirty="0"/>
              <a:t> </a:t>
            </a:r>
            <a:r>
              <a:rPr dirty="0" err="1"/>
              <a:t>שזז</a:t>
            </a:r>
            <a:r>
              <a:rPr dirty="0"/>
              <a:t> </a:t>
            </a:r>
            <a:r>
              <a:rPr dirty="0" err="1"/>
              <a:t>במציאות</a:t>
            </a:r>
            <a:r>
              <a:rPr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  <a:defRPr sz="1000"/>
            </a:pPr>
            <a:endParaRPr dirty="0"/>
          </a:p>
          <a:p>
            <a:pPr marL="342900" indent="-342900" algn="r" rtl="1">
              <a:buFont typeface="Arial" panose="020B0604020202020204" pitchFamily="34" charset="0"/>
              <a:buChar char="•"/>
              <a:defRPr sz="2000"/>
            </a:pPr>
            <a:r>
              <a:rPr dirty="0" err="1"/>
              <a:t>ללא</a:t>
            </a:r>
            <a:r>
              <a:rPr dirty="0"/>
              <a:t> </a:t>
            </a:r>
            <a:r>
              <a:rPr dirty="0" err="1"/>
              <a:t>זיכרון</a:t>
            </a:r>
            <a:r>
              <a:rPr dirty="0"/>
              <a:t> </a:t>
            </a:r>
            <a:r>
              <a:rPr dirty="0" err="1"/>
              <a:t>פנימי</a:t>
            </a:r>
            <a:r>
              <a:rPr dirty="0"/>
              <a:t> (Refresh Rate): </a:t>
            </a:r>
            <a:r>
              <a:rPr dirty="0" err="1"/>
              <a:t>למסך</a:t>
            </a:r>
            <a:r>
              <a:rPr dirty="0"/>
              <a:t> ה-VGA </a:t>
            </a:r>
            <a:r>
              <a:rPr dirty="0" err="1"/>
              <a:t>האנלוגי</a:t>
            </a:r>
            <a:r>
              <a:rPr dirty="0"/>
              <a:t> </a:t>
            </a:r>
            <a:r>
              <a:rPr dirty="0" err="1"/>
              <a:t>אין</a:t>
            </a:r>
            <a:r>
              <a:rPr dirty="0"/>
              <a:t> </a:t>
            </a:r>
            <a:r>
              <a:rPr dirty="0" err="1"/>
              <a:t>זיכרון</a:t>
            </a:r>
            <a:r>
              <a:rPr dirty="0"/>
              <a:t>.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</a:t>
            </a:r>
            <a:r>
              <a:rPr dirty="0" err="1"/>
              <a:t>חייבת</a:t>
            </a:r>
            <a:r>
              <a:rPr dirty="0"/>
              <a:t> </a:t>
            </a:r>
            <a:r>
              <a:rPr dirty="0" err="1"/>
              <a:t>לסרוק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הכתובות</a:t>
            </a:r>
            <a:r>
              <a:rPr dirty="0"/>
              <a:t> ב-BRAM </a:t>
            </a:r>
            <a:r>
              <a:rPr dirty="0" err="1"/>
              <a:t>ולשדר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התמונה</a:t>
            </a:r>
            <a:r>
              <a:rPr dirty="0"/>
              <a:t> </a:t>
            </a:r>
            <a:r>
              <a:rPr dirty="0" err="1"/>
              <a:t>מחדש</a:t>
            </a:r>
            <a:r>
              <a:rPr dirty="0"/>
              <a:t> 60 </a:t>
            </a:r>
            <a:r>
              <a:rPr dirty="0" err="1"/>
              <a:t>פעמים</a:t>
            </a:r>
            <a:r>
              <a:rPr dirty="0"/>
              <a:t> </a:t>
            </a:r>
            <a:r>
              <a:rPr dirty="0" err="1"/>
              <a:t>בשנייה</a:t>
            </a:r>
            <a:r>
              <a:rPr dirty="0"/>
              <a:t> </a:t>
            </a:r>
            <a:r>
              <a:rPr dirty="0" err="1"/>
              <a:t>ללא</a:t>
            </a:r>
            <a:r>
              <a:rPr dirty="0"/>
              <a:t> </a:t>
            </a:r>
            <a:r>
              <a:rPr dirty="0" err="1"/>
              <a:t>הפסקה</a:t>
            </a:r>
            <a:r>
              <a:rPr dirty="0"/>
              <a:t>, </a:t>
            </a:r>
            <a:r>
              <a:rPr dirty="0" err="1"/>
              <a:t>אחרת</a:t>
            </a:r>
            <a:r>
              <a:rPr dirty="0"/>
              <a:t> </a:t>
            </a:r>
            <a:r>
              <a:rPr dirty="0" err="1"/>
              <a:t>התמונה</a:t>
            </a:r>
            <a:r>
              <a:rPr dirty="0"/>
              <a:t> </a:t>
            </a:r>
            <a:r>
              <a:rPr dirty="0" err="1"/>
              <a:t>תיעלם</a:t>
            </a:r>
            <a:r>
              <a:rPr dirty="0"/>
              <a:t>.</a:t>
            </a:r>
          </a:p>
        </p:txBody>
      </p:sp>
      <p:pic>
        <p:nvPicPr>
          <p:cNvPr id="8" name="תמונה 7">
            <a:extLst>
              <a:ext uri="{FF2B5EF4-FFF2-40B4-BE49-F238E27FC236}">
                <a16:creationId xmlns:a16="http://schemas.microsoft.com/office/drawing/2014/main" id="{36228436-269C-4028-8D7F-C4D09D2969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776" b="69641"/>
          <a:stretch/>
        </p:blipFill>
        <p:spPr>
          <a:xfrm>
            <a:off x="211958" y="4465342"/>
            <a:ext cx="8828690" cy="1198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108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555</Words>
  <Application>Microsoft Office PowerPoint</Application>
  <PresentationFormat>‫הצגה על המסך (4:3)</PresentationFormat>
  <Paragraphs>54</Paragraphs>
  <Slides>8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פיתוח מערכת מבוססת FPGA להתראת נפילה לחולי דמנציה</vt:lpstr>
      <vt:lpstr>ארכיטקטורת המערכת</vt:lpstr>
      <vt:lpstr>מהו פרוטוקול VGA?</vt:lpstr>
      <vt:lpstr>מצגת של PowerPoint‏</vt:lpstr>
      <vt:lpstr>מצגת של PowerPoint‏</vt:lpstr>
      <vt:lpstr>תזמונים והחשכה (VGA Controller)</vt:lpstr>
      <vt:lpstr>VGAמ-RGB דיגיטלי ליציאה אנלוגית</vt:lpstr>
      <vt:lpstr>סיכום: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פיתוח מערכת מבוססת FPGA להתראת נפילה לחולי דמנציה</dc:title>
  <dc:subject/>
  <dc:creator/>
  <cp:keywords/>
  <dc:description>generated using python-pptx</dc:description>
  <cp:lastModifiedBy>yosi brim</cp:lastModifiedBy>
  <cp:revision>26</cp:revision>
  <dcterms:created xsi:type="dcterms:W3CDTF">2013-01-27T09:14:16Z</dcterms:created>
  <dcterms:modified xsi:type="dcterms:W3CDTF">2026-08-11T12:33:36Z</dcterms:modified>
  <cp:category/>
</cp:coreProperties>
</file>