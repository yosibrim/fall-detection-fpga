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jpg"/><Relationship Id="rId3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פיתוח מערכת מבוססת FPGA להתראת נפילה לחולי דמנציה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000"/>
            </a:pPr>
            <a:r>
              <a:t>קליטת תמונה בזמן אמת ממצלמת OV7670 והצגתה דרך כרטיס Artix-7.</a:t>
            </a:r>
          </a:p>
          <a:p>
            <a:pPr algn="ctr" rtl="1">
              <a:defRPr sz="1700"/>
            </a:pPr>
            <a:r>
              <a:t>על מנת לאפשר עיבוד תמונה לזיהויי עמידה ממושכת לחולי דמנציה.</a:t>
            </a:r>
          </a:p>
        </p:txBody>
      </p:sp>
      <p:pic>
        <p:nvPicPr>
          <p:cNvPr id="4" name="Picture 3" descr="artix_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828800"/>
            <a:ext cx="4572000" cy="34005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760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200" b="1"/>
            </a:pPr>
            <a:r>
              <a:t>מגיש: יוסי ברים | הנדסת חשמל שנה ד| המרכז האקדמי לב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ארכיטקטורת המערכת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800"/>
            </a:pPr>
            <a:r>
              <a:t>נתוני התמונה הגולמיים נקלטים מהמצלמה ונאגרים בזיכרון ה-BRAM.</a:t>
            </a:r>
          </a:p>
          <a:p>
            <a:pPr algn="r" rtl="1">
              <a:defRPr sz="1800"/>
            </a:pPr>
            <a:r>
              <a:t>בקר ה-VGA שולף את הנתונים ומעביר לממיר D to A לקבלת אות אנלוגי פיזי למסך.</a:t>
            </a:r>
          </a:p>
        </p:txBody>
      </p:sp>
      <p:sp>
        <p:nvSpPr>
          <p:cNvPr id="4" name="Rectangle 3"/>
          <p:cNvSpPr/>
          <p:nvPr/>
        </p:nvSpPr>
        <p:spPr>
          <a:xfrm>
            <a:off x="3474720" y="2194560"/>
            <a:ext cx="2011680" cy="1645920"/>
          </a:xfrm>
          <a:prstGeom prst="rect">
            <a:avLst/>
          </a:prstGeom>
          <a:solidFill>
            <a:srgbClr val="00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defRPr>
                <a:solidFill>
                  <a:srgbClr val="FFFFFF"/>
                </a:solidFill>
              </a:defRPr>
            </a:pPr>
            <a:r>
              <a:t>מערכת התראת נפילה</a:t>
            </a:r>
            <a:br/>
            <a:r>
              <a:t>מבוסס FPGA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2286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/>
            </a:pPr>
            <a:r>
              <a:t>Inputs:</a:t>
            </a:r>
            <a:br/>
            <a:r>
              <a:t>clk, reset</a:t>
            </a:r>
            <a:br/>
            <a:r>
              <a:t>ov7670_vsync, href, pclk</a:t>
            </a:r>
            <a:br/>
            <a:r>
              <a:t>ov7670_data[7:0]</a:t>
            </a:r>
            <a:br/>
            <a:r>
              <a:t>btn[1:0], sw[1:0]</a:t>
            </a:r>
            <a:br/>
            <a:r>
              <a:t>scl, sda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834640" y="28346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0" y="1920240"/>
            <a:ext cx="3200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Outputs:</a:t>
            </a:r>
            <a:br/>
            <a:r>
              <a:t>VGA_HS_O, VGA_VS_O</a:t>
            </a:r>
            <a:br/>
            <a:r>
              <a:t>VGA_R[3:0], G[3:0], B[3:0]</a:t>
            </a:r>
            <a:br/>
            <a:r>
              <a:t>ov7670_xclk, pwdn, reset</a:t>
            </a:r>
            <a:br/>
            <a:r>
              <a:t>led[3:0]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577840" y="28346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ov7670_capture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10312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6032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frame_buffer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1480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vga_controller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12648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D to A Converter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מבוא ל-VGA: סריקה קווית (Raster Scan)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הציור על המסך מבוסס על קרן שסורקת את הפיקסלים משמאל לימין (שורה) ומלמעלה למטה (פריים).</a:t>
            </a:r>
          </a:p>
          <a:p>
            <a:pPr algn="r" rtl="1">
              <a:defRPr sz="1600"/>
            </a:pPr>
            <a:r>
              <a:t>• תנועת הקרן חייבת להיות רציפה, מה שיוצר מסלול בצורת 'זיגזג'.</a:t>
            </a:r>
          </a:p>
          <a:p>
            <a:pPr algn="r" rtl="1">
              <a:defRPr sz="1600"/>
            </a:pPr>
            <a:r>
              <a:t>• בכל פעם שהקרן מגיעה לקצה (אופקי או אנכי), נדרש זמן כדי להחזיר אותה לנקודת ההתחלה (Retrace).</a:t>
            </a:r>
          </a:p>
        </p:txBody>
      </p:sp>
      <p:pic>
        <p:nvPicPr>
          <p:cNvPr id="4" name="Picture 3" descr="vga_raster_scan_retrace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743200"/>
            <a:ext cx="4114800" cy="333515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מרחב התצוגה: אזור פעיל מול זמני החשכה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אזור פעיל (Active Region): החלק במרכז המסך שבו משודרים נתוני התמונה בפועל (כגון 640x480).</a:t>
            </a:r>
          </a:p>
          <a:p>
            <a:pPr algn="r" rtl="1">
              <a:defRPr sz="1600"/>
            </a:pPr>
            <a:r>
              <a:t>• זמני השהייה (Front/Back Porch): 'שוליים' של זמן שנועדו לייצב את האות לפני ואחרי הסנכרון.</a:t>
            </a:r>
          </a:p>
          <a:p>
            <a:pPr algn="r" rtl="1">
              <a:defRPr sz="1600"/>
            </a:pPr>
            <a:r>
              <a:t>• זמן סנכרון (Sync Pulse): פקודה פיזית למסך להחזיר את הקרן אחורה. בזמן זה הקרן חייבת להיות מוחשכת (Blanking).</a:t>
            </a:r>
          </a:p>
        </p:txBody>
      </p:sp>
      <p:pic>
        <p:nvPicPr>
          <p:cNvPr id="4" name="Picture 3" descr="vga_active_vs_blanking_reg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368741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תזמונים והחשכה (VGA controller)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>
              <a:defRPr sz="1600"/>
            </a:pPr>
            <a:r>
              <a:t>מוני ה-horizontal וה-vertical מנוהלים על ידי שעון 25 MHz ומחשבים את מיקום הקרן. בזמני ה-porch וה-sync pulse, היציאות נדחפות ל-0000 כדי לאפשר את חזרת הקרן (blanking).</a:t>
            </a:r>
          </a:p>
        </p:txBody>
      </p:sp>
      <p:pic>
        <p:nvPicPr>
          <p:cNvPr id="4" name="Picture 3" descr="vga_counters_rtl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60320"/>
            <a:ext cx="4114800" cy="2047875"/>
          </a:xfrm>
          <a:prstGeom prst="rect">
            <a:avLst/>
          </a:prstGeom>
        </p:spPr>
      </p:pic>
      <p:pic>
        <p:nvPicPr>
          <p:cNvPr id="5" name="Picture 4" descr="vga_timing_waveform_and_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2377440"/>
            <a:ext cx="3657600" cy="362373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מסלול הנתונים: חישוב כתובת הפיקסל ושליפה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מיקום הקרן (X,Y): המונים hsync_reg ו-vsync_reg מפיקים את הקואורדינטות הדינמיות display_x ו-display_y בתוך האזור הפעיל.</a:t>
            </a:r>
          </a:p>
          <a:p>
            <a:pPr algn="r" rtl="1">
              <a:defRPr sz="1600"/>
            </a:pPr>
            <a:r>
              <a:t>• תרגום לכתובת ליניארית: הקואורדינטה מתורגמת מתמטית לכתובת הזיכרון bram_address_next ונשלחת החוצה דרך האות addrb.</a:t>
            </a:r>
          </a:p>
          <a:p>
            <a:pPr algn="r" rtl="1">
              <a:defRPr sz="1600"/>
            </a:pPr>
            <a:r>
              <a:t>• שליפה מה-BRAM: רכיב ה-frame_buffer מקבל את הכתובת ומשחרר את 12 הביטים של הפיקסל היישר אל האות doutb של בקר ה-VGA.</a:t>
            </a:r>
          </a:p>
        </p:txBody>
      </p:sp>
      <p:pic>
        <p:nvPicPr>
          <p:cNvPr id="4" name="Picture 3" descr="vga_address_bram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263503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עיבוד הפיקסל: ניתוב ל-RGB ומנגנון ה-Blanking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רישום ופיצול: הנתונים מ-doutb ננעלים באוגר pxl_data_reg ומפוצלים לשגרירים: vga_r_int (ביטים 11:8), vga_g_int (7:4) ו-vga_b_int (3:0).</a:t>
            </a:r>
          </a:p>
          <a:p>
            <a:pPr algn="r" rtl="1">
              <a:defRPr sz="1600"/>
            </a:pPr>
            <a:r>
              <a:t>• שומר הסף: האות in_display_area_delayed משמש כדגל המזהה האם הקרן מצוירת כעת על המסך או נמצאת מחוץ לתצוגה.</a:t>
            </a:r>
          </a:p>
          <a:p>
            <a:pPr algn="r" rtl="1">
              <a:defRPr sz="1600"/>
            </a:pPr>
            <a:r>
              <a:t>• סינון דיגיטלי (Mux): כאשר הדגל ב-'1', ערכי ה-RGB מועברים ליציאות VGA_R/G/B. בזמני ה-Porch וה-Sync, היציאות נאלצות ל-"0000" (שחור מוחלט).</a:t>
            </a:r>
          </a:p>
        </p:txBody>
      </p:sp>
      <p:pic>
        <p:nvPicPr>
          <p:cNvPr id="4" name="Picture 3" descr="vga_rgb_video_on_log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216757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המרת DAC אנלוגית ומחבר ה-VGA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סולם נגדים (Resistor Network): המרת 12 ביטי ה-RGB למתח אנלוגי רציף באמצעות משקולות נגדים (510Ω עד 4KΩ).</a:t>
            </a:r>
          </a:p>
          <a:p>
            <a:pPr algn="r" rtl="1">
              <a:defRPr sz="1600"/>
            </a:pPr>
            <a:r>
              <a:t>• אותות סנכרון (B11 / B12): פיני היציאה מוגנים באמצעות נגדי 100Ω ומזינים ישירות את מחבר ה-DB15 של המסך.</a:t>
            </a:r>
          </a:p>
        </p:txBody>
      </p:sp>
      <p:pic>
        <p:nvPicPr>
          <p:cNvPr id="4" name="Picture 3" descr="vga_dac_resistor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4023360" cy="4992221"/>
          </a:xfrm>
          <a:prstGeom prst="rect">
            <a:avLst/>
          </a:prstGeom>
        </p:spPr>
      </p:pic>
      <p:pic>
        <p:nvPicPr>
          <p:cNvPr id="5" name="Picture 4" descr="vga_db15_connector_pi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286000"/>
            <a:ext cx="4023360" cy="320527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עומק הנדסי: מחלק המתח ומשקלי הביטים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משקל פיזי לכל ביט (MSB לעומת LSB): הביט המשמעותי ביותר (MSB) מחובר לנגד הקטן ביותר, ולכן מזזרים את הזרם הגדול ביותר למעגל ומשפיע משמעותית על עוצמת הצבע.</a:t>
            </a:r>
          </a:p>
          <a:p>
            <a:pPr algn="r" rtl="1">
              <a:defRPr sz="1600"/>
            </a:pPr>
            <a:r>
              <a:t>• כוונון עדין: לעומתו, הביט הפחות משמעותי (LSB) מחובר לנגד הגדול ביותר בסולם. תרומתו לזרם הכולל היא מזערית ונועדה לכוונון עדין של הגוון.</a:t>
            </a:r>
          </a:p>
          <a:p>
            <a:pPr algn="r" rtl="1">
              <a:defRPr sz="1600"/>
            </a:pPr>
            <a:r>
              <a:t>• סכימה אנלוגית על המסך: כל הזרמים מהביטים הפעילים ('1') מתחברים וזורמים יחד דרך נגד הסיומת של המסך (75Ω) אל האדמה. כך נוצר מחלק מתח דינמי המפיק 0V עד 0.7V.</a:t>
            </a:r>
          </a:p>
        </p:txBody>
      </p:sp>
      <p:pic>
        <p:nvPicPr>
          <p:cNvPr id="4" name="Picture 3" descr="vga_voltage_divider_d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926080"/>
            <a:ext cx="6400800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מקרה בוחן 1: תזמון ירידת שורה (Horizontal Blanking)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ניהול המונים (Horizontal/Vertical) ושליטה במנגנון ההחשכה (Blanking) לחזרת הקרן.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מקרה בוחן 2: מ-RGB דיגיטלי ליציאה אנלוגית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המרת 12 ביטים של צבע (RGB) למתח פיזי רציף באמצעות רשת נגדים (DAC) ומחבר ה-VGA.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