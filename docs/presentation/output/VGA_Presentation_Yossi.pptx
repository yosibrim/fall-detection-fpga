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/>
            </a:pPr>
            <a:r>
              <a:t>פיתוח מערכת משובצת מחשב לזיהוי נפילות בזמן אמת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/>
            </a:pPr>
            <a:r>
              <a:t>מימוש חומרתי על כרטיס Artix-7 (Basys 3)</a:t>
            </a:r>
          </a:p>
          <a:p>
            <a:r>
              <a:t>ממשק VGA ותקשורת מצלמה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114800"/>
            <a:ext cx="3657600" cy="27204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/>
            </a:pPr>
            <a:r>
              <a:t>ארכיטקטורת המערכת וזרימת הנתונים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defRPr sz="1800"/>
            </a:pPr>
            <a:r>
              <a:t>• איסוף נתונים: מצלמת OV7670 דוגמת את הווידאו ומעבירה אותו דרך בקר ייעודי.</a:t>
            </a:r>
          </a:p>
          <a:p>
            <a:pPr algn="r">
              <a:defRPr sz="1800"/>
            </a:pPr>
            <a:r>
              <a:t>• זיכרון מרכזי (Frame Buffer): הנתונים נשמרים בזיכרון BRAM המשמש חוצץ בין שעון המצלמה לשעון המסך.</a:t>
            </a:r>
          </a:p>
          <a:p>
            <a:pPr algn="r">
              <a:defRPr sz="1800"/>
            </a:pPr>
            <a:r>
              <a:t>• תצוגה: בקר ה-VGA קורא ברציפות מהזיכרון ומייצר את אותות הסנכרון והצבע למסך.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/>
            </a:pPr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defRPr sz="18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>
              <a:defRPr sz="18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>
              <a:defRPr sz="18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/>
            </a:pPr>
            <a:r>
              <a:t>עקרונות תצוגה: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defRPr sz="1800"/>
            </a:pPr>
            <a:r>
              <a:t>• ציור רציף: התמונה נבנית על ידי סריקת פיקסלים משמאל לימין ומלמעלה למטה.</a:t>
            </a:r>
          </a:p>
          <a:p>
            <a:pPr algn="r">
              <a:defRPr sz="1800"/>
            </a:pPr>
            <a:r>
              <a:t>• חזרה אופקית (H-Retrace): בסיום כל שורה, על הקרן לחזור לצידו השמאלי של המסך כדי להתחיל שורה חדשה.</a:t>
            </a:r>
          </a:p>
          <a:p>
            <a:pPr algn="r">
              <a:defRPr sz="1800"/>
            </a:pPr>
            <a:r>
              <a:t>• חזרה אנכית (V-Retrace): בסיום פריים שלם, הקרן חוזרת לפינה השמאלית העליונה לפריים הבא.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200400"/>
            <a:ext cx="5486400" cy="44468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/>
            </a:pPr>
            <a:r>
              <a:t>מרחב התצוגה ואזורי החשכה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defRPr sz="1800"/>
            </a:pPr>
            <a:r>
              <a:t>• אזור פעיל (Active Video): הזמן בו הקרן מציירת פיקסלים רלוונטיים על המסך.</a:t>
            </a:r>
          </a:p>
          <a:p>
            <a:pPr algn="r">
              <a:defRPr sz="1800"/>
            </a:pPr>
            <a:r>
              <a:t>• שוליים (Front/Back Porch): אזורי ביטחון (השחרה) המפרידים בין מידע הצבע לבין פולס הסנכרון.</a:t>
            </a:r>
          </a:p>
          <a:p>
            <a:pPr algn="r">
              <a:defRPr sz="1800"/>
            </a:pPr>
            <a:r>
              <a:t>• פולס סנכרון (Sync Pulse): פקודה לוגית המורה למסך לבצע את החזרה בפועל (אופקית או אנכית).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200400"/>
            <a:ext cx="5486400" cy="44249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/>
            </a:pPr>
            <a:r>
              <a:t>מימוש בחומרה: מוני סנכרון ותזמונים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defRPr sz="1800"/>
            </a:pPr>
            <a:r>
              <a:t>• שעון פיקסל (25MHz): קצב העבודה נגזר מדרישת התקן ל-640x480 ב-60Hz.</a:t>
            </a:r>
          </a:p>
          <a:p>
            <a:pPr algn="r">
              <a:defRPr sz="1800"/>
            </a:pPr>
            <a:r>
              <a:t>• מונה אופקי (h_count): סופר פיקסלים בשורה (0 עד 799). מאתחל את המונה האנכי בסיום שורה.</a:t>
            </a:r>
          </a:p>
          <a:p>
            <a:pPr algn="r">
              <a:defRPr sz="1800"/>
            </a:pPr>
            <a:r>
              <a:t>• מונה אנכי (v_count): סופר שורות במסך (0 עד 520).</a:t>
            </a:r>
          </a:p>
        </p:txBody>
      </p:sp>
      <p:pic>
        <p:nvPicPr>
          <p:cNvPr id="4" name="Picture 3" descr="vga_timing_waveform_and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4076700"/>
          </a:xfrm>
          <a:prstGeom prst="rect">
            <a:avLst/>
          </a:prstGeom>
        </p:spPr>
      </p:pic>
      <p:pic>
        <p:nvPicPr>
          <p:cNvPr id="5" name="Picture 4" descr="vga_counters_rtl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926080"/>
            <a:ext cx="3657600" cy="18203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/>
            </a:pPr>
            <a:r>
              <a:t>מסלול הנתונים (Data Path): משעון לכתובת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defRPr sz="1800"/>
            </a:pPr>
            <a:r>
              <a:t>• תרגום קואורדינטות: מוני ה-X וה-Y המציינים את מיקום הקרן עוברים מניפולציה מתמטית.</a:t>
            </a:r>
          </a:p>
          <a:p>
            <a:pPr algn="r">
              <a:defRPr sz="1800"/>
            </a:pPr>
            <a:r>
              <a:t>• יצירת כתובת (Address Generation): הקואורדינטות הופכות לכתובת לינארית חד-ממדית (addrb).</a:t>
            </a:r>
          </a:p>
          <a:p>
            <a:pPr algn="r">
              <a:defRPr sz="1800"/>
            </a:pPr>
            <a:r>
              <a:t>• שליפת המידע: הכתובת מועברת ל-BRAM, שמוציא בתגובה וקטור של 12 ביטים (doutb) המייצג את צבע הפיקסל.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200400"/>
            <a:ext cx="5486400" cy="31620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/>
            </a:pPr>
            <a:r>
              <a:t>ניתוב RGB ובקרת סינון (Blanking Logic)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defRPr sz="1800"/>
            </a:pPr>
            <a:r>
              <a:t>• חלוקה לערוצים: וקטור ה-12 ביט (doutb) מפוצל ל-3 וקטורים של 4 ביטים: אדום, ירוק וכחול.</a:t>
            </a:r>
          </a:p>
          <a:p>
            <a:pPr algn="r">
              <a:defRPr sz="1800"/>
            </a:pPr>
            <a:r>
              <a:t>• דגל Display Enable: האות in_display_area מזהה מתי הקרן נמצאת מחוץ לאזור הפעיל (בזמן Retrace או Porch).</a:t>
            </a:r>
          </a:p>
          <a:p>
            <a:pPr algn="r">
              <a:defRPr sz="1800"/>
            </a:pPr>
            <a:r>
              <a:t>• החשכה אקטיבית: מעגל מרבב (MUX) מאלץ את נתוני הצבע ל-0000 כאשר אנו מחוץ לתצוגה, כדי למנוע שיבושים במסך.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/>
            </a:pPr>
            <a:r>
              <a:t>ממיר דיגיטלי לאנלוגי: מביטים לזרמים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defRPr sz="1800"/>
            </a:pPr>
            <a:r>
              <a:t>• ממשק פיזי (HD-DB15): המחבר החיצוני דורש מתחים אנלוגיים (0V-0.7V) עבור כל צבע (פינים 1,2,3).</a:t>
            </a:r>
          </a:p>
          <a:p>
            <a:pPr algn="r">
              <a:defRPr sz="1800"/>
            </a:pPr>
            <a:r>
              <a:t>• DAC מבוסס נגדים: כרטיס ה-Artix-7 משתמש ברשת נגדים פסיבית (R-2R Ladder) להמרת ה-4 ביטים של כל צבע למתח.</a:t>
            </a:r>
          </a:p>
          <a:p>
            <a:pPr algn="r">
              <a:defRPr sz="1800"/>
            </a:pPr>
            <a:r>
              <a:t>• הגנת סנכרון: פיני ה-HSYNC וה-VSYNC מוגנים על ידי נגדים בטור למניעת זרם קצר.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0"/>
            <a:ext cx="4114800" cy="5105680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3200400"/>
            <a:ext cx="3657600" cy="29138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/>
            </a:pPr>
            <a:r>
              <a:t>עומק הנדסי: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defRPr sz="1800"/>
            </a:pPr>
            <a:r>
              <a:t>• משקל פיזי לכל ביט (MSB לעומת LSB): ה-MSB מחובר לנגד הקטן ביותר, מזרים את הזרם הגדול ביותר ומשפיע משמעותית על הצבע.</a:t>
            </a:r>
          </a:p>
          <a:p>
            <a:pPr algn="r">
              <a:defRPr sz="1800"/>
            </a:pPr>
            <a:r>
              <a:t>• כוונון עדין: ה-LSB מחובר לנגד הגדול ביותר בסולם ומשמש לכוונון עדין של הגוון.</a:t>
            </a:r>
          </a:p>
          <a:p>
            <a:pPr algn="r">
              <a:defRPr sz="1800"/>
            </a:pPr>
            <a:r>
              <a:t>• סכימה אנלוגית על המסך: כל הזרמים מתחברים וזורמים דרך נגד הסיומת של המסך (75Ω). כך נוצר מחלק מתח המפיק 0V-0.7V.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