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jpg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פיתוח מערכת מבוססת FPGA להתראת נפילה לחולי דמנציה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000"/>
            </a:pPr>
            <a:r>
              <a:t>קליטת תמונה בזמן אמת ממצלמת OV7670 והצגתה דרך כרטיס Artix-7.</a:t>
            </a:r>
          </a:p>
          <a:p>
            <a:pPr algn="ctr" rtl="1">
              <a:defRPr sz="1700"/>
            </a:pPr>
            <a:r>
              <a:t>על מנת לאפשר עיבוד תמונה לזיהויי עמידה ממושכת לחולי דמנציה.</a:t>
            </a:r>
          </a:p>
        </p:txBody>
      </p:sp>
      <p:pic>
        <p:nvPicPr>
          <p:cNvPr id="4" name="Picture 3" descr="artix_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828800"/>
            <a:ext cx="4572000" cy="34005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760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200" b="1"/>
            </a:pPr>
            <a:r>
              <a:t>מגיש: יוסי ברים | הנדסת חשמל שנה ד| המרכז האקדמי לב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ארכיטקטורת המערכת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800"/>
            </a:pPr>
            <a:r>
              <a:t>נתוני התמונה הגולמיים נקלטים מהמצלמה ונאגרים בזיכרון ה-BRAM.</a:t>
            </a:r>
          </a:p>
          <a:p>
            <a:pPr algn="r" rtl="1">
              <a:defRPr sz="1800"/>
            </a:pPr>
            <a:r>
              <a:t>בקר ה-VGA שולף את הנתונים ומעביר לממיר D to A לקבלת אות אנלוגי פיזי למסך.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0" y="2194560"/>
            <a:ext cx="2011680" cy="1645920"/>
          </a:xfrm>
          <a:prstGeom prst="rect">
            <a:avLst/>
          </a:prstGeom>
          <a:solidFill>
            <a:srgbClr val="00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defRPr>
                <a:solidFill>
                  <a:srgbClr val="FFFFFF"/>
                </a:solidFill>
              </a:defRPr>
            </a:pPr>
            <a:r>
              <a:t>מערכת התראת נפילה</a:t>
            </a:r>
            <a:br/>
            <a:r>
              <a:t>מבוסס FPGA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2286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/>
            </a:pPr>
            <a:r>
              <a:t>Inputs:</a:t>
            </a:r>
            <a:br/>
            <a:r>
              <a:t>clk, reset</a:t>
            </a:r>
            <a:br/>
            <a:r>
              <a:t>ov7670_vsync, href, pclk</a:t>
            </a:r>
            <a:br/>
            <a:r>
              <a:t>ov7670_data[7:0]</a:t>
            </a:r>
            <a:br/>
            <a:r>
              <a:t>btn[1:0], sw[1:0]</a:t>
            </a:r>
            <a:br/>
            <a:r>
              <a:t>scl, sda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8346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0" y="1920240"/>
            <a:ext cx="3200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Outputs:</a:t>
            </a:r>
            <a:br/>
            <a:r>
              <a:t>VGA_HS_O, VGA_VS_O</a:t>
            </a:r>
            <a:br/>
            <a:r>
              <a:t>VGA_R[3:0], G[3:0], B[3:0]</a:t>
            </a:r>
            <a:br/>
            <a:r>
              <a:t>ov7670_xclk, pwdn, reset</a:t>
            </a:r>
            <a:br/>
            <a:r>
              <a:t>led[3:0]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5778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ov7670_capture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0312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6032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frame_buffer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1480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vga_controller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12648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D to A Converter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מבוא ל-VGA: קונספט תותח האלקטרונים (CRT)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מקור הפרוטוקול: טכנולוגיית ה-VGA פותחה במקור עבור מסכי שפופרת קרן קתודית (CRT) המבוססים על פיזיקה אנלוגית.</a:t>
            </a:r>
          </a:p>
          <a:p>
            <a:pPr algn="r" rtl="1">
              <a:defRPr sz="1600"/>
            </a:pPr>
            <a:r>
              <a:t>• תותח אלקטרונים: המסך פועל באמצעות קרן פיזית הנורית על גבי מסך מצופה זרחן. עוצמת הזרם קובעת את עוצמת ההארה של כל פיקסל.</a:t>
            </a:r>
          </a:p>
          <a:p>
            <a:pPr algn="r" rtl="1">
              <a:defRPr sz="1600"/>
            </a:pPr>
            <a:r>
              <a:t>• המורשת האנלוגית: למרות שכיום המסכים מודרניים, הפרוטוקול מחייב שידור אותות השהייה שיאפשרו לקרן הפיזית זמן תנועה וחזרה.</a:t>
            </a:r>
          </a:p>
        </p:txBody>
      </p:sp>
      <p:pic>
        <p:nvPicPr>
          <p:cNvPr id="4" name="Picture 3" descr="vga_analog_cathode_ray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36358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מבוא ל-VGA: סריקה קווית (Raster Scan)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הציור על המסך מבוסס על קרן שסורקת את הפיקסלים משמאל לימין (שורה) ומלמעלה למטה (פריים).</a:t>
            </a:r>
          </a:p>
          <a:p>
            <a:pPr algn="r" rtl="1">
              <a:defRPr sz="1600"/>
            </a:pPr>
            <a:r>
              <a:t>• תנועת הקרן חייבת להיות רציפה, מה שיוצר מסלול בצורת 'זיגזג'.</a:t>
            </a:r>
          </a:p>
          <a:p>
            <a:pPr algn="r" rtl="1">
              <a:defRPr sz="1600"/>
            </a:pPr>
            <a:r>
              <a:t>• בכל פעם שהקרן מגיעה לקצה (אופקי או אנכי), נדרש זמן כדי להחזיר אותה לנקודת ההתחלה (Retrace).</a:t>
            </a:r>
          </a:p>
        </p:txBody>
      </p:sp>
      <p:pic>
        <p:nvPicPr>
          <p:cNvPr id="4" name="Picture 3" descr="vga_raster_scan_retrace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743200"/>
            <a:ext cx="4114800" cy="333515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תזמוני VGA: הפיזיקה מאחורי המספרים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2743200"/>
                <a:gridCol w="2743200"/>
              </a:tblGrid>
              <a:tr h="548640">
                <a:tc>
                  <a:txBody>
                    <a:bodyPr/>
                    <a:lstStyle/>
                    <a:p>
                      <a:pPr algn="ctr" rtl="1">
                        <a:defRPr b="1" sz="1600"/>
                      </a:pPr>
                      <a:r>
                        <a:t>פרמטר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600"/>
                      </a:pPr>
                      <a:r>
                        <a:t>מחזורי שעון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600"/>
                      </a:pPr>
                      <a:r>
                        <a:t>הצורך הפיזיקלי המקורי (CRT)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600"/>
                      </a:pPr>
                      <a:r>
                        <a:t>המימוש שלנו (RTL)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Active Display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640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הקרן מציירת את הפיקסלים הפיזיים על המסך משמאל לימין.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שליפת נתונים מה-BRAM ושידור צבע (RGB) פעיל.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Front Porch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מרווח זמן לקרן 'להירגע' בסוף השורה לפני שחוזרת אחורה.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כיבוי מיידי של ה-RGB ל-'0000' למניעת מריחות.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Sync Pulse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מכת מתח (טריגר) שמאלצת את הקרן לקפוץ חזרה שמאלה.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הורדת האות הפיזי HSYNC ל-'0' למשך 96 שעונים.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Back Porch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המתנה לייצוב הקרן בתחילת השורה החדשה בצד שמאל.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המשך השהיית ה-RGB על '0000' עד הגעה לפיקסל הראשון.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תזמונים והחשכה בחומרה (VGA Controller)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מחזור שלם (800 פיקסלים): חיבור הערכים (640+16+96+48) דורש מהמונה האופקי (h_count) לספור מ-0 ועד 799.</a:t>
            </a:r>
          </a:p>
          <a:p>
            <a:pPr algn="r" rtl="1">
              <a:defRPr sz="1600"/>
            </a:pPr>
            <a:r>
              <a:t>• שעון פיקסל 25MHz: כל 'פיקסל' שקול למחזור שעון אחד של 40ns. סנכרון זה מבטיח קצב ריענון תקני של 60Hz.</a:t>
            </a:r>
          </a:p>
          <a:p>
            <a:pPr algn="r" rtl="1">
              <a:defRPr sz="1600"/>
            </a:pPr>
            <a:r>
              <a:t>• אכיפת שחור (Blanking): מחוץ לתחום ה-640, הלוגיקה שלנו מאלצת "0000" ב-RGB כדי למנוע 'מריחות' צבע בעת תנועת הקרן.</a:t>
            </a:r>
          </a:p>
        </p:txBody>
      </p:sp>
      <p:pic>
        <p:nvPicPr>
          <p:cNvPr id="4" name="Picture 3" descr="vga_counters_rtl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0"/>
            <a:ext cx="4114800" cy="2047875"/>
          </a:xfrm>
          <a:prstGeom prst="rect">
            <a:avLst/>
          </a:prstGeom>
        </p:spPr>
      </p:pic>
      <p:pic>
        <p:nvPicPr>
          <p:cNvPr id="5" name="Picture 4" descr="vga_timing_waveform_and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2560320"/>
            <a:ext cx="3657600" cy="362373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מסלול הנתונים: חישוב כתובת הפיקסל ושליפה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מיקום הקרן (X,Y): המונים hsync_reg ו-vsync_reg מפיקים את הקואורדינטות הדינמיות display_x ו-display_y בתוך האזור הפעיל.</a:t>
            </a:r>
          </a:p>
          <a:p>
            <a:pPr algn="r" rtl="1">
              <a:defRPr sz="1600"/>
            </a:pPr>
            <a:r>
              <a:t>• תרגום לכתובת ליניארית: הקואורדינטה מתורגמת מתמטית לכתובת הזיכרון bram_address_next ונשלחת החוצה דרך האות addrb.</a:t>
            </a:r>
          </a:p>
          <a:p>
            <a:pPr algn="r" rtl="1">
              <a:defRPr sz="1600"/>
            </a:pPr>
            <a:r>
              <a:t>• שליפה מה-BRAM: רכיב ה-frame_buffer מקבל את הכתובת ומשחרר את 12 הביטים של הפיקסל היישר אל האות doutb של בקר ה-VGA.</a:t>
            </a:r>
          </a:p>
        </p:txBody>
      </p:sp>
      <p:pic>
        <p:nvPicPr>
          <p:cNvPr id="4" name="Picture 3" descr="vga_address_bram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263503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עיבוד הפיקסל: ניתוב ל-RGB ומנגנון ה-Blanking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רישום ופיצול: הנתונים מ-doutb ננעלים באוגר pxl_data_reg ומפוצלים לשגרירים: vga_r_int (ביטים 11:8), vga_g_int (7:4) ו-vga_b_int (3:0).</a:t>
            </a:r>
          </a:p>
          <a:p>
            <a:pPr algn="r" rtl="1">
              <a:defRPr sz="1600"/>
            </a:pPr>
            <a:r>
              <a:t>• שומר הסף: האות in_display_area_delayed משמש כדגל המזהה האם הקרן מצוירת כעת על המסך או נמצאת מחוץ לתצוגה.</a:t>
            </a:r>
          </a:p>
          <a:p>
            <a:pPr algn="r" rtl="1">
              <a:defRPr sz="1600"/>
            </a:pPr>
            <a:r>
              <a:t>• סינון דיגיטלי (Mux): כאשר הדגל ב-'1', ערכי ה-RGB מועברים ליציאות VGA_R/G/B. בזמני ה-Porch וה-Sync, היציאות נאלצות ל-"0000" (שחור מוחלט).</a:t>
            </a:r>
          </a:p>
        </p:txBody>
      </p:sp>
      <p:pic>
        <p:nvPicPr>
          <p:cNvPr id="4" name="Picture 3" descr="vga_rgb_video_on_log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216757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המרת DAC אנלוגית ומחבר ה-VGA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סולם נגדים (Resistor Network): המרת 12 ביטי ה-RGB למתח אנלוגי רציף באמצעות משקולות נגדים (510Ω עד 4KΩ).</a:t>
            </a:r>
          </a:p>
          <a:p>
            <a:pPr algn="r" rtl="1">
              <a:defRPr sz="1600"/>
            </a:pPr>
            <a:r>
              <a:t>• אותות סנכרון (B11 / B12): פיני היציאה מוגנים באמצעות נגדי 100Ω ומזינים ישירות את מחבר ה-DB15 של המסך.</a:t>
            </a:r>
          </a:p>
        </p:txBody>
      </p:sp>
      <p:pic>
        <p:nvPicPr>
          <p:cNvPr id="4" name="Picture 3" descr="vga_dac_resistor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4023360" cy="4992221"/>
          </a:xfrm>
          <a:prstGeom prst="rect">
            <a:avLst/>
          </a:prstGeom>
        </p:spPr>
      </p:pic>
      <p:pic>
        <p:nvPicPr>
          <p:cNvPr id="5" name="Picture 4" descr="vga_db15_connector_p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286000"/>
            <a:ext cx="4023360" cy="320527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  מחלק המתח ומשקלי הביטים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משקל פיזי לכל ביט (MSB לעומת LSB): הביט המשמעותי ביותר (MSB) מחובר לנגד הקטן ביותר, ולכן מזזרים את הזרם הגדול ביותר למעגל ומשפיע משמעותית על עוצמת הצבע.</a:t>
            </a:r>
          </a:p>
          <a:p>
            <a:pPr algn="r" rtl="1">
              <a:defRPr sz="1600"/>
            </a:pPr>
            <a:r>
              <a:t>• כוונון עדין: לעומתו, הביט הפחות משמעותי (LSB) מחובר לנגד הגדול ביותר בסולם. תרומתו לזרם הכולל היא מזערית ונועדה לכוונון עדין של הגוון.</a:t>
            </a:r>
          </a:p>
          <a:p>
            <a:pPr algn="r" rtl="1">
              <a:defRPr sz="1600"/>
            </a:pPr>
            <a:r>
              <a:t>• סכימה אנלוגית על המסך: כל הזרמים מהביטים הפעילים ('1') מתחברים וזורמים יחד דרך נגד הסיומת של המסך (75Ω) אל האדמה. כך נוצר מחלק מתח דינמי המפיק 0V עד 0.7V.</a:t>
            </a:r>
          </a:p>
        </p:txBody>
      </p:sp>
      <p:pic>
        <p:nvPicPr>
          <p:cNvPr id="4" name="Picture 3" descr="vga_voltage_divider_d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926080"/>
            <a:ext cx="6400800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סיכום תיאורטי: לקראת ארכיטקטורת החומרה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האתגר הפיזיקלי: ראינו שהמסך החיצוני דורש תזמונים מדויקים ונוקשים (Sync, Blanking) והמרת צבע רציפה (DAC) כדי לפעול כראוי.</a:t>
            </a:r>
          </a:p>
          <a:p>
            <a:pPr algn="r" rtl="1">
              <a:defRPr sz="1600"/>
            </a:pPr>
            <a:r>
              <a:t>• המעבר פנימה (FPGA): כדי לייצר את האותות הללו בזמן אמת ובאמינות מוחלטת, אנו נכנסים אל תוך הלוגיקה הדיגיטלית (RTL) על הכרטיס.</a:t>
            </a:r>
          </a:p>
          <a:p>
            <a:pPr algn="r" rtl="1">
              <a:defRPr sz="1600"/>
            </a:pPr>
            <a:r>
              <a:t>• תפקיד ה-VGA Controller: זהו רכיב הגישור הסופי במערכת. הוא שואב נתונים מהזיכרון הפנימי ומתרגם אותם לאותות הפיזיים שהמסך דורש.</a:t>
            </a:r>
          </a:p>
          <a:p>
            <a:pPr algn="r" rtl="1">
              <a:defRPr sz="1600"/>
            </a:pPr>
            <a:r>
              <a:t>• התחנה הבאה: נמפה את האקו-סיסטם על הכרטיס (שעונים, מצלמה, חוצץ זיכרון) ולאחר מכן נצלול פנימה אל הלוגיקה של בקר ה-VGA עצמו.</a:t>
            </a:r>
          </a:p>
        </p:txBody>
      </p:sp>
      <p:pic>
        <p:nvPicPr>
          <p:cNvPr id="4" name="Picture 3" descr="vga_fpga_top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91840"/>
            <a:ext cx="4572000" cy="250286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מבט-על: זרימת נתונים ותחומי שעון (RTL)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מחולל שעונים (clk_generator): רכיב PLL המקבל שעון מערכת ומפיק שעון 25MHz נפרד ל-VGA ושעון ייעודי למצלמה.</a:t>
            </a:r>
          </a:p>
          <a:p>
            <a:pPr algn="r" rtl="1">
              <a:defRPr sz="1600"/>
            </a:pPr>
            <a:r>
              <a:t>• גישור חציית שעונים (CDC): זיכרון ה-BRAM (בתצורת Dual-Port) פועל כחוצץ בטוח בין קצב הכתיבה לקצב הקריאה.</a:t>
            </a:r>
          </a:p>
          <a:p>
            <a:pPr algn="r" rtl="1">
              <a:defRPr sz="1600"/>
            </a:pPr>
            <a:r>
              <a:t>• תחום אדום (Camera Domain): קליטת הפיקסלים מהמצלמה (ov7670_capture) ודחיפתם לפורט A של הזיכרון (clka).</a:t>
            </a:r>
          </a:p>
          <a:p>
            <a:pPr algn="r" rtl="1">
              <a:defRPr sz="1600"/>
            </a:pPr>
            <a:r>
              <a:t>• תחום כחול (VGA Domain): המיקוד שלנו – שליפת הפיקסלים מפורט B (clkb) על ידי בקר ה-VGA וייצור אותות התצוגה.</a:t>
            </a:r>
          </a:p>
        </p:txBody>
      </p:sp>
      <p:pic>
        <p:nvPicPr>
          <p:cNvPr id="4" name="Picture 3" descr="rtl_direct_vga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0"/>
            <a:ext cx="8229600" cy="434275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926080"/>
            <a:ext cx="3657600" cy="34747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663440" y="2926080"/>
            <a:ext cx="3657600" cy="3474720"/>
          </a:xfrm>
          <a:prstGeom prst="rect">
            <a:avLst/>
          </a:prstGeom>
          <a:noFill/>
          <a:ln w="508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ניהול שעונים במערכת (Clock Generator)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מקור שעון (System Clock): כניסת clk מקבלת את שעון הלוח המקורי (100MHz) ומזינה את ה-PLL (clk_wiz_0).</a:t>
            </a:r>
          </a:p>
          <a:p>
            <a:pPr algn="r" rtl="1">
              <a:defRPr sz="1600"/>
            </a:pPr>
            <a:r>
              <a:t>• שעון תצוגה (vga_pll): ה-PLL מפיק תדר של 25MHz המזין את בקר ה-VGA (pxl_clk) ואת פורט הקריאה (clkb) ב-BRAM.</a:t>
            </a:r>
          </a:p>
          <a:p>
            <a:pPr algn="r" rtl="1">
              <a:defRPr sz="1600"/>
            </a:pPr>
            <a:r>
              <a:t>• שעון מצלמה (xclk_pll): הפקת שעון ייעודי של 24MHz (xclk_ov7670) המנותב החוצה לסנכרון רכיב המצלמה.</a:t>
            </a:r>
          </a:p>
        </p:txBody>
      </p:sp>
      <p:pic>
        <p:nvPicPr>
          <p:cNvPr id="4" name="Picture 3" descr="clk_wiz_instanti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323768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זיכרון ה-BRAM: חוצץ התמונה (Frame Buffer)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תצורת Dual-Port: הפרדה מוחלטת לחומרת כתיבה (A) וקריאה (B). זהו הפתרון שלנו ל-CDC (חציית תחומי שעון) המונע התנגשויות נתונים.</a:t>
            </a:r>
          </a:p>
          <a:p>
            <a:pPr algn="r" rtl="1">
              <a:defRPr sz="1600"/>
            </a:pPr>
            <a:r>
              <a:t>• שעונים א-סינכרוניים: הכתיבה (clka) מתבצעת בתדר המערכת (100MHz), בעוד הקריאה למסך (clkb) מונעת בלעדית על ידי שעון ה-VGA שלנו (25MHz).</a:t>
            </a:r>
          </a:p>
          <a:p>
            <a:pPr algn="r" rtl="1">
              <a:defRPr sz="1600"/>
            </a:pPr>
            <a:r>
              <a:t>• ממדי הזיכרון (307,200x12): הזיכרון מוקצה במדויק להכיל 307,200 פיקסלים (רזולוציה של 640x480).</a:t>
            </a:r>
          </a:p>
          <a:p>
            <a:pPr algn="r" rtl="1">
              <a:defRPr sz="1600"/>
            </a:pPr>
            <a:r>
              <a:t>• תפוקת הנתונים: האות doutb משחרר 12 ביט של צבע (RGB) בכל מחזור שעון (25MHz) ישירות לבקר ה-VGA.</a:t>
            </a:r>
          </a:p>
        </p:txBody>
      </p:sp>
      <p:pic>
        <p:nvPicPr>
          <p:cNvPr id="4" name="Picture 3" descr="bram_ip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00400"/>
            <a:ext cx="4572000" cy="216547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ממשק המצלמה: מהעולם הפיזי אל הזיכרון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הגשר הפיזי (XCLK מול PCLK): ה-FPGA מפיק 24MHz (XCLK) החוצה להפעלת המצלמה. בתגובה, המצלמה משדרת חזרה פיקסלים יחד עם שעון סנכרון עצמאי משלה (PCLK).</a:t>
            </a:r>
          </a:p>
          <a:p>
            <a:pPr algn="r" rtl="1">
              <a:defRPr sz="1600"/>
            </a:pPr>
            <a:r>
              <a:t>• לכידת הנתונים: רכיב ה-ov7670_capture רץ בתדר המערכת (100MHz) המאפשר דגימה מהירה ובטוחה של ה-PCLK ואסיפת 12 ביט של צבע.</a:t>
            </a:r>
          </a:p>
          <a:p>
            <a:pPr algn="r" rtl="1">
              <a:defRPr sz="1600"/>
            </a:pPr>
            <a:r>
              <a:t>• כתיבה לזיכרון: הבלוק מייצר את הכתובת (addra), המידע (dina), ודגל הכתיבה (wea) ודוחף אותם לפורט A של ה-BRAM.</a:t>
            </a:r>
          </a:p>
        </p:txBody>
      </p:sp>
      <p:pic>
        <p:nvPicPr>
          <p:cNvPr id="4" name="Picture 3" descr="camera_capture_flow.png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00400"/>
            <a:ext cx="4572000" cy="359142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ממשק הזיכרון (BRAM): ממדים וסנכרון נתונים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תרגום קואורדינטות: הכתובת לזיכרון (addrb באורך 19 ביט) מחושבת מתמטית לפי המיקום באזור הפעיל: Y * 640 + X.</a:t>
            </a:r>
          </a:p>
          <a:p>
            <a:pPr algn="r" rtl="1">
              <a:defRPr sz="1600"/>
            </a:pPr>
            <a:r>
              <a:t>• מנגנון ה-Pipeline (עיכוב מכוון): הקריאה מהזיכרון א-סינכרונית. כדי להבטיח יציבות, הקוד נועל את הנתון הנכנס (doutb) לתוך אוגר פנימי (pxl_data_reg) בעליית השעון הבאה.</a:t>
            </a:r>
          </a:p>
          <a:p>
            <a:pPr algn="r" rtl="1">
              <a:defRPr sz="1600"/>
            </a:pPr>
            <a:r>
              <a:t>• סנכרון שומר הסף: כדי לפצות על השהיית הזיכרון, דגל אזור התצוגה (in_display_area) מושהה גם הוא במחזור שעון אחד (ל-in_display_area_delayed).</a:t>
            </a:r>
          </a:p>
          <a:p>
            <a:pPr algn="r" rtl="1">
              <a:defRPr sz="1600"/>
            </a:pPr>
            <a:r>
              <a:t>• ניתוב דיגיטלי (Mux): רק כאשר הדגל המושהה דולק, 12 הביטים מפוצלים ומנותבים ליציאות VGA_R, VGA_G ו-VGA_B (4 ביטים לצבע).</a:t>
            </a:r>
          </a:p>
        </p:txBody>
      </p:sp>
      <p:pic>
        <p:nvPicPr>
          <p:cNvPr id="4" name="Picture 3" descr="vga_address_logic_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657600"/>
            <a:ext cx="4572000" cy="448716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אימות מסלול הנתונים: VGA Controller ↔ BRAM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מטרת הסימולציה: הוכחת לחיצת היד (Handshake) שבין בקשת הכתובת (addrb) לקבלת נתוני הפיקסל (doutb).</a:t>
            </a:r>
          </a:p>
          <a:p>
            <a:pPr algn="r" rtl="1">
              <a:defRPr sz="1600"/>
            </a:pPr>
            <a:r>
              <a:t>• דגימה בזמן אמת: ניתן לראות בבירור כיצד הכתובת עולה, המידע מופיע מיידית ב-doutb (קריאה א-סינכרונית), וננעל באוגר pxl_data_reg בעליית השעון הבאה.</a:t>
            </a:r>
          </a:p>
          <a:p>
            <a:pPr algn="r" rtl="1">
              <a:defRPr sz="1600"/>
            </a:pPr>
            <a:r>
              <a:t>• מניעת זבל ויזואלי: הסימולציה מוכיחה שבמעבר ל-Blanking (סוף שורה), יציאות ה-RGB נחתכות ל-0 מיידית, למרות שהזיכרון עדיין פולט מידע ישן.</a:t>
            </a:r>
          </a:p>
        </p:txBody>
      </p:sp>
      <p:pic>
        <p:nvPicPr>
          <p:cNvPr id="4" name="Picture 3" descr="modelsim_data_path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7315200" cy="369331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מבוא לאימות התקן: מחזור שורה שלם (Ts)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שלב ב' - מהדיגיטל לפיזיקה: לאחר שהוכחנו את אמינות שליפת הנתונים מהזיכרון, כעת נוכיח שהחומרה מייצרת את התזמונים הפיזיים הנדרשים בתקן ה-VGA.</a:t>
            </a:r>
          </a:p>
          <a:p>
            <a:pPr algn="r" rtl="1">
              <a:defRPr sz="1600"/>
            </a:pPr>
            <a:r>
              <a:t>• מפת הדרכים (Macro to Micro): נתחיל ממבט-על של שורת מסך שלמה, ונצלול בהדרגה לניתוח האזורים הפעילים, זמני ההמתנה (Porches) ודופק הסנכרון.</a:t>
            </a:r>
          </a:p>
          <a:p>
            <a:pPr algn="r" rtl="1">
              <a:defRPr sz="1600"/>
            </a:pPr>
            <a:r>
              <a:t>• הוכחת מחזור השורה: התקן דורש 800 מחזורי שעון. מונה ה-hsync_reg סופר 0-799 במדויק, ומדידת הסמנים מוכיחה דלתא של 32us.</a:t>
            </a:r>
          </a:p>
        </p:txBody>
      </p:sp>
      <p:pic>
        <p:nvPicPr>
          <p:cNvPr id="4" name="Picture 3" descr="modelsim_full_line_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7315200" cy="3621881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ליבת התצוגה: אימות האזור הפעיל (Tdisp)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תזמון הנתונים: מתוך כלל מחזור השורה, מוקצים בדיוק 640 מחזורי שעון לציור הפיקסלים (25.6us).</a:t>
            </a:r>
          </a:p>
          <a:p>
            <a:pPr algn="r" rtl="1">
              <a:defRPr sz="1600"/>
            </a:pPr>
            <a:r>
              <a:t>• דגל הבקרה: האות in_display_area עולה ל-'1' ומאפשר את שליפת הנתונים רק בטווח המורשה.</a:t>
            </a:r>
          </a:p>
          <a:p>
            <a:pPr algn="r" rtl="1">
              <a:defRPr sz="1600"/>
            </a:pPr>
            <a:r>
              <a:t>• מונה הפיקסלים הפעיל: המונה display_x סופר במדויק מ-0 ועד 639. לאורך כל החלון הזה, יציאות ה-RGB פולטות נתונים אקטיביים למסך.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4114800"/>
            <a:ext cx="4572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0070C0"/>
                </a:solidFill>
              </a:defRPr>
            </a:pPr>
            <a:r>
              <a:t>[שומר מקום: modelsim_active_display_tdisp.png]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אכיפת Blanking: שוליים (Porches)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משמעות ה'זמנים המתים': ה-Front Porch (16 שעונים) וה-Back Porch (48 שעונים) נועדו לייצוב תנועת הקרן.</a:t>
            </a:r>
          </a:p>
          <a:p>
            <a:pPr algn="r" rtl="1">
              <a:defRPr sz="1600"/>
            </a:pPr>
            <a:r>
              <a:t>• אכיפה לוגית: בסימולציה ניתן לראות כי ברגע שהקרן חורגת מהאזור הפעיל (display_x מסתיים), המערכת מאלצת את כל ערוצי ה-RGB ל-'0000'.</a:t>
            </a:r>
          </a:p>
          <a:p>
            <a:pPr algn="r" rtl="1">
              <a:defRPr sz="1600"/>
            </a:pPr>
            <a:r>
              <a:t>• התוצאה: שחור מוחלט על המסך באזורי המעבר, מה שמונע 'מריחות' צבע ומאפשר למסך להסתנכרן בצורה חלקה.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4114800"/>
            <a:ext cx="4572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0070C0"/>
                </a:solidFill>
              </a:defRPr>
            </a:pPr>
            <a:r>
              <a:t>[שומר מקום: modelsim_porches_blanking.png]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דופק הסנכרון (Tpw) ווריפיקציה אוטומטית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אות ה-HSYNC: זהו הטריגר הפיזי המורה למסך לבצע Retrace לתחילת השורה הבאה.</a:t>
            </a:r>
          </a:p>
          <a:p>
            <a:pPr algn="r" rtl="1">
              <a:defRPr sz="1600"/>
            </a:pPr>
            <a:r>
              <a:t>• דיוק של מחזור בודד: הצבת סמנים על הדילוג של האות הפיזי מוכיחה רוחב דופק מדויק של 3.84us, השקול ל-96 מחזורי שעון.</a:t>
            </a:r>
          </a:p>
          <a:p>
            <a:pPr algn="r" rtl="1">
              <a:defRPr sz="1600"/>
            </a:pPr>
            <a:r>
              <a:t>• Self-Checking Testbench: מעבר לבדיקה הוויזואלית, סביבת הבדיקה (TB) כוללת מנגנון אוטומטי (Assert) שבודק את רוחב הדופק בזמן ריצה ומתריע על כל חריגה מהתקן.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4114800"/>
            <a:ext cx="4572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0070C0"/>
                </a:solidFill>
              </a:defRPr>
            </a:pPr>
            <a:r>
              <a:t>[שומר מקום: modelsim_sync_pulse_assertion.png]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