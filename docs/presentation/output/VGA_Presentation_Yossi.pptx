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1.jp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2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3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4.png"/><Relationship Id="rId3" Type="http://schemas.openxmlformats.org/officeDocument/2006/relationships/image" Target="../media/image5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6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7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8.jpg"/><Relationship Id="rId3" Type="http://schemas.openxmlformats.org/officeDocument/2006/relationships/image" Target="../media/image9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10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11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12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13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14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15.jp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16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17.jp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18.jp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19.jp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20.jpg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21.jpg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22.jpg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23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rtl="1" algn="ctr"/>
            <a:r>
              <a:t>פיתוח מערכת מבוססת FPGA להתראת נפילה לחולי דמנציה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188720"/>
            <a:ext cx="82296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 rtl="1">
              <a:defRPr sz="2000"/>
            </a:pPr>
            <a:r>
              <a:t>קליטת תמונה בזמן אמת ממצלמת OV7670 והצגתה דרך כרטיס Artix-7.</a:t>
            </a:r>
          </a:p>
          <a:p>
            <a:pPr algn="ctr" rtl="1">
              <a:defRPr sz="1700"/>
            </a:pPr>
            <a:r>
              <a:t>על מנת לאפשר עיבוד תמונה לזיהויי עמידה ממושכת לחולי דמנציה.</a:t>
            </a:r>
          </a:p>
        </p:txBody>
      </p:sp>
      <p:pic>
        <p:nvPicPr>
          <p:cNvPr id="4" name="Picture 3" descr="artix_boar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86000" y="1828800"/>
            <a:ext cx="4572000" cy="3400527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457200" y="5760720"/>
            <a:ext cx="82296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 rtl="1">
              <a:defRPr sz="2200" b="1"/>
            </a:pPr>
            <a:r>
              <a:t>מגיש: יוסי ברים | הנדסת חשמל שנה ד| המרכז האקדמי לב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rtl="1"/>
            <a:r>
              <a:t>ארכיטקטורת המערכת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097280"/>
            <a:ext cx="82296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/>
          <a:p>
            <a:pPr algn="r" rtl="1">
              <a:defRPr sz="1800"/>
            </a:pPr>
            <a:r>
              <a:t>נתוני התמונה הגולמיים נקלטים מהמצלמה ונאגרים בזיכרון ה-BRAM.</a:t>
            </a:r>
          </a:p>
          <a:p>
            <a:pPr algn="r" rtl="1">
              <a:defRPr sz="1800"/>
            </a:pPr>
            <a:r>
              <a:t>בקר ה-VGA שולף את הנתונים ומעביר לממיר D to A לקבלת אות אנלוגי פיזי למסך.</a:t>
            </a:r>
          </a:p>
        </p:txBody>
      </p:sp>
      <p:sp>
        <p:nvSpPr>
          <p:cNvPr id="4" name="Rectangle 3"/>
          <p:cNvSpPr/>
          <p:nvPr/>
        </p:nvSpPr>
        <p:spPr>
          <a:xfrm>
            <a:off x="3474720" y="2194560"/>
            <a:ext cx="2011680" cy="1645920"/>
          </a:xfrm>
          <a:prstGeom prst="rect">
            <a:avLst/>
          </a:prstGeom>
          <a:solidFill>
            <a:srgbClr val="000000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1">
              <a:defRPr>
                <a:solidFill>
                  <a:srgbClr val="FFFFFF"/>
                </a:solidFill>
              </a:defRPr>
            </a:pPr>
            <a:r>
              <a:t>מערכת התראת נפילה</a:t>
            </a:r>
            <a:br/>
            <a:r>
              <a:t>מבוסס FPGA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97280" y="1920240"/>
            <a:ext cx="2286000" cy="1828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300"/>
            </a:pPr>
            <a:r>
              <a:t>Inputs:</a:t>
            </a:r>
            <a:br/>
            <a:r>
              <a:t>clk, reset</a:t>
            </a:r>
            <a:br/>
            <a:r>
              <a:t>ov7670_vsync, href, pclk</a:t>
            </a:r>
            <a:br/>
            <a:r>
              <a:t>ov7670_data[7:0]</a:t>
            </a:r>
            <a:br/>
            <a:r>
              <a:t>btn[1:0], sw[1:0]</a:t>
            </a:r>
            <a:br/>
            <a:r>
              <a:t>scl, sda</a:t>
            </a:r>
          </a:p>
        </p:txBody>
      </p:sp>
      <p:sp>
        <p:nvSpPr>
          <p:cNvPr id="6" name="Right Arrow 5"/>
          <p:cNvSpPr/>
          <p:nvPr/>
        </p:nvSpPr>
        <p:spPr>
          <a:xfrm>
            <a:off x="2834640" y="2834640"/>
            <a:ext cx="548640" cy="274320"/>
          </a:xfrm>
          <a:prstGeom prst="rightArrow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669280" y="1920240"/>
            <a:ext cx="3200400" cy="1828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00"/>
            </a:pPr>
            <a:r>
              <a:t>Outputs:</a:t>
            </a:r>
            <a:br/>
            <a:r>
              <a:t>VGA_HS_O, VGA_VS_O</a:t>
            </a:r>
            <a:br/>
            <a:r>
              <a:t>VGA_R[3:0], G[3:0], B[3:0]</a:t>
            </a:r>
            <a:br/>
            <a:r>
              <a:t>ov7670_xclk, pwdn, reset</a:t>
            </a:r>
            <a:br/>
            <a:r>
              <a:t>led[3:0]</a:t>
            </a:r>
          </a:p>
        </p:txBody>
      </p:sp>
      <p:sp>
        <p:nvSpPr>
          <p:cNvPr id="8" name="Right Arrow 7"/>
          <p:cNvSpPr/>
          <p:nvPr/>
        </p:nvSpPr>
        <p:spPr>
          <a:xfrm>
            <a:off x="5577840" y="2834640"/>
            <a:ext cx="548640" cy="274320"/>
          </a:xfrm>
          <a:prstGeom prst="rightArrow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548640" y="4754880"/>
            <a:ext cx="1554480" cy="731520"/>
          </a:xfrm>
          <a:prstGeom prst="roundRect">
            <a:avLst/>
          </a:prstGeom>
          <a:solidFill>
            <a:srgbClr val="4F81BD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/>
            </a:pPr>
            <a:r>
              <a:t>ov7670_capture</a:t>
            </a:r>
          </a:p>
        </p:txBody>
      </p:sp>
      <p:sp>
        <p:nvSpPr>
          <p:cNvPr id="10" name="Right Arrow 9"/>
          <p:cNvSpPr/>
          <p:nvPr/>
        </p:nvSpPr>
        <p:spPr>
          <a:xfrm>
            <a:off x="2103120" y="5029200"/>
            <a:ext cx="457200" cy="182880"/>
          </a:xfrm>
          <a:prstGeom prst="rightArrow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2560320" y="4754880"/>
            <a:ext cx="1554480" cy="731520"/>
          </a:xfrm>
          <a:prstGeom prst="roundRect">
            <a:avLst/>
          </a:prstGeom>
          <a:solidFill>
            <a:srgbClr val="4F81BD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/>
            </a:pPr>
            <a:r>
              <a:t>frame_buffer</a:t>
            </a:r>
          </a:p>
        </p:txBody>
      </p:sp>
      <p:sp>
        <p:nvSpPr>
          <p:cNvPr id="12" name="Right Arrow 11"/>
          <p:cNvSpPr/>
          <p:nvPr/>
        </p:nvSpPr>
        <p:spPr>
          <a:xfrm>
            <a:off x="4114800" y="5029200"/>
            <a:ext cx="457200" cy="182880"/>
          </a:xfrm>
          <a:prstGeom prst="rightArrow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4572000" y="4754880"/>
            <a:ext cx="1554480" cy="731520"/>
          </a:xfrm>
          <a:prstGeom prst="roundRect">
            <a:avLst/>
          </a:prstGeom>
          <a:solidFill>
            <a:srgbClr val="4F81BD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/>
            </a:pPr>
            <a:r>
              <a:t>vga_controller</a:t>
            </a:r>
          </a:p>
        </p:txBody>
      </p:sp>
      <p:sp>
        <p:nvSpPr>
          <p:cNvPr id="14" name="Right Arrow 13"/>
          <p:cNvSpPr/>
          <p:nvPr/>
        </p:nvSpPr>
        <p:spPr>
          <a:xfrm>
            <a:off x="6126480" y="5029200"/>
            <a:ext cx="457200" cy="182880"/>
          </a:xfrm>
          <a:prstGeom prst="rightArrow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6583680" y="4754880"/>
            <a:ext cx="1554480" cy="731520"/>
          </a:xfrm>
          <a:prstGeom prst="roundRect">
            <a:avLst/>
          </a:prstGeom>
          <a:solidFill>
            <a:srgbClr val="4F81BD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/>
            </a:pPr>
            <a:r>
              <a:t>D to A Converter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rtl="1" algn="ctr"/>
            <a:r>
              <a:t>מבוא ל-VGA: קונספט תותח האלקטרונים (CRT)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/>
          <a:p>
            <a:pPr algn="r" rtl="1">
              <a:defRPr sz="1600"/>
            </a:pPr>
            <a:r>
              <a:t>• מקור הפרוטוקול: טכנולוגיית ה-VGA פותחה במקור עבור מסכי שפופרת קרן קתודית (CRT) המבוססים על פיזיקה אנלוגית.</a:t>
            </a:r>
          </a:p>
          <a:p>
            <a:pPr algn="r" rtl="1">
              <a:defRPr sz="1600"/>
            </a:pPr>
            <a:r>
              <a:t>• תותח אלקטרונים: המסך פועל באמצעות קרן פיזית הנורית על גבי מסך מצופה זרחן. עוצמת הזרם קובעת את עוצמת ההארה של כל פיקסל.</a:t>
            </a:r>
          </a:p>
          <a:p>
            <a:pPr algn="r" rtl="1">
              <a:defRPr sz="1600"/>
            </a:pPr>
            <a:r>
              <a:t>• המורשת האנלוגית: למרות שכיום המסכים מודרניים, הפרוטוקול מחייב שידור אותות השהייה שיאפשרו לקרן הפיזית זמן תנועה וחזרה.</a:t>
            </a:r>
          </a:p>
        </p:txBody>
      </p:sp>
      <p:pic>
        <p:nvPicPr>
          <p:cNvPr id="4" name="Picture 3" descr="vga_analog_cathode_ray_concep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86000" y="2926080"/>
            <a:ext cx="4572000" cy="3635868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rtl="1" algn="ctr"/>
            <a:r>
              <a:t>מבוא ל-VGA: סריקה קווית (Raster Scan)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/>
          <a:p>
            <a:pPr algn="r" rtl="1">
              <a:defRPr sz="1600"/>
            </a:pPr>
            <a:r>
              <a:t>• הציור על המסך מבוסס על קרן שסורקת את הפיקסלים משמאל לימין (שורה) ומלמעלה למטה (פריים).</a:t>
            </a:r>
          </a:p>
          <a:p>
            <a:pPr algn="r" rtl="1">
              <a:defRPr sz="1600"/>
            </a:pPr>
            <a:r>
              <a:t>• תנועת הקרן חייבת להיות רציפה, מה שיוצר מסלול בצורת 'זיגזג'.</a:t>
            </a:r>
          </a:p>
          <a:p>
            <a:pPr algn="r" rtl="1">
              <a:defRPr sz="1600"/>
            </a:pPr>
            <a:r>
              <a:t>• בכל פעם שהקרן מגיעה לקצה (אופקי או אנכי), נדרש זמן כדי להחזיר אותה לנקודת ההתחלה (Retrace).</a:t>
            </a:r>
          </a:p>
        </p:txBody>
      </p:sp>
      <p:pic>
        <p:nvPicPr>
          <p:cNvPr id="4" name="Picture 3" descr="vga_raster_scan_retrace_concep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86000" y="2743200"/>
            <a:ext cx="4114800" cy="3335154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rtl="1" algn="ctr"/>
            <a:r>
              <a:t>תזמוני VGA: הפיזיקה מאחורי המספרים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457200" y="1371600"/>
          <a:ext cx="8229600" cy="27432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71600"/>
                <a:gridCol w="1371600"/>
                <a:gridCol w="2743200"/>
                <a:gridCol w="2743200"/>
              </a:tblGrid>
              <a:tr h="548640">
                <a:tc>
                  <a:txBody>
                    <a:bodyPr/>
                    <a:lstStyle/>
                    <a:p>
                      <a:pPr algn="ctr" rtl="1">
                        <a:defRPr b="1" sz="1600"/>
                      </a:pPr>
                      <a:r>
                        <a:t>פרמטר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rtl="1">
                        <a:defRPr b="1" sz="1600"/>
                      </a:pPr>
                      <a:r>
                        <a:t>מחזורי שעון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rtl="1">
                        <a:defRPr b="1" sz="1600"/>
                      </a:pPr>
                      <a:r>
                        <a:t>הצורך הפיזיקלי המקורי (CRT)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rtl="1">
                        <a:defRPr b="1" sz="1600"/>
                      </a:pPr>
                      <a:r>
                        <a:t>המימוש שלנו (RTL)</a:t>
                      </a:r>
                    </a:p>
                  </a:txBody>
                  <a:tcPr/>
                </a:tc>
              </a:tr>
              <a:tr h="548640">
                <a:tc>
                  <a:txBody>
                    <a:bodyPr/>
                    <a:lstStyle/>
                    <a:p>
                      <a:pPr algn="ctr" rtl="1">
                        <a:defRPr sz="1400"/>
                      </a:pPr>
                      <a:r>
                        <a:t>Active Display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rtl="1">
                        <a:defRPr sz="1400"/>
                      </a:pPr>
                      <a:r>
                        <a:t>640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 rtl="1">
                        <a:defRPr sz="1400"/>
                      </a:pPr>
                      <a:r>
                        <a:t>הקרן מציירת את הפיקסלים הפיזיים על המסך משמאל לימין.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 rtl="1">
                        <a:defRPr sz="1400"/>
                      </a:pPr>
                      <a:r>
                        <a:t>שליפת נתונים מה-BRAM ושידור צבע (RGB) פעיל.</a:t>
                      </a:r>
                    </a:p>
                  </a:txBody>
                  <a:tcPr/>
                </a:tc>
              </a:tr>
              <a:tr h="548640">
                <a:tc>
                  <a:txBody>
                    <a:bodyPr/>
                    <a:lstStyle/>
                    <a:p>
                      <a:pPr algn="ctr" rtl="1">
                        <a:defRPr sz="1400"/>
                      </a:pPr>
                      <a:r>
                        <a:t>Front Porch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rtl="1">
                        <a:defRPr sz="1400"/>
                      </a:pPr>
                      <a:r>
                        <a:t>16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 rtl="1">
                        <a:defRPr sz="1400"/>
                      </a:pPr>
                      <a:r>
                        <a:t>מרווח זמן לקרן 'להירגע' בסוף השורה לפני שחוזרת אחורה.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 rtl="1">
                        <a:defRPr sz="1400"/>
                      </a:pPr>
                      <a:r>
                        <a:t>כיבוי מיידי של ה-RGB ל-'0000' למניעת מריחות.</a:t>
                      </a:r>
                    </a:p>
                  </a:txBody>
                  <a:tcPr/>
                </a:tc>
              </a:tr>
              <a:tr h="548640">
                <a:tc>
                  <a:txBody>
                    <a:bodyPr/>
                    <a:lstStyle/>
                    <a:p>
                      <a:pPr algn="ctr" rtl="1">
                        <a:defRPr sz="1400"/>
                      </a:pPr>
                      <a:r>
                        <a:t>Sync Pulse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rtl="1">
                        <a:defRPr sz="1400"/>
                      </a:pPr>
                      <a:r>
                        <a:t>96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 rtl="1">
                        <a:defRPr sz="1400"/>
                      </a:pPr>
                      <a:r>
                        <a:t>מכת מתח (טריגר) שמאלצת את הקרן לקפוץ חזרה שמאלה.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 rtl="1">
                        <a:defRPr sz="1400"/>
                      </a:pPr>
                      <a:r>
                        <a:t>הורדת האות הפיזי HSYNC ל-'0' למשך 96 שעונים.</a:t>
                      </a:r>
                    </a:p>
                  </a:txBody>
                  <a:tcPr/>
                </a:tc>
              </a:tr>
              <a:tr h="548640">
                <a:tc>
                  <a:txBody>
                    <a:bodyPr/>
                    <a:lstStyle/>
                    <a:p>
                      <a:pPr algn="ctr" rtl="1">
                        <a:defRPr sz="1400"/>
                      </a:pPr>
                      <a:r>
                        <a:t>Back Porch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rtl="1">
                        <a:defRPr sz="1400"/>
                      </a:pPr>
                      <a:r>
                        <a:t>48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 rtl="1">
                        <a:defRPr sz="1400"/>
                      </a:pPr>
                      <a:r>
                        <a:t>המתנה לייצוב הקרן בתחילת השורה החדשה בצד שמאל.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 rtl="1">
                        <a:defRPr sz="1400"/>
                      </a:pPr>
                      <a:r>
                        <a:t>המשך השהיית ה-RGB על '0000' עד הגעה לפיקסל הראשון.</a:t>
                      </a:r>
                    </a:p>
                  </a:txBody>
                  <a:tcPr/>
                </a:tc>
              </a:tr>
            </a:tbl>
          </a:graphicData>
        </a:graphic>
      </p:graphicFrame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rtl="1" algn="ctr"/>
            <a:r>
              <a:t>תזמונים והחשכה בחומרה (VGA Controller)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82880" y="1097280"/>
            <a:ext cx="8686800" cy="1371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/>
          <a:p>
            <a:pPr algn="r" rtl="1">
              <a:defRPr sz="1600"/>
            </a:pPr>
            <a:r>
              <a:t>• מחזור שלם (800 פיקסלים): חיבור הערכים (640+16+96+48) דורש מהמונה האופקי (h_count) לספור מ-0 ועד 799.</a:t>
            </a:r>
          </a:p>
          <a:p>
            <a:pPr algn="r" rtl="1">
              <a:defRPr sz="1600"/>
            </a:pPr>
            <a:r>
              <a:t>• שעון פיקסל 25MHz: כל 'פיקסל' שקול למחזור שעון אחד של 40ns. סנכרון זה מבטיח קצב ריענון תקני של 60Hz.</a:t>
            </a:r>
          </a:p>
          <a:p>
            <a:pPr algn="r" rtl="1">
              <a:defRPr sz="1600"/>
            </a:pPr>
            <a:r>
              <a:t>• אכיפת שחור (Blanking): מחוץ לתחום ה-640, הלוגיקה שלנו מאלצת "0000" ב-RGB כדי למנוע 'מריחות' צבע בעת תנועת הקרן.</a:t>
            </a:r>
          </a:p>
        </p:txBody>
      </p:sp>
      <p:pic>
        <p:nvPicPr>
          <p:cNvPr id="4" name="Picture 3" descr="vga_counters_rtl_schematic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2926080"/>
            <a:ext cx="4114800" cy="2047875"/>
          </a:xfrm>
          <a:prstGeom prst="rect">
            <a:avLst/>
          </a:prstGeom>
        </p:spPr>
      </p:pic>
      <p:pic>
        <p:nvPicPr>
          <p:cNvPr id="5" name="Picture 4" descr="vga_timing_waveform_and_tabl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754880" y="2560320"/>
            <a:ext cx="3657600" cy="3623733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rtl="1" algn="ctr"/>
            <a:r>
              <a:t>מסלול הנתונים: חישוב כתובת הפיקסל ושליפה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/>
          <a:p>
            <a:pPr algn="r" rtl="1">
              <a:defRPr sz="1600"/>
            </a:pPr>
            <a:r>
              <a:t>• מיקום הקרן (X,Y): המונים hsync_reg ו-vsync_reg מפיקים את הקואורדינטות הדינמיות display_x ו-display_y בתוך האזור הפעיל.</a:t>
            </a:r>
          </a:p>
          <a:p>
            <a:pPr algn="r" rtl="1">
              <a:defRPr sz="1600"/>
            </a:pPr>
            <a:r>
              <a:t>• תרגום לכתובת ליניארית: הקואורדינטה מתורגמת מתמטית לכתובת הזיכרון bram_address_next ונשלחת החוצה דרך האות addrb.</a:t>
            </a:r>
          </a:p>
          <a:p>
            <a:pPr algn="r" rtl="1">
              <a:defRPr sz="1600"/>
            </a:pPr>
            <a:r>
              <a:t>• שליפה מה-BRAM: רכיב ה-frame_buffer מקבל את הכתובת ומשחרר את 12 הביטים של הפיקסל היישר אל האות doutb של בקר ה-VGA.</a:t>
            </a:r>
          </a:p>
        </p:txBody>
      </p:sp>
      <p:pic>
        <p:nvPicPr>
          <p:cNvPr id="4" name="Picture 3" descr="vga_address_bram_flow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86000" y="2926080"/>
            <a:ext cx="4572000" cy="2635032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rtl="1" algn="ctr"/>
            <a:r>
              <a:t>עיבוד הפיקסל: ניתוב ל-RGB ומנגנון ה-Blanking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/>
          <a:p>
            <a:pPr algn="r" rtl="1">
              <a:defRPr sz="1600"/>
            </a:pPr>
            <a:r>
              <a:t>• רישום ופיצול: הנתונים מ-doutb ננעלים באוגר pxl_data_reg ומפוצלים לשגרירים: vga_r_int (ביטים 11:8), vga_g_int (7:4) ו-vga_b_int (3:0).</a:t>
            </a:r>
          </a:p>
          <a:p>
            <a:pPr algn="r" rtl="1">
              <a:defRPr sz="1600"/>
            </a:pPr>
            <a:r>
              <a:t>• שומר הסף: האות in_display_area_delayed משמש כדגל המזהה האם הקרן מצוירת כעת על המסך או נמצאת מחוץ לתצוגה.</a:t>
            </a:r>
          </a:p>
          <a:p>
            <a:pPr algn="r" rtl="1">
              <a:defRPr sz="1600"/>
            </a:pPr>
            <a:r>
              <a:t>• סינון דיגיטלי (Mux): כאשר הדגל ב-'1', ערכי ה-RGB מועברים ליציאות VGA_R/G/B. בזמני ה-Porch וה-Sync, היציאות נאלצות ל-"0000" (שחור מוחלט).</a:t>
            </a:r>
          </a:p>
        </p:txBody>
      </p:sp>
      <p:pic>
        <p:nvPicPr>
          <p:cNvPr id="4" name="Picture 3" descr="vga_rgb_video_on_logic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86000" y="2926080"/>
            <a:ext cx="4572000" cy="2167573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rtl="1" algn="ctr"/>
            <a:r>
              <a:t>המרת DAC אנלוגית ומחבר ה-VGA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005840"/>
            <a:ext cx="82296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/>
          <a:p>
            <a:pPr algn="r" rtl="1">
              <a:defRPr sz="1600"/>
            </a:pPr>
            <a:r>
              <a:t>• סולם נגדים (Resistor Network): המרת 12 ביטי ה-RGB למתח אנלוגי רציף באמצעות משקולות נגדים (510Ω עד 4KΩ).</a:t>
            </a:r>
          </a:p>
          <a:p>
            <a:pPr algn="r" rtl="1">
              <a:defRPr sz="1600"/>
            </a:pPr>
            <a:r>
              <a:t>• אותות סנכרון (B11 / B12): פיני היציאה מוגנים באמצעות נגדי 100Ω ומזינים ישירות את מחבר ה-DB15 של המסך.</a:t>
            </a:r>
          </a:p>
        </p:txBody>
      </p:sp>
      <p:pic>
        <p:nvPicPr>
          <p:cNvPr id="4" name="Picture 3" descr="vga_dac_resistor_netwo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2103120"/>
            <a:ext cx="4023360" cy="4992221"/>
          </a:xfrm>
          <a:prstGeom prst="rect">
            <a:avLst/>
          </a:prstGeom>
        </p:spPr>
      </p:pic>
      <p:pic>
        <p:nvPicPr>
          <p:cNvPr id="5" name="Picture 4" descr="vga_db15_connector_pin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663440" y="2286000"/>
            <a:ext cx="4023360" cy="3205277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rtl="1" algn="ctr"/>
            <a:r>
              <a:t>  מחלק המתח ומשקלי הביטים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/>
          <a:p>
            <a:pPr algn="r" rtl="1">
              <a:defRPr sz="1600"/>
            </a:pPr>
            <a:r>
              <a:t>• משקל פיזי לכל ביט (MSB לעומת LSB): הביט המשמעותי ביותר (MSB) מחובר לנגד הקטן ביותר, ולכן מזזרים את הזרם הגדול ביותר למעגל ומשפיע משמעותית על עוצמת הצבע.</a:t>
            </a:r>
          </a:p>
          <a:p>
            <a:pPr algn="r" rtl="1">
              <a:defRPr sz="1600"/>
            </a:pPr>
            <a:r>
              <a:t>• כוונון עדין: לעומתו, הביט הפחות משמעותי (LSB) מחובר לנגד הגדול ביותר בסולם. תרומתו לזרם הכולל היא מזערית ונועדה לכוונון עדין של הגוון.</a:t>
            </a:r>
          </a:p>
          <a:p>
            <a:pPr algn="r" rtl="1">
              <a:defRPr sz="1600"/>
            </a:pPr>
            <a:r>
              <a:t>• סכימה אנלוגית על המסך: כל הזרמים מהביטים הפעילים ('1') מתחברים וזורמים יחד דרך נגד הסיומת של המסך (75Ω) אל האדמה. כך נוצר מחלק מתח דינמי המפיק 0V עד 0.7V.</a:t>
            </a:r>
          </a:p>
        </p:txBody>
      </p:sp>
      <p:pic>
        <p:nvPicPr>
          <p:cNvPr id="4" name="Picture 3" descr="vga_voltage_divider_dac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71600" y="2926080"/>
            <a:ext cx="6400800" cy="4800600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rtl="1" algn="ctr"/>
            <a:r>
              <a:t>סיכום תיאורטי: לקראת ארכיטקטורת החומרה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82880" y="1097280"/>
            <a:ext cx="8686800" cy="1371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/>
          <a:p>
            <a:pPr algn="r" rtl="1">
              <a:defRPr sz="1600"/>
            </a:pPr>
            <a:r>
              <a:t>• האתגר הפיזיקלי: ראינו שהמסך החיצוני דורש תזמונים מדויקים ונוקשים (Sync, Blanking) והמרת צבע רציפה (DAC) כדי לפעול כראוי.</a:t>
            </a:r>
          </a:p>
          <a:p>
            <a:pPr algn="r" rtl="1">
              <a:defRPr sz="1600"/>
            </a:pPr>
            <a:r>
              <a:t>• המעבר פנימה (FPGA): כדי לייצר את האותות הללו בזמן אמת ובאמינות מוחלטת, אנו נכנסים אל תוך הלוגיקה הדיגיטלית (RTL) על הכרטיס.</a:t>
            </a:r>
          </a:p>
          <a:p>
            <a:pPr algn="r" rtl="1">
              <a:defRPr sz="1600"/>
            </a:pPr>
            <a:r>
              <a:t>• תפקיד ה-VGA Controller: זהו רכיב הגישור הסופי במערכת. הוא שואב נתונים מהזיכרון הפנימי ומתרגם אותם לאותות הפיזיים שהמסך דורש.</a:t>
            </a:r>
          </a:p>
          <a:p>
            <a:pPr algn="r" rtl="1">
              <a:defRPr sz="1600"/>
            </a:pPr>
            <a:r>
              <a:t>• התחנה הבאה: נמפה את האקו-סיסטם על הכרטיס (שעונים, מצלמה, חוצץ זיכרון) ולאחר מכן נצלול פנימה אל הלוגיקה של בקר ה-VGA עצמו.</a:t>
            </a:r>
          </a:p>
        </p:txBody>
      </p:sp>
      <p:pic>
        <p:nvPicPr>
          <p:cNvPr id="4" name="Picture 3" descr="vga_fpga_top_architectur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86000" y="3291840"/>
            <a:ext cx="4572000" cy="2502868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rtl="1" algn="ctr"/>
            <a:r>
              <a:t>מבט-על: זרימת נתונים ותחומי שעון (RTL)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82880" y="1097280"/>
            <a:ext cx="8686800" cy="1371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/>
          <a:p>
            <a:pPr algn="r" rtl="1">
              <a:defRPr sz="1600"/>
            </a:pPr>
            <a:r>
              <a:t>• מחולל שעונים (clk_generator): רכיב PLL המקבל שעון מערכת ומפיק שעון 25MHz נפרד ל-VGA ושעון ייעודי למצלמה.</a:t>
            </a:r>
          </a:p>
          <a:p>
            <a:pPr algn="r" rtl="1">
              <a:defRPr sz="1600"/>
            </a:pPr>
            <a:r>
              <a:t>• גישור חציית שעונים (CDC): זיכרון ה-BRAM (בתצורת Dual-Port) פועל כחוצץ בטוח בין קצב הכתיבה לקצב הקריאה.</a:t>
            </a:r>
          </a:p>
          <a:p>
            <a:pPr algn="r" rtl="1">
              <a:defRPr sz="1600"/>
            </a:pPr>
            <a:r>
              <a:t>• תחום אדום (Camera Domain): קליטת הפיקסלים מהמצלמה (ov7670_capture) ודחיפתם לפורט A של הזיכרון (clka).</a:t>
            </a:r>
          </a:p>
          <a:p>
            <a:pPr algn="r" rtl="1">
              <a:defRPr sz="1600"/>
            </a:pPr>
            <a:r>
              <a:t>• תחום כחול (VGA Domain): המיקוד שלנו – שליפת הפיקסלים מפורט B (clkb) על ידי בקר ה-VGA וייצור אותות התצוגה.</a:t>
            </a:r>
          </a:p>
        </p:txBody>
      </p:sp>
      <p:pic>
        <p:nvPicPr>
          <p:cNvPr id="4" name="Picture 3" descr="rtl_direct_vga_path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2743200"/>
            <a:ext cx="8229600" cy="4342751"/>
          </a:xfrm>
          <a:prstGeom prst="rect">
            <a:avLst/>
          </a:prstGeom>
        </p:spPr>
      </p:pic>
      <p:sp>
        <p:nvSpPr>
          <p:cNvPr id="5" name="Rectangle 4"/>
          <p:cNvSpPr/>
          <p:nvPr/>
        </p:nvSpPr>
        <p:spPr>
          <a:xfrm>
            <a:off x="914400" y="2926080"/>
            <a:ext cx="3657600" cy="3474720"/>
          </a:xfrm>
          <a:prstGeom prst="rect">
            <a:avLst/>
          </a:prstGeom>
          <a:noFill/>
          <a:ln w="38100">
            <a:solidFill>
              <a:srgbClr val="FF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663440" y="2926080"/>
            <a:ext cx="3657600" cy="3474720"/>
          </a:xfrm>
          <a:prstGeom prst="rect">
            <a:avLst/>
          </a:prstGeom>
          <a:noFill/>
          <a:ln w="50800">
            <a:solidFill>
              <a:srgbClr val="0070C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rtl="1" algn="ctr"/>
            <a:r>
              <a:t>ניהול שעונים במערכת (Clock Generator)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82880" y="1097280"/>
            <a:ext cx="8686800" cy="1371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/>
          <a:p>
            <a:pPr algn="r" rtl="1">
              <a:defRPr sz="1600"/>
            </a:pPr>
            <a:r>
              <a:t>• מקור שעון (System Clock): כניסת clk מקבלת את שעון הלוח המקורי (100MHz) ומזינה את ה-PLL (clk_wiz_0).</a:t>
            </a:r>
          </a:p>
          <a:p>
            <a:pPr algn="r" rtl="1">
              <a:defRPr sz="1600"/>
            </a:pPr>
            <a:r>
              <a:t>• שעון תצוגה (vga_pll): ה-PLL מפיק תדר של 25MHz המזין את בקר ה-VGA (pxl_clk) ואת פורט הקריאה (clkb) ב-BRAM.</a:t>
            </a:r>
          </a:p>
          <a:p>
            <a:pPr algn="r" rtl="1">
              <a:defRPr sz="1600"/>
            </a:pPr>
            <a:r>
              <a:t>• שעון מצלמה (xclk_pll): הפקת שעון ייעודי של 24MHz (xclk_ov7670) המנותב החוצה לסנכרון רכיב המצלמה.</a:t>
            </a:r>
          </a:p>
        </p:txBody>
      </p:sp>
      <p:pic>
        <p:nvPicPr>
          <p:cNvPr id="4" name="Picture 3" descr="clk_wiz_instantiati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86000" y="2926080"/>
            <a:ext cx="4572000" cy="3237682"/>
          </a:xfrm>
          <a:prstGeom prst="rect">
            <a:avLst/>
          </a:prstGeom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rtl="1" algn="ctr"/>
            <a:r>
              <a:t>זיכרון ה-BRAM: חוצץ התמונה (Frame Buffer)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82880" y="1097280"/>
            <a:ext cx="8686800" cy="1371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/>
          <a:p>
            <a:pPr algn="r" rtl="1">
              <a:defRPr sz="1600"/>
            </a:pPr>
            <a:r>
              <a:t>• תצורת Dual-Port: הפרדה מוחלטת לחומרת כתיבה (A) וקריאה (B). זהו הפתרון שלנו ל-CDC (חציית תחומי שעון) המונע התנגשויות נתונים.</a:t>
            </a:r>
          </a:p>
          <a:p>
            <a:pPr algn="r" rtl="1">
              <a:defRPr sz="1600"/>
            </a:pPr>
            <a:r>
              <a:t>• שעונים א-סינכרוניים: הכתיבה (clka) מתבצעת בתדר המערכת (100MHz), בעוד הקריאה למסך (clkb) מונעת בלעדית על ידי שעון ה-VGA שלנו (25MHz).</a:t>
            </a:r>
          </a:p>
          <a:p>
            <a:pPr algn="r" rtl="1">
              <a:defRPr sz="1600"/>
            </a:pPr>
            <a:r>
              <a:t>• ממדי הזיכרון (307,200x12): הזיכרון מוקצה במדויק להכיל 307,200 פיקסלים (רזולוציה של 640x480).</a:t>
            </a:r>
          </a:p>
          <a:p>
            <a:pPr algn="r" rtl="1">
              <a:defRPr sz="1600"/>
            </a:pPr>
            <a:r>
              <a:t>• תפוקת הנתונים: האות doutb משחרר 12 ביט של צבע (RGB) בכל מחזור שעון (25MHz) ישירות לבקר ה-VGA.</a:t>
            </a:r>
          </a:p>
        </p:txBody>
      </p:sp>
      <p:pic>
        <p:nvPicPr>
          <p:cNvPr id="4" name="Picture 3" descr="bram_ip_symbo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86000" y="3200400"/>
            <a:ext cx="4572000" cy="2165476"/>
          </a:xfrm>
          <a:prstGeom prst="rect">
            <a:avLst/>
          </a:prstGeom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rtl="1" algn="ctr"/>
            <a:r>
              <a:t>ממשק המצלמה: מהעולם הפיזי אל הזיכרון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82880" y="1097280"/>
            <a:ext cx="8686800" cy="1371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/>
          <a:p>
            <a:pPr algn="r" rtl="1">
              <a:defRPr sz="1600"/>
            </a:pPr>
            <a:r>
              <a:t>• הגשר הפיזי (XCLK מול PCLK): ה-FPGA מפיק 24MHz (XCLK) החוצה להפעלת המצלמה. בתגובה, המצלמה משדרת חזרה פיקסלים יחד עם שעון סנכרון עצמאי משלה (PCLK).</a:t>
            </a:r>
          </a:p>
          <a:p>
            <a:pPr algn="r" rtl="1">
              <a:defRPr sz="1600"/>
            </a:pPr>
            <a:r>
              <a:t>• לכידת הנתונים: רכיב ה-ov7670_capture רץ בתדר המערכת (100MHz) המאפשר דגימה מהירה ובטוחה של ה-PCLK ואסיפת 12 ביט של צבע.</a:t>
            </a:r>
          </a:p>
          <a:p>
            <a:pPr algn="r" rtl="1">
              <a:defRPr sz="1600"/>
            </a:pPr>
            <a:r>
              <a:t>• כתיבה לזיכרון: הבלוק מייצר את הכתובת (addra), המידע (dina), ודגל הכתיבה (wea) ודוחף אותם לפורט A של ה-BRAM.</a:t>
            </a:r>
          </a:p>
        </p:txBody>
      </p:sp>
      <p:pic>
        <p:nvPicPr>
          <p:cNvPr id="4" name="Picture 3" descr="camera_capture_flow.png.jpe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86000" y="3200400"/>
            <a:ext cx="4572000" cy="3591426"/>
          </a:xfrm>
          <a:prstGeom prst="rect">
            <a:avLst/>
          </a:prstGeom>
        </p:spPr>
      </p:pic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rtl="1" algn="ctr"/>
            <a:r>
              <a:t>ממשק הזיכרון (BRAM): ממדים וסנכרון נתונים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82880" y="1097280"/>
            <a:ext cx="8686800" cy="1828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/>
          <a:p>
            <a:pPr algn="r" rtl="1">
              <a:defRPr sz="1600"/>
            </a:pPr>
            <a:r>
              <a:t>• תרגום קואורדינטות: הכתובת לזיכרון (addrb באורך 19 ביט) מחושבת מתמטית לפי המיקום באזור הפעיל: Y * 640 + X.</a:t>
            </a:r>
          </a:p>
          <a:p>
            <a:pPr algn="r" rtl="1">
              <a:defRPr sz="1600"/>
            </a:pPr>
            <a:r>
              <a:t>• מנגנון ה-Pipeline (עיכוב מכוון): הקריאה מהזיכרון א-סינכרונית. כדי להבטיח יציבות, הקוד נועל את הנתון הנכנס (doutb) לתוך אוגר פנימי (pxl_data_reg) בעליית השעון הבאה.</a:t>
            </a:r>
          </a:p>
          <a:p>
            <a:pPr algn="r" rtl="1">
              <a:defRPr sz="1600"/>
            </a:pPr>
            <a:r>
              <a:t>• סנכרון שומר הסף: כדי לפצות על השהיית הזיכרון, דגל אזור התצוגה (in_display_area) מושהה גם הוא במחזור שעון אחד (ל-in_display_area_delayed).</a:t>
            </a:r>
          </a:p>
          <a:p>
            <a:pPr algn="r" rtl="1">
              <a:defRPr sz="1600"/>
            </a:pPr>
            <a:r>
              <a:t>• ניתוב דיגיטלי (Mux): רק כאשר הדגל המושהה דולק, 12 הביטים מפוצלים ומנותבים ליציאות VGA_R, VGA_G ו-VGA_B (4 ביטים לצבע).</a:t>
            </a:r>
          </a:p>
        </p:txBody>
      </p:sp>
      <p:pic>
        <p:nvPicPr>
          <p:cNvPr id="4" name="Picture 3" descr="vga_address_logic_cod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86000" y="3657600"/>
            <a:ext cx="4572000" cy="4487168"/>
          </a:xfrm>
          <a:prstGeom prst="rect">
            <a:avLst/>
          </a:prstGeom>
        </p:spPr>
      </p:pic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rtl="1" algn="ctr"/>
            <a:r>
              <a:t>אימות מסלול הנתונים: VGA Controller ↔ BRAM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82880" y="1097280"/>
            <a:ext cx="8686800" cy="1371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/>
          <a:p>
            <a:pPr algn="r" rtl="1">
              <a:defRPr sz="1600"/>
            </a:pPr>
            <a:r>
              <a:t>• מטרת הסימולציה: הוכחת לחיצת היד (Handshake) שבין בקשת הכתובת (addrb) לקבלת נתוני הפיקסל (doutb).</a:t>
            </a:r>
          </a:p>
          <a:p>
            <a:pPr algn="r" rtl="1">
              <a:defRPr sz="1600"/>
            </a:pPr>
            <a:r>
              <a:t>• דגימה בזמן אמת: ניתן לראות בבירור כיצד הכתובת עולה, המידע מופיע מיידית ב-doutb (קריאה א-סינכרונית), וננעל באוגר pxl_data_reg בעליית השעון הבאה.</a:t>
            </a:r>
          </a:p>
          <a:p>
            <a:pPr algn="r" rtl="1">
              <a:defRPr sz="1600"/>
            </a:pPr>
            <a:r>
              <a:t>• מניעת זבל ויזואלי: הסימולציה מוכיחה שבמעבר ל-Blanking (סוף שורה), יציאות ה-RGB נחתכות ל-0 מיידית, למרות שהזיכרון עדיין פולט מידע ישן.</a:t>
            </a:r>
          </a:p>
        </p:txBody>
      </p:sp>
      <p:pic>
        <p:nvPicPr>
          <p:cNvPr id="4" name="Picture 3" descr="modelsim_data_path_flow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4400" y="3291840"/>
            <a:ext cx="7315200" cy="3693319"/>
          </a:xfrm>
          <a:prstGeom prst="rect">
            <a:avLst/>
          </a:prstGeom>
        </p:spPr>
      </p:pic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rtl="1" algn="ctr"/>
            <a:r>
              <a:t>מבוא לאימות התקן: מחזור שורה שלם (Ts)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82880" y="1097280"/>
            <a:ext cx="8686800" cy="1371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/>
          <a:p>
            <a:pPr algn="r" rtl="1">
              <a:defRPr sz="1600"/>
            </a:pPr>
            <a:r>
              <a:t>• שלב ב' - מהדיגיטל לפיזיקה: לאחר שהוכחנו את אמינות שליפת הנתונים מהזיכרון, כעת נוכיח שהחומרה מייצרת את התזמונים הפיזיים הנדרשים בתקן ה-VGA.</a:t>
            </a:r>
          </a:p>
          <a:p>
            <a:pPr algn="r" rtl="1">
              <a:defRPr sz="1600"/>
            </a:pPr>
            <a:r>
              <a:t>• מפת הדרכים (Macro to Micro): נתחיל ממבט-על של שורת מסך שלמה, ונצלול בהדרגה לניתוח האזורים הפעילים, זמני ההמתנה (Porches) ודופק הסנכרון.</a:t>
            </a:r>
          </a:p>
          <a:p>
            <a:pPr algn="r" rtl="1">
              <a:defRPr sz="1600"/>
            </a:pPr>
            <a:r>
              <a:t>• הוכחת מחזור השורה: התקן דורש 800 מחזורי שעון. מונה ה-hsync_reg סופר 0-799 במדויק, ומדידת הסמנים מוכיחה דלתא של 32us.</a:t>
            </a:r>
          </a:p>
        </p:txBody>
      </p:sp>
      <p:pic>
        <p:nvPicPr>
          <p:cNvPr id="4" name="Picture 3" descr="modelsim_full_line_t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4400" y="3291840"/>
            <a:ext cx="7315200" cy="3621881"/>
          </a:xfrm>
          <a:prstGeom prst="rect">
            <a:avLst/>
          </a:prstGeom>
        </p:spPr>
      </p:pic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rtl="1" algn="ctr"/>
            <a:r>
              <a:t>ליבת התצוגה: אימות האזור הפעיל (Tdisp)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82880" y="1097280"/>
            <a:ext cx="8686800" cy="1371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/>
          <a:p>
            <a:pPr algn="r" rtl="1">
              <a:defRPr sz="1600"/>
            </a:pPr>
            <a:r>
              <a:t>• תזמון הנתונים: מתוך כלל מחזור השורה, מוקצים בדיוק 640 מחזורי שעון לציור הפיקסלים (25.6us).</a:t>
            </a:r>
          </a:p>
          <a:p>
            <a:pPr algn="r" rtl="1">
              <a:defRPr sz="1600"/>
            </a:pPr>
            <a:r>
              <a:t>• דגל הבקרה: האות in_display_area עולה ל-'1' ומאפשר את שליפת הנתונים רק בטווח המורשה.</a:t>
            </a:r>
          </a:p>
          <a:p>
            <a:pPr algn="r" rtl="1">
              <a:defRPr sz="1600"/>
            </a:pPr>
            <a:r>
              <a:t>• מונה הפיקסלים הפעיל: המונה display_x סופר במדויק מ-0 ועד 639. לאורך כל החלון הזה, יציאות ה-RGB פולטות נתונים אקטיביים למסך.</a:t>
            </a:r>
          </a:p>
        </p:txBody>
      </p:sp>
      <p:pic>
        <p:nvPicPr>
          <p:cNvPr id="4" name="Picture 3" descr="modelsim_active_display_tdis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4400" y="3291840"/>
            <a:ext cx="7315200" cy="3843338"/>
          </a:xfrm>
          <a:prstGeom prst="rect">
            <a:avLst/>
          </a:prstGeom>
        </p:spPr>
      </p:pic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rtl="1" algn="ctr"/>
            <a:r>
              <a:t>אכיפת Blanking: שוליים (Porches)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82880" y="1097280"/>
            <a:ext cx="8686800" cy="1371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/>
          <a:p>
            <a:pPr algn="r" rtl="1">
              <a:defRPr sz="1600"/>
            </a:pPr>
            <a:r>
              <a:t>• משמעות ה'זמנים המתים': ה-Front Porch (16 שעונים) וה-Back Porch (48 שעונים) נועדו לייצוב תנועת הקרן.</a:t>
            </a:r>
          </a:p>
          <a:p>
            <a:pPr algn="r" rtl="1">
              <a:defRPr sz="1600"/>
            </a:pPr>
            <a:r>
              <a:t>• אכיפה לוגית: בסימולציה ניתן לראות כי ברגע שהקרן חורגת מהאזור הפעיל (display_x מסתיים), המערכת מאלצת את כל ערוצי ה-RGB ל-'0000'.</a:t>
            </a:r>
          </a:p>
          <a:p>
            <a:pPr algn="r" rtl="1">
              <a:defRPr sz="1600"/>
            </a:pPr>
            <a:r>
              <a:t>• התוצאה: שחור מוחלט על המסך באזורי המעבר, מה שמונע 'מריחות' צבע ומאפשר למסך להסתנכרן בצורה חלקה.</a:t>
            </a:r>
          </a:p>
        </p:txBody>
      </p:sp>
      <p:pic>
        <p:nvPicPr>
          <p:cNvPr id="4" name="Picture 3" descr="modelsim_porches_blankin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4400" y="3291840"/>
            <a:ext cx="7315200" cy="3675477"/>
          </a:xfrm>
          <a:prstGeom prst="rect">
            <a:avLst/>
          </a:prstGeom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rtl="1" algn="ctr"/>
            <a:r>
              <a:t>אכיפת Blanking: המרפסת האחורית (Back Porch)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82880" y="1097280"/>
            <a:ext cx="8686800" cy="1371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/>
          <a:p>
            <a:pPr algn="r" rtl="1">
              <a:defRPr sz="1600"/>
            </a:pPr>
            <a:r>
              <a:t>• זמן המתנה (Back Porch): לאחר סיום דופק הסנכרון, המערכת ממתינה 48 מחזורי שעון (1.92us) לייצוב הקרן בתחילת השורה.</a:t>
            </a:r>
          </a:p>
          <a:p>
            <a:pPr algn="r" rtl="1">
              <a:defRPr sz="1600"/>
            </a:pPr>
            <a:r>
              <a:t>• המשך החשכה: בדומה למרפסת הקדמית, ה-RGB מוחזק במכוון על '0000' כדי למנוע זליגות צבע.</a:t>
            </a:r>
          </a:p>
          <a:p>
            <a:pPr algn="r" rtl="1">
              <a:defRPr sz="1600"/>
            </a:pPr>
            <a:r>
              <a:t>• חזרת הצבעים: ברגע שהאות in_display_area עולה ל-'1', רואים בבירור את נתוני ה-RGB האמיתיים מהזיכרון פורצים החוצה ומציירים את הפיקסל הראשון.</a:t>
            </a:r>
          </a:p>
        </p:txBody>
      </p:sp>
      <p:pic>
        <p:nvPicPr>
          <p:cNvPr id="4" name="Picture 3" descr="modelsim_back_porch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4400" y="3291840"/>
            <a:ext cx="7315200" cy="3621881"/>
          </a:xfrm>
          <a:prstGeom prst="rect">
            <a:avLst/>
          </a:prstGeom>
        </p:spPr>
      </p:pic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rtl="1" algn="ctr"/>
            <a:r>
              <a:t>דופק הסנכרון (Tpw) ווריפיקציה אוטומטית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82880" y="1097280"/>
            <a:ext cx="8686800" cy="1371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/>
          <a:p>
            <a:pPr algn="r" rtl="1">
              <a:defRPr sz="1600"/>
            </a:pPr>
            <a:r>
              <a:t>• אות ה-HSYNC: זהו הטריגר הפיזי המורה למסך לבצע Retrace לתחילת השורה הבאה.</a:t>
            </a:r>
          </a:p>
          <a:p>
            <a:pPr algn="r" rtl="1">
              <a:defRPr sz="1600"/>
            </a:pPr>
            <a:r>
              <a:t>• דיוק של מחזור בודד: הצבת סמנים על הדילוג של האות הפיזי מוכיחה רוחב דופק מדויק של 3.84us, השקול ל-96 מחזורי שעון.</a:t>
            </a:r>
          </a:p>
          <a:p>
            <a:pPr algn="r" rtl="1">
              <a:defRPr sz="1600"/>
            </a:pPr>
            <a:r>
              <a:t>• Self-Checking Testbench: מעבר לבדיקה הוויזואלית, סביבת הבדיקה (TB) כוללת מנגנון אוטומטי (Assert) שבודק את רוחב הדופק בזמן ריצה ומתריע על כל חריגה מהתקן.</a:t>
            </a:r>
          </a:p>
        </p:txBody>
      </p:sp>
      <p:pic>
        <p:nvPicPr>
          <p:cNvPr id="4" name="Picture 3" descr="modelsim_sync_pulse_asserti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4400" y="3200400"/>
            <a:ext cx="7315200" cy="3811341"/>
          </a:xfrm>
          <a:prstGeom prst="rect">
            <a:avLst/>
          </a:prstGeom>
        </p:spPr>
      </p:pic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rtl="1" algn="ctr"/>
            <a:r>
              <a:t>המעבר לחומרה: מסימולציה ל'קופסה שחורה'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/>
          <a:p>
            <a:pPr algn="r" rtl="1">
              <a:defRPr sz="1600"/>
            </a:pPr>
            <a:r>
              <a:t>• העולם האידיאלי (ModelSim): עד כה בדקנו את הלוגיקה בסביבה וירטואלית. ראינו כל אות ומונה, אך ללא עיכובים פיזיים (Zero Latency).</a:t>
            </a:r>
          </a:p>
          <a:p>
            <a:pPr algn="r" rtl="1">
              <a:defRPr sz="1600"/>
            </a:pPr>
            <a:r>
              <a:t>• המציאות הפיזית (FPGA): לאחר סינתזה וצריבה, הלוגיקה הופכת ל'קופסה שחורה' אטומה. ישנם זמני התפשטות (Propagation delays) של האותות בתוך הסיליקון.</a:t>
            </a:r>
          </a:p>
          <a:p>
            <a:pPr algn="r" rtl="1">
              <a:defRPr sz="1600"/>
            </a:pPr>
            <a:r>
              <a:t>• מגבלת הדיבוג החיצוני: מבחוץ (למשל עם אוסצילוסקופ), ניתן למדוד רק את הפינים הפיזיים (VGA_R/G/B, Sync). אין לנו שום דרך לראות מתי המונה מתאפס או איזו כתובת נשלחת לזיכרון.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2743200" y="3657600"/>
            <a:ext cx="3657600" cy="1371600"/>
          </a:xfrm>
          <a:prstGeom prst="roundRect">
            <a:avLst/>
          </a:prstGeom>
          <a:solidFill>
            <a:srgbClr val="282828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1">
              <a:defRPr b="1">
                <a:solidFill>
                  <a:srgbClr val="FFFFFF"/>
                </a:solidFill>
              </a:defRPr>
            </a:pPr>
            <a:r>
              <a:t>Artix-7 FPGA (קופסה שחורה)</a:t>
            </a:r>
          </a:p>
          <a:p>
            <a:r>
              <a:t>אין גישה לאותות פנימיים</a:t>
            </a:r>
          </a:p>
        </p:txBody>
      </p:sp>
      <p:sp>
        <p:nvSpPr>
          <p:cNvPr id="5" name="Right Arrow 4"/>
          <p:cNvSpPr/>
          <p:nvPr/>
        </p:nvSpPr>
        <p:spPr>
          <a:xfrm>
            <a:off x="6400800" y="3931920"/>
            <a:ext cx="731520" cy="274320"/>
          </a:xfrm>
          <a:prstGeom prst="rightArrow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ight Arrow 5"/>
          <p:cNvSpPr/>
          <p:nvPr/>
        </p:nvSpPr>
        <p:spPr>
          <a:xfrm>
            <a:off x="6400800" y="4480560"/>
            <a:ext cx="731520" cy="274320"/>
          </a:xfrm>
          <a:prstGeom prst="rightArrow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132320" y="3840480"/>
            <a:ext cx="13716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t>פינים בלבד</a:t>
            </a:r>
          </a:p>
          <a:p>
            <a:r>
              <a:t>(RGB, Sync)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rtl="1" algn="ctr"/>
            <a:r>
              <a:t>דיבוג בתוך הסיליקון: Vivado ILA (קופסה לבנה)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82880" y="1097280"/>
            <a:ext cx="8686800" cy="1371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/>
          <a:p>
            <a:pPr algn="r" rtl="1">
              <a:defRPr sz="1600"/>
            </a:pPr>
            <a:r>
              <a:t>• הפתרון ההנדסי: הוספת Integrated Logic Analyzer (ILA) – רכיב חומרה פנימי שדוגם את האותות ומשדר אותם למחשב (בדיקת קופסה לבנה).</a:t>
            </a:r>
          </a:p>
          <a:p>
            <a:pPr algn="r" rtl="1">
              <a:defRPr sz="1600"/>
            </a:pPr>
            <a:r>
              <a:t>• היתרון (מציאות מול תיאוריה): מאפשר לראות את זמני ההשהיה האמיתיים (Latency) שבין שליחת בקשה לזיכרון (addrb) לקבלת הנתון (doutb).</a:t>
            </a:r>
          </a:p>
          <a:p>
            <a:pPr algn="r" rtl="1">
              <a:defRPr sz="1600"/>
            </a:pPr>
            <a:r>
              <a:t>• החיסרון (Trade-off): ה-ILA אינו חינמי. הוא 'גוזל' משאבי חומרה יקרים מהכרטיס (LUTs ו-BRAM) לצורך לוגיקת הדגימה ואגירת הנתונים.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457200" y="3474720"/>
          <a:ext cx="8229600" cy="2286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28800"/>
                <a:gridCol w="3200400"/>
                <a:gridCol w="3200400"/>
              </a:tblGrid>
              <a:tr h="571500">
                <a:tc>
                  <a:txBody>
                    <a:bodyPr/>
                    <a:lstStyle/>
                    <a:p>
                      <a:pPr algn="ctr" rtl="1">
                        <a:defRPr b="1" sz="1500"/>
                      </a:pPr>
                      <a:r>
                        <a:t>יעד הבדיקה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rtl="1">
                        <a:defRPr b="1" sz="1500"/>
                      </a:pPr>
                      <a:r>
                        <a:t>מגבלת ה'קופסה השחורה'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rtl="1">
                        <a:defRPr b="1" sz="1500"/>
                      </a:pPr>
                      <a:r>
                        <a:t>האות שנדגום ב-ILA</a:t>
                      </a:r>
                    </a:p>
                  </a:txBody>
                  <a:tcPr/>
                </a:tc>
              </a:tr>
              <a:tr h="571500">
                <a:tc>
                  <a:txBody>
                    <a:bodyPr/>
                    <a:lstStyle/>
                    <a:p>
                      <a:pPr algn="ctr" rtl="1">
                        <a:defRPr sz="1400" b="1"/>
                      </a:pPr>
                      <a:r>
                        <a:t>זרימת נתונים ו-Latency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 rtl="1">
                        <a:defRPr sz="1400"/>
                      </a:pPr>
                      <a:r>
                        <a:t>רואים רק את הפיקסל הסופי מתחלף ביציאה.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 rtl="1">
                        <a:defRPr sz="1400"/>
                      </a:pPr>
                      <a:r>
                        <a:t>addrb, doutb, pxl_data_reg (בדיקת צנרת)</a:t>
                      </a:r>
                    </a:p>
                  </a:txBody>
                  <a:tcPr/>
                </a:tc>
              </a:tr>
              <a:tr h="571500">
                <a:tc>
                  <a:txBody>
                    <a:bodyPr/>
                    <a:lstStyle/>
                    <a:p>
                      <a:pPr algn="ctr" rtl="1">
                        <a:defRPr sz="1400" b="1"/>
                      </a:pPr>
                      <a:r>
                        <a:t>מיקום אופקי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 rtl="1">
                        <a:defRPr sz="1400"/>
                      </a:pPr>
                      <a:r>
                        <a:t>לא ניתן לדעת איזה פיקסל משורטט כרגע.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 rtl="1">
                        <a:defRPr sz="1400"/>
                      </a:pPr>
                      <a:r>
                        <a:t>display_x (מונה הפיקסלים)</a:t>
                      </a:r>
                    </a:p>
                  </a:txBody>
                  <a:tcPr/>
                </a:tc>
              </a:tr>
              <a:tr h="571500">
                <a:tc>
                  <a:txBody>
                    <a:bodyPr/>
                    <a:lstStyle/>
                    <a:p>
                      <a:pPr algn="ctr" rtl="1">
                        <a:defRPr sz="1400" b="1"/>
                      </a:pPr>
                      <a:r>
                        <a:t>אכיפת שחור (Blanking)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 rtl="1">
                        <a:defRPr sz="1400"/>
                      </a:pPr>
                      <a:r>
                        <a:t>רואים מסך חשוך, ללא הקשר תזמוני.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 rtl="1">
                        <a:defRPr sz="1400"/>
                      </a:pPr>
                      <a:r>
                        <a:t>in_display_area_delayed</a:t>
                      </a:r>
                    </a:p>
                  </a:txBody>
                  <a:tcPr/>
                </a:tc>
              </a:tr>
            </a:tbl>
          </a:graphicData>
        </a:graphic>
      </p:graphicFrame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rtl="1" algn="ctr"/>
            <a:r>
              <a:t>עלות הדיבוג: ניתוח משאבי חומרה (Trade-offs)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82880" y="1097280"/>
            <a:ext cx="8686800" cy="1371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/>
          <a:p>
            <a:pPr algn="r" rtl="1">
              <a:defRPr sz="1600"/>
            </a:pPr>
            <a:r>
              <a:t>• ה-ILA איננו תוכנה: זוהי חומרה פיזית (IP) המסונתזת ונצרבת על הסיליקון לצד לוגיקת התצוגה.</a:t>
            </a:r>
          </a:p>
          <a:p>
            <a:pPr algn="r" rtl="1">
              <a:defRPr sz="1600"/>
            </a:pPr>
            <a:r>
              <a:t>• פרדוקס הגודל: בקר ה-VGA שלנו יעיל מאוד וצורך משאבים אפסיים, בעוד שמערכת הדיבוג (ILA + Debug Hub) דורשת אלפי רכיבים לוגיים.</a:t>
            </a:r>
          </a:p>
          <a:p>
            <a:pPr algn="r" rtl="1">
              <a:defRPr sz="1600"/>
            </a:pPr>
            <a:r>
              <a:t>• מסקנה הנדסית: ה-ILA הוא כלי קריטי לשלבי הפיתוח (R&amp;D), אך יוסר בגרסת הייצור הסופית (Release) כדי לחסוך בשטח סיליקון ובהספק.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4572000" y="3291840"/>
          <a:ext cx="4114800" cy="2286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71600"/>
                <a:gridCol w="914400"/>
                <a:gridCol w="914400"/>
                <a:gridCol w="914400"/>
              </a:tblGrid>
              <a:tr h="571500">
                <a:tc>
                  <a:txBody>
                    <a:bodyPr/>
                    <a:lstStyle/>
                    <a:p>
                      <a:pPr algn="ctr" rtl="1">
                        <a:defRPr b="1" sz="1300"/>
                      </a:pPr>
                      <a:r>
                        <a:t>מודול (Module)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rtl="1">
                        <a:defRPr b="1" sz="1300"/>
                      </a:pPr>
                      <a:r>
                        <a:t>LUTs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rtl="1">
                        <a:defRPr b="1" sz="1300"/>
                      </a:pPr>
                      <a:r>
                        <a:t>Registers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rtl="1">
                        <a:defRPr b="1" sz="1300"/>
                      </a:pPr>
                      <a:r>
                        <a:t>BRAM</a:t>
                      </a:r>
                    </a:p>
                  </a:txBody>
                  <a:tcPr/>
                </a:tc>
              </a:tr>
              <a:tr h="571500">
                <a:tc>
                  <a:txBody>
                    <a:bodyPr/>
                    <a:lstStyle/>
                    <a:p>
                      <a:pPr algn="ctr" rtl="1">
                        <a:defRPr sz="1200" b="1"/>
                      </a:pPr>
                      <a:r>
                        <a:t>VGA Controller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rtl="1">
                        <a:defRPr sz="1200"/>
                      </a:pPr>
                      <a:r>
                        <a:t>47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rtl="1">
                        <a:defRPr sz="1200"/>
                      </a:pPr>
                      <a:r>
                        <a:t>52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rtl="1">
                        <a:defRPr sz="1200"/>
                      </a:pPr>
                      <a:r>
                        <a:t>0</a:t>
                      </a:r>
                    </a:p>
                  </a:txBody>
                  <a:tcPr/>
                </a:tc>
              </a:tr>
              <a:tr h="571500">
                <a:tc>
                  <a:txBody>
                    <a:bodyPr/>
                    <a:lstStyle/>
                    <a:p>
                      <a:pPr algn="ctr" rtl="1">
                        <a:defRPr sz="1200" b="1"/>
                      </a:pPr>
                      <a:r>
                        <a:t>ILA + Debug Hub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rtl="1">
                        <a:defRPr sz="1200"/>
                      </a:pPr>
                      <a:r>
                        <a:t>1,732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rtl="1">
                        <a:defRPr sz="1200"/>
                      </a:pPr>
                      <a:r>
                        <a:t>2,642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rtl="1">
                        <a:defRPr sz="1200"/>
                      </a:pPr>
                      <a:r>
                        <a:t>1.5</a:t>
                      </a:r>
                    </a:p>
                  </a:txBody>
                  <a:tcPr/>
                </a:tc>
              </a:tr>
              <a:tr h="571500">
                <a:tc>
                  <a:txBody>
                    <a:bodyPr/>
                    <a:lstStyle/>
                    <a:p>
                      <a:pPr algn="ctr" rtl="1">
                        <a:defRPr sz="1200" b="1"/>
                      </a:pPr>
                      <a:r>
                        <a:t>Total Design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rtl="1">
                        <a:defRPr sz="1200"/>
                      </a:pPr>
                      <a:r>
                        <a:t>2,756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rtl="1">
                        <a:defRPr sz="1200"/>
                      </a:pPr>
                      <a:r>
                        <a:t>2,890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rtl="1">
                        <a:defRPr sz="1200"/>
                      </a:pPr>
                      <a:r>
                        <a:t>105</a:t>
                      </a:r>
                    </a:p>
                  </a:txBody>
                  <a:tcPr/>
                </a:tc>
              </a:tr>
            </a:tbl>
          </a:graphicData>
        </a:graphic>
      </p:graphicFrame>
      <p:pic>
        <p:nvPicPr>
          <p:cNvPr id="5" name="Picture 4" descr="device_view_with_il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2926080"/>
            <a:ext cx="3840480" cy="1900189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